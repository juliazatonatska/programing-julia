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78" r:id="rId1"/>
  </p:sldMasterIdLst>
  <p:notesMasterIdLst>
    <p:notesMasterId r:id="rId25"/>
  </p:notesMasterIdLst>
  <p:sldIdLst>
    <p:sldId id="353" r:id="rId2"/>
    <p:sldId id="354" r:id="rId3"/>
    <p:sldId id="372" r:id="rId4"/>
    <p:sldId id="365" r:id="rId5"/>
    <p:sldId id="366" r:id="rId6"/>
    <p:sldId id="367" r:id="rId7"/>
    <p:sldId id="368" r:id="rId8"/>
    <p:sldId id="369" r:id="rId9"/>
    <p:sldId id="370" r:id="rId10"/>
    <p:sldId id="373" r:id="rId11"/>
    <p:sldId id="371" r:id="rId12"/>
    <p:sldId id="374" r:id="rId13"/>
    <p:sldId id="375" r:id="rId14"/>
    <p:sldId id="376" r:id="rId15"/>
    <p:sldId id="355" r:id="rId16"/>
    <p:sldId id="356" r:id="rId17"/>
    <p:sldId id="357" r:id="rId18"/>
    <p:sldId id="358" r:id="rId19"/>
    <p:sldId id="359" r:id="rId20"/>
    <p:sldId id="360" r:id="rId21"/>
    <p:sldId id="361" r:id="rId22"/>
    <p:sldId id="362" r:id="rId23"/>
    <p:sldId id="377" r:id="rId2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A8BCFA"/>
    <a:srgbClr val="FFC9F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1" d="100"/>
          <a:sy n="71" d="100"/>
        </p:scale>
        <p:origin x="460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ісце для верхнього колонтитула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Місце для дати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3F6B2B5-1D36-4229-8A66-C4B3B98EF48E}" type="datetimeFigureOut">
              <a:rPr lang="ru-RU" smtClean="0"/>
              <a:t>13.12.2025</a:t>
            </a:fld>
            <a:endParaRPr lang="ru-RU"/>
          </a:p>
        </p:txBody>
      </p:sp>
      <p:sp>
        <p:nvSpPr>
          <p:cNvPr id="4" name="Місце для зображення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Місце для нотаток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ru-RU"/>
          </a:p>
        </p:txBody>
      </p:sp>
      <p:sp>
        <p:nvSpPr>
          <p:cNvPr id="6" name="Місце для нижнього колонтитула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Місце для номера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68DB87-456A-43FA-A5B3-548BA64465E5}" type="slidenum">
              <a:rPr lang="ru-RU" smtClean="0"/>
              <a:t>‹№›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0882105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ісце для зображення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Місце для нотаток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Місце для номера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E68DB87-456A-43FA-A5B3-548BA64465E5}" type="slidenum">
              <a:rPr lang="ru-RU" smtClean="0"/>
              <a:t>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3050965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ісце для зображення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Місце для нотаток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Місце для номера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E68DB87-456A-43FA-A5B3-548BA64465E5}" type="slidenum">
              <a:rPr lang="ru-RU" smtClean="0"/>
              <a:t>23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9361108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Layouts/_rels/slideLayout9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и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920834" y="1346946"/>
            <a:ext cx="10222992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6200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920834" y="4299696"/>
            <a:ext cx="10222992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175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920834" y="1484779"/>
            <a:ext cx="10222992" cy="2743200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pSp>
        <p:nvGrpSpPr>
          <p:cNvPr id="10" name="Group 9"/>
          <p:cNvGrpSpPr/>
          <p:nvPr/>
        </p:nvGrpSpPr>
        <p:grpSpPr>
          <a:xfrm>
            <a:off x="9649215" y="4068923"/>
            <a:ext cx="1080904" cy="1080902"/>
            <a:chOff x="9685338" y="4460675"/>
            <a:chExt cx="1080904" cy="1080902"/>
          </a:xfrm>
        </p:grpSpPr>
        <p:sp>
          <p:nvSpPr>
            <p:cNvPr id="11" name="Oval 10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2" name="Oval 11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51560" y="1432223"/>
            <a:ext cx="9966960" cy="3035808"/>
          </a:xfrm>
        </p:spPr>
        <p:txBody>
          <a:bodyPr anchor="ctr">
            <a:noAutofit/>
          </a:bodyPr>
          <a:lstStyle>
            <a:lvl1pPr algn="l">
              <a:lnSpc>
                <a:spcPct val="80000"/>
              </a:lnSpc>
              <a:defRPr sz="9600" cap="all" baseline="0">
                <a:blipFill dpi="0" rotWithShape="1">
                  <a:blip r:embed="rId4"/>
                  <a:srcRect/>
                  <a:tile tx="6350" ty="-127000" sx="65000" sy="64000" flip="none" algn="tl"/>
                </a:blipFill>
              </a:defRPr>
            </a:lvl1pPr>
          </a:lstStyle>
          <a:p>
            <a:r>
              <a:rPr lang="uk-UA"/>
              <a:t>Клацніть, щоб редагувати стиль зразка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69848" y="4389120"/>
            <a:ext cx="7891272" cy="1069848"/>
          </a:xfrm>
        </p:spPr>
        <p:txBody>
          <a:bodyPr>
            <a:normAutofit/>
          </a:bodyPr>
          <a:lstStyle>
            <a:lvl1pPr marL="0" indent="0" algn="l">
              <a:buNone/>
              <a:defRPr sz="2200">
                <a:solidFill>
                  <a:schemeClr val="tx1"/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uk-UA"/>
              <a:t>Клацніть, щоб редагувати стиль зразка підзаголовка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74B9E6-2C19-4FCF-993D-C014C3E0C849}" type="datetimeFigureOut">
              <a:rPr lang="ru-RU" smtClean="0"/>
              <a:t>13.12.2025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592733" y="4289334"/>
            <a:ext cx="1193868" cy="640080"/>
          </a:xfrm>
        </p:spPr>
        <p:txBody>
          <a:bodyPr/>
          <a:lstStyle>
            <a:lvl1pPr>
              <a:defRPr sz="2800"/>
            </a:lvl1pPr>
          </a:lstStyle>
          <a:p>
            <a:fld id="{610AAF27-04C2-45A2-B65F-EB09E80BCF7A}" type="slidenum">
              <a:rPr lang="ru-RU" smtClean="0"/>
              <a:t>‹№›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86350709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Назва та вмі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/>
              <a:t>Клацніть, щоб редагувати стиль зразка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74B9E6-2C19-4FCF-993D-C014C3E0C849}" type="datetimeFigureOut">
              <a:rPr lang="ru-RU" smtClean="0"/>
              <a:t>13.12.2025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0AAF27-04C2-45A2-B65F-EB09E80BCF7A}" type="slidenum">
              <a:rPr lang="ru-RU" smtClean="0"/>
              <a:t>‹№›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51803974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Назва розділ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4917989"/>
            <a:ext cx="12192000" cy="1940010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67128" y="1225296"/>
            <a:ext cx="9281160" cy="3520440"/>
          </a:xfrm>
        </p:spPr>
        <p:txBody>
          <a:bodyPr anchor="ctr">
            <a:normAutofit/>
          </a:bodyPr>
          <a:lstStyle>
            <a:lvl1pPr>
              <a:lnSpc>
                <a:spcPct val="80000"/>
              </a:lnSpc>
              <a:defRPr sz="8000" b="0"/>
            </a:lvl1pPr>
          </a:lstStyle>
          <a:p>
            <a:r>
              <a:rPr lang="uk-UA"/>
              <a:t>Клацніть, щоб редагувати стиль зразка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165774" y="5020056"/>
            <a:ext cx="9052560" cy="1066800"/>
          </a:xfrm>
        </p:spPr>
        <p:txBody>
          <a:bodyPr anchor="t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593667" y="6272784"/>
            <a:ext cx="2644309" cy="365125"/>
          </a:xfrm>
        </p:spPr>
        <p:txBody>
          <a:bodyPr/>
          <a:lstStyle/>
          <a:p>
            <a:fld id="{2C74B9E6-2C19-4FCF-993D-C014C3E0C849}" type="datetimeFigureOut">
              <a:rPr lang="ru-RU" smtClean="0"/>
              <a:t>13.12.2025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182708" y="6272784"/>
            <a:ext cx="6327648" cy="365125"/>
          </a:xfrm>
        </p:spPr>
        <p:txBody>
          <a:bodyPr/>
          <a:lstStyle/>
          <a:p>
            <a:endParaRPr lang="ru-RU"/>
          </a:p>
        </p:txBody>
      </p:sp>
      <p:grpSp>
        <p:nvGrpSpPr>
          <p:cNvPr id="8" name="Group 7"/>
          <p:cNvGrpSpPr/>
          <p:nvPr/>
        </p:nvGrpSpPr>
        <p:grpSpPr>
          <a:xfrm>
            <a:off x="897399" y="2325848"/>
            <a:ext cx="1080904" cy="1080902"/>
            <a:chOff x="9685338" y="4460675"/>
            <a:chExt cx="1080904" cy="1080902"/>
          </a:xfrm>
        </p:grpSpPr>
        <p:sp>
          <p:nvSpPr>
            <p:cNvPr id="9" name="Oval 8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0" name="Oval 9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3702" y="2506133"/>
            <a:ext cx="1188298" cy="720332"/>
          </a:xfrm>
        </p:spPr>
        <p:txBody>
          <a:bodyPr/>
          <a:lstStyle>
            <a:lvl1pPr>
              <a:defRPr sz="2800"/>
            </a:lvl1pPr>
          </a:lstStyle>
          <a:p>
            <a:fld id="{610AAF27-04C2-45A2-B65F-EB09E80BCF7A}" type="slidenum">
              <a:rPr lang="ru-RU" smtClean="0"/>
              <a:t>‹№›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75651832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’єкт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/>
              <a:t>Клацніть, щоб редагувати стиль зразка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69848" y="2194560"/>
            <a:ext cx="4754880" cy="3977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64224" y="2194560"/>
            <a:ext cx="4754880" cy="3977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74B9E6-2C19-4FCF-993D-C014C3E0C849}" type="datetimeFigureOut">
              <a:rPr lang="ru-RU" smtClean="0"/>
              <a:t>13.12.2025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0AAF27-04C2-45A2-B65F-EB09E80BCF7A}" type="slidenum">
              <a:rPr lang="ru-RU" smtClean="0"/>
              <a:t>‹№›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34449205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Порівнянн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/>
              <a:t>Клацніть, щоб редагувати стиль зразка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6800" y="2048256"/>
            <a:ext cx="4754880" cy="640080"/>
          </a:xfrm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69848" y="2743200"/>
            <a:ext cx="4754880" cy="32918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64224" y="2048256"/>
            <a:ext cx="4754880" cy="640080"/>
          </a:xfrm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64224" y="2743200"/>
            <a:ext cx="4754880" cy="32918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74B9E6-2C19-4FCF-993D-C014C3E0C849}" type="datetimeFigureOut">
              <a:rPr lang="ru-RU" smtClean="0"/>
              <a:t>13.12.2025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0AAF27-04C2-45A2-B65F-EB09E80BCF7A}" type="slidenum">
              <a:rPr lang="ru-RU" smtClean="0"/>
              <a:t>‹№›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43509290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Лише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/>
              <a:t>Клацніть, щоб редагувати стиль зразка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74B9E6-2C19-4FCF-993D-C014C3E0C849}" type="datetimeFigureOut">
              <a:rPr lang="ru-RU" smtClean="0"/>
              <a:t>13.12.2025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0AAF27-04C2-45A2-B65F-EB09E80BCF7A}" type="slidenum">
              <a:rPr lang="ru-RU" smtClean="0"/>
              <a:t>‹№›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07263615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и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74B9E6-2C19-4FCF-993D-C014C3E0C849}" type="datetimeFigureOut">
              <a:rPr lang="ru-RU" smtClean="0"/>
              <a:t>13.12.2025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0AAF27-04C2-45A2-B65F-EB09E80BCF7A}" type="slidenum">
              <a:rPr lang="ru-RU" smtClean="0"/>
              <a:t>‹№›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25933215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Вміст і підпис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8303740" y="0"/>
            <a:ext cx="3888259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49640" y="685800"/>
            <a:ext cx="3200400" cy="1737360"/>
          </a:xfrm>
        </p:spPr>
        <p:txBody>
          <a:bodyPr anchor="b">
            <a:normAutofit/>
          </a:bodyPr>
          <a:lstStyle>
            <a:lvl1pPr>
              <a:defRPr sz="3200" b="1"/>
            </a:lvl1pPr>
          </a:lstStyle>
          <a:p>
            <a:r>
              <a:rPr lang="uk-UA"/>
              <a:t>Клацніть, щоб редагувати стиль зразка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685800"/>
            <a:ext cx="6711696" cy="5020056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49640" y="2423160"/>
            <a:ext cx="3200400" cy="329184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40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74B9E6-2C19-4FCF-993D-C014C3E0C849}" type="datetimeFigureOut">
              <a:rPr lang="ru-RU" smtClean="0"/>
              <a:t>13.12.2025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grpSp>
        <p:nvGrpSpPr>
          <p:cNvPr id="9" name="Group 8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10" name="Oval 9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1" name="Oval 10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0AAF27-04C2-45A2-B65F-EB09E80BCF7A}" type="slidenum">
              <a:rPr lang="ru-RU" smtClean="0"/>
              <a:t>‹№›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94936056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Рисунок і підпис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8303740" y="0"/>
            <a:ext cx="3888259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49640" y="685800"/>
            <a:ext cx="3200400" cy="1737360"/>
          </a:xfrm>
        </p:spPr>
        <p:txBody>
          <a:bodyPr anchor="b">
            <a:normAutofit/>
          </a:bodyPr>
          <a:lstStyle>
            <a:lvl1pPr>
              <a:defRPr sz="3200" b="1"/>
            </a:lvl1pPr>
          </a:lstStyle>
          <a:p>
            <a:r>
              <a:rPr lang="uk-UA"/>
              <a:t>Клацніть, щоб редагувати стиль зразка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0"/>
            <a:ext cx="8303740" cy="6858000"/>
          </a:xfrm>
          <a:solidFill>
            <a:schemeClr val="tx2">
              <a:lumMod val="20000"/>
              <a:lumOff val="80000"/>
            </a:schemeClr>
          </a:solidFill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uk-UA"/>
              <a:t>Клацніть піктограму, щоб додати зображення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49640" y="2423160"/>
            <a:ext cx="3200400" cy="329184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40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74B9E6-2C19-4FCF-993D-C014C3E0C849}" type="datetimeFigureOut">
              <a:rPr lang="ru-RU" smtClean="0"/>
              <a:t>13.12.2025</a:t>
            </a:fld>
            <a:endParaRPr lang="ru-RU"/>
          </a:p>
        </p:txBody>
      </p:sp>
      <p:grpSp>
        <p:nvGrpSpPr>
          <p:cNvPr id="8" name="Group 7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9" name="Oval 8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0" name="Oval 9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0AAF27-04C2-45A2-B65F-EB09E80BCF7A}" type="slidenum">
              <a:rPr lang="ru-RU" smtClean="0"/>
              <a:t>‹№›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57141173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і вертикальни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/>
              <a:t>Клацніть, щоб редагувати стиль зразка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74B9E6-2C19-4FCF-993D-C014C3E0C849}" type="datetimeFigureOut">
              <a:rPr lang="ru-RU" smtClean="0"/>
              <a:t>13.12.2025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0AAF27-04C2-45A2-B65F-EB09E80BCF7A}" type="slidenum">
              <a:rPr lang="ru-RU" smtClean="0"/>
              <a:t>‹№›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25099137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ий заголовок і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533400"/>
            <a:ext cx="2552700" cy="5638800"/>
          </a:xfrm>
        </p:spPr>
        <p:txBody>
          <a:bodyPr vert="eaVert"/>
          <a:lstStyle/>
          <a:p>
            <a:r>
              <a:rPr lang="uk-UA"/>
              <a:t>Клацніть, щоб редагувати стиль зразка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66800" y="533400"/>
            <a:ext cx="7505700" cy="5638800"/>
          </a:xfrm>
        </p:spPr>
        <p:txBody>
          <a:bodyPr vert="eaVert"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74B9E6-2C19-4FCF-993D-C014C3E0C849}" type="datetimeFigureOut">
              <a:rPr lang="ru-RU" smtClean="0"/>
              <a:t>13.12.2025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0AAF27-04C2-45A2-B65F-EB09E80BCF7A}" type="slidenum">
              <a:rPr lang="ru-RU" smtClean="0"/>
              <a:t>‹№›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33943517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Титульный слайд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Рисунок 4">
            <a:extLst>
              <a:ext uri="{FF2B5EF4-FFF2-40B4-BE49-F238E27FC236}">
                <a16:creationId xmlns:a16="http://schemas.microsoft.com/office/drawing/2014/main" id="{FD90036E-D78E-7995-BEF4-F64DA613C71D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  <a:solidFill>
            <a:schemeClr val="tx1">
              <a:lumMod val="50000"/>
              <a:lumOff val="50000"/>
            </a:schemeClr>
          </a:solidFill>
        </p:spPr>
        <p:txBody>
          <a:bodyPr rtlCol="0"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pPr rtl="0"/>
            <a:r>
              <a:rPr lang="uk-UA"/>
              <a:t>Клацніть піктограму, щоб додати зображення</a:t>
            </a:r>
            <a:endParaRPr lang="en-US" dirty="0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94248F2-5264-4601-AA0B-6C092F77F2D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08176" y="1463040"/>
            <a:ext cx="6327648" cy="2180543"/>
          </a:xfrm>
          <a:noFill/>
        </p:spPr>
        <p:txBody>
          <a:bodyPr rtlCol="0" anchor="b">
            <a:noAutofit/>
          </a:bodyPr>
          <a:lstStyle>
            <a:lvl1pPr algn="ctr">
              <a:defRPr sz="4800">
                <a:solidFill>
                  <a:schemeClr val="bg1"/>
                </a:solidFill>
              </a:defRPr>
            </a:lvl1pPr>
          </a:lstStyle>
          <a:p>
            <a:pPr rtl="0"/>
            <a:r>
              <a:rPr lang="uk-UA"/>
              <a:t>Клацніть, щоб редагувати стиль зразка заголовка</a:t>
            </a:r>
            <a:endParaRPr lang="ru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DCFB69D3-5632-4285-A209-9DCA67DA668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911096" y="3995928"/>
            <a:ext cx="5321808" cy="824404"/>
          </a:xfrm>
          <a:noFill/>
        </p:spPr>
        <p:txBody>
          <a:bodyPr rtlCol="0" anchor="ctr"/>
          <a:lstStyle>
            <a:lvl1pPr marL="0" indent="0" algn="ctr">
              <a:buNone/>
              <a:defRPr sz="2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rtl="0"/>
            <a:r>
              <a:rPr lang="uk-UA"/>
              <a:t>Клацніть, щоб редагувати стиль зразка підзаголовка</a:t>
            </a:r>
            <a:endParaRPr lang="ru"/>
          </a:p>
        </p:txBody>
      </p:sp>
    </p:spTree>
    <p:extLst>
      <p:ext uri="{BB962C8B-B14F-4D97-AF65-F5344CB8AC3E}">
        <p14:creationId xmlns:p14="http://schemas.microsoft.com/office/powerpoint/2010/main" val="3440636221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microsoft.com/office/2007/relationships/hdphoto" Target="../media/hdphoto1.wdp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69848" y="484632"/>
            <a:ext cx="10058400" cy="160934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uk-UA"/>
              <a:t>Клацніть, щоб редагувати стиль зразка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9848" y="2121408"/>
            <a:ext cx="10058400" cy="40507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964424" y="6272784"/>
            <a:ext cx="327355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2"/>
                </a:solidFill>
              </a:defRPr>
            </a:lvl1pPr>
          </a:lstStyle>
          <a:p>
            <a:fld id="{2C74B9E6-2C19-4FCF-993D-C014C3E0C849}" type="datetimeFigureOut">
              <a:rPr lang="ru-RU" smtClean="0"/>
              <a:t>13.12.2025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88136" y="6272784"/>
            <a:ext cx="632764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2"/>
                </a:solidFill>
              </a:defRPr>
            </a:lvl1pPr>
          </a:lstStyle>
          <a:p>
            <a:endParaRPr lang="ru-RU"/>
          </a:p>
        </p:txBody>
      </p:sp>
      <p:grpSp>
        <p:nvGrpSpPr>
          <p:cNvPr id="7" name="Group 6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8" name="Oval 7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1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15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9" name="Oval 8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rgbClr val="FFFFFF"/>
              </a:solidFill>
              <a:prstDash val="solid"/>
            </a:ln>
            <a:effectLst/>
          </p:spPr>
        </p:sp>
      </p:grp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311128" y="6272784"/>
            <a:ext cx="64008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00" b="1">
                <a:solidFill>
                  <a:srgbClr val="FFFFFF"/>
                </a:solidFill>
                <a:latin typeface="+mj-lt"/>
              </a:defRPr>
            </a:lvl1pPr>
          </a:lstStyle>
          <a:p>
            <a:fld id="{610AAF27-04C2-45A2-B65F-EB09E80BCF7A}" type="slidenum">
              <a:rPr lang="ru-RU" smtClean="0"/>
              <a:t>‹№›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023297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79" r:id="rId1"/>
    <p:sldLayoutId id="2147483780" r:id="rId2"/>
    <p:sldLayoutId id="2147483781" r:id="rId3"/>
    <p:sldLayoutId id="2147483782" r:id="rId4"/>
    <p:sldLayoutId id="2147483783" r:id="rId5"/>
    <p:sldLayoutId id="2147483784" r:id="rId6"/>
    <p:sldLayoutId id="2147483785" r:id="rId7"/>
    <p:sldLayoutId id="2147483786" r:id="rId8"/>
    <p:sldLayoutId id="2147483787" r:id="rId9"/>
    <p:sldLayoutId id="2147483788" r:id="rId10"/>
    <p:sldLayoutId id="2147483789" r:id="rId11"/>
    <p:sldLayoutId id="2147483790" r:id="rId12"/>
  </p:sldLayoutIdLst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5400" kern="1200" cap="all" baseline="0">
          <a:blipFill>
            <a:blip r:embed="rId1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tile tx="6350" ty="-127000" sx="65000" sy="64000" flip="none" algn="tl"/>
          </a:blip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0000"/>
        </a:lnSpc>
        <a:spcBef>
          <a:spcPts val="1200"/>
        </a:spcBef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4" Type="http://schemas.microsoft.com/office/2007/relationships/hdphoto" Target="../media/hdphoto3.wdp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microsoft.com/office/2007/relationships/hdphoto" Target="../media/hdphoto4.wdp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microsoft.com/office/2007/relationships/hdphoto" Target="../media/hdphoto4.wdp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microsoft.com/office/2007/relationships/hdphoto" Target="../media/hdphoto5.wdp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microsoft.com/office/2007/relationships/hdphoto" Target="../media/hdphoto5.wdp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microsoft.com/office/2007/relationships/hdphoto" Target="../media/hdphoto6.wdp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microsoft.com/office/2007/relationships/hdphoto" Target="../media/hdphoto6.wdp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microsoft.com/office/2007/relationships/hdphoto" Target="../media/hdphoto6.wdp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microsoft.com/office/2007/relationships/hdphoto" Target="../media/hdphoto6.wdp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microsoft.com/office/2007/relationships/hdphoto" Target="../media/hdphoto6.wdp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.png"/></Relationships>
</file>

<file path=ppt/slides/_rels/slide22.xml.rels><?xml version="1.0" encoding="UTF-8" standalone="yes"?>
<Relationships xmlns="http://schemas.openxmlformats.org/package/2006/relationships"><Relationship Id="rId3" Type="http://schemas.microsoft.com/office/2007/relationships/hdphoto" Target="../media/hdphoto6.wdp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Relationship Id="rId4" Type="http://schemas.microsoft.com/office/2007/relationships/hdphoto" Target="../media/hdphoto3.wdp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Місце для зображення 7" descr="Зображення, що містить комп’ютер, текст, у приміщенні, Малі та середні кішки&#10;&#10;Вміст, створений ШІ, може бути неправильним.">
            <a:extLst>
              <a:ext uri="{FF2B5EF4-FFF2-40B4-BE49-F238E27FC236}">
                <a16:creationId xmlns:a16="http://schemas.microsoft.com/office/drawing/2014/main" id="{5F99FD72-7B5A-8901-2C5B-E21893F2B8CB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-43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68" b="68"/>
          <a:stretch>
            <a:fillRect/>
          </a:stretch>
        </p:blipFill>
        <p:spPr/>
      </p:pic>
      <p:sp>
        <p:nvSpPr>
          <p:cNvPr id="13" name="Табличка 12">
            <a:extLst>
              <a:ext uri="{FF2B5EF4-FFF2-40B4-BE49-F238E27FC236}">
                <a16:creationId xmlns:a16="http://schemas.microsoft.com/office/drawing/2014/main" id="{AC9EB422-5602-36FF-E543-5B0C70E56E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887290" y="1257088"/>
            <a:ext cx="6781800" cy="4343824"/>
          </a:xfrm>
          <a:prstGeom prst="plaque">
            <a:avLst>
              <a:gd name="adj" fmla="val 7602"/>
            </a:avLst>
          </a:prstGeom>
          <a:solidFill>
            <a:schemeClr val="tx1">
              <a:alpha val="66000"/>
            </a:schemeClr>
          </a:solidFill>
          <a:ln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US" dirty="0"/>
          </a:p>
        </p:txBody>
      </p:sp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6F9772E4-10E9-13DE-8AE8-35BBB9DD1D9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114366" y="1450552"/>
            <a:ext cx="6327648" cy="2180543"/>
          </a:xfrm>
        </p:spPr>
        <p:txBody>
          <a:bodyPr rtlCol="0"/>
          <a:lstStyle/>
          <a:p>
            <a:pPr rtl="0"/>
            <a:r>
              <a:rPr lang="ru-RU" sz="4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Перерахування</a:t>
            </a: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7 </a:t>
            </a:r>
            <a:r>
              <a:rPr lang="ru-RU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C++</a:t>
            </a:r>
            <a:r>
              <a:rPr lang="ru-RU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ru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4" name="Подзаголовок 3">
            <a:extLst>
              <a:ext uri="{FF2B5EF4-FFF2-40B4-BE49-F238E27FC236}">
                <a16:creationId xmlns:a16="http://schemas.microsoft.com/office/drawing/2014/main" id="{F7C09E8F-C241-2F75-70EA-32EC69551E7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617286" y="3983440"/>
            <a:ext cx="5321808" cy="824404"/>
          </a:xfrm>
        </p:spPr>
        <p:txBody>
          <a:bodyPr rtlCol="0">
            <a:normAutofit fontScale="92500" lnSpcReduction="10000"/>
          </a:bodyPr>
          <a:lstStyle/>
          <a:p>
            <a:pPr rtl="0"/>
            <a:r>
              <a:rPr lang="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Затонацька Юлія Сергіївна</a:t>
            </a:r>
          </a:p>
          <a:p>
            <a:pPr rtl="0"/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</a:t>
            </a:r>
            <a:r>
              <a:rPr lang="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оп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`</a:t>
            </a:r>
            <a:r>
              <a:rPr lang="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ютерна Математика (2курс)</a:t>
            </a:r>
          </a:p>
        </p:txBody>
      </p:sp>
      <p:cxnSp>
        <p:nvCxnSpPr>
          <p:cNvPr id="12" name="Прямая соединительная линия 11">
            <a:extLst>
              <a:ext uri="{FF2B5EF4-FFF2-40B4-BE49-F238E27FC236}">
                <a16:creationId xmlns:a16="http://schemas.microsoft.com/office/drawing/2014/main" id="{9318DF20-A4C4-3800-A69E-4E11F5A11C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5617540" y="3810212"/>
            <a:ext cx="5321300" cy="0"/>
          </a:xfrm>
          <a:prstGeom prst="line">
            <a:avLst/>
          </a:prstGeom>
          <a:ln w="12700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58159323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A6BAE96-77E9-AC35-6E7A-68F67BE38D0A}"/>
              </a:ext>
            </a:extLst>
          </p:cNvPr>
          <p:cNvSpPr txBox="1"/>
          <p:nvPr/>
        </p:nvSpPr>
        <p:spPr>
          <a:xfrm>
            <a:off x="1062317" y="310807"/>
            <a:ext cx="9637059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uk-UA" sz="2400" b="1" dirty="0"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Мета</a:t>
            </a:r>
            <a:r>
              <a:rPr lang="ru-RU" sz="2400" b="1" dirty="0"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:</a:t>
            </a:r>
            <a:r>
              <a:rPr lang="ru-RU" sz="2400" b="1" kern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endParaRPr lang="ru-RU" sz="2400" b="1" kern="18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ctr"/>
            <a:r>
              <a:rPr lang="ru-RU" sz="2400" dirty="0"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Метою </a:t>
            </a:r>
            <a:r>
              <a:rPr lang="ru-RU" sz="24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даної</a:t>
            </a:r>
            <a:r>
              <a:rPr lang="ru-RU" sz="2400" dirty="0"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 </a:t>
            </a:r>
            <a:r>
              <a:rPr lang="ru-RU" sz="24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роботи</a:t>
            </a:r>
            <a:r>
              <a:rPr lang="ru-RU" sz="2400" dirty="0"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 є </a:t>
            </a:r>
            <a:r>
              <a:rPr lang="ru-RU" sz="24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вивчення</a:t>
            </a:r>
            <a:r>
              <a:rPr lang="ru-RU" sz="2400" dirty="0"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, </a:t>
            </a:r>
            <a:r>
              <a:rPr lang="ru-RU" sz="24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закріплення</a:t>
            </a:r>
            <a:r>
              <a:rPr lang="ru-RU" sz="2400" dirty="0"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 та </a:t>
            </a:r>
            <a:r>
              <a:rPr lang="ru-RU" sz="24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практичне</a:t>
            </a:r>
            <a:r>
              <a:rPr lang="ru-RU" sz="2400" dirty="0"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 </a:t>
            </a:r>
            <a:r>
              <a:rPr lang="ru-RU" sz="24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застосування</a:t>
            </a:r>
            <a:r>
              <a:rPr lang="ru-RU" sz="2400" dirty="0"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 </a:t>
            </a:r>
            <a:r>
              <a:rPr lang="ru-RU" sz="24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механізму</a:t>
            </a:r>
            <a:r>
              <a:rPr lang="ru-RU" sz="2400" dirty="0"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 </a:t>
            </a:r>
            <a:r>
              <a:rPr lang="ru-RU" sz="24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перерахувань</a:t>
            </a:r>
            <a:r>
              <a:rPr lang="ru-RU" sz="2400" dirty="0"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 (</a:t>
            </a:r>
            <a:r>
              <a:rPr lang="ru-RU" sz="24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enum</a:t>
            </a:r>
            <a:r>
              <a:rPr lang="ru-RU" sz="2400" dirty="0"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) у мовах </a:t>
            </a:r>
            <a:r>
              <a:rPr lang="ru-RU" sz="24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програмування</a:t>
            </a:r>
            <a:r>
              <a:rPr lang="ru-RU" sz="2400" dirty="0"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 C та C++, а також </a:t>
            </a:r>
            <a:r>
              <a:rPr lang="ru-RU" sz="24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порівняння</a:t>
            </a:r>
            <a:r>
              <a:rPr lang="ru-RU" sz="2400" dirty="0"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 </a:t>
            </a:r>
            <a:r>
              <a:rPr lang="ru-RU" sz="24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їх</a:t>
            </a:r>
            <a:r>
              <a:rPr lang="ru-RU" sz="2400" dirty="0"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 </a:t>
            </a:r>
            <a:r>
              <a:rPr lang="ru-RU" sz="24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можливостей</a:t>
            </a:r>
            <a:r>
              <a:rPr lang="ru-RU" sz="2400" dirty="0"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 та </a:t>
            </a:r>
            <a:r>
              <a:rPr lang="ru-RU" sz="24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продуктивності</a:t>
            </a:r>
            <a:r>
              <a:rPr lang="ru-RU" sz="2400" dirty="0"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.</a:t>
            </a:r>
            <a:endParaRPr lang="ru-RU" sz="2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2407622-5617-F184-F641-668D1E4BFA0A}"/>
              </a:ext>
            </a:extLst>
          </p:cNvPr>
          <p:cNvSpPr txBox="1"/>
          <p:nvPr/>
        </p:nvSpPr>
        <p:spPr>
          <a:xfrm>
            <a:off x="377637" y="2089103"/>
            <a:ext cx="2725271" cy="23416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lnSpc>
                <a:spcPct val="115000"/>
              </a:lnSpc>
              <a:spcAft>
                <a:spcPts val="800"/>
              </a:spcAft>
              <a:tabLst>
                <a:tab pos="457200" algn="l"/>
              </a:tabLst>
            </a:pPr>
            <a:r>
              <a:rPr lang="ru-RU" sz="16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Ознайомитися</a:t>
            </a:r>
            <a:r>
              <a:rPr lang="ru-RU" sz="16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з синтаксисом і принципами </a:t>
            </a:r>
            <a:r>
              <a:rPr lang="ru-RU" sz="16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роботи</a:t>
            </a:r>
            <a:r>
              <a:rPr lang="ru-RU" sz="16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ru-RU" sz="16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перерахувань</a:t>
            </a:r>
            <a:r>
              <a:rPr lang="ru-RU" sz="16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у </a:t>
            </a:r>
            <a:r>
              <a:rPr lang="ru-RU" sz="16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мові</a:t>
            </a:r>
            <a:r>
              <a:rPr lang="ru-RU" sz="16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C, </a:t>
            </a:r>
            <a:r>
              <a:rPr lang="ru-RU" sz="16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їх</a:t>
            </a:r>
            <a:r>
              <a:rPr lang="ru-RU" sz="16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ru-RU" sz="16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використанням</a:t>
            </a:r>
            <a:r>
              <a:rPr lang="ru-RU" sz="16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для </a:t>
            </a:r>
            <a:r>
              <a:rPr lang="ru-RU" sz="16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створення</a:t>
            </a:r>
            <a:r>
              <a:rPr lang="ru-RU" sz="16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ru-RU" sz="16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наборів</a:t>
            </a:r>
            <a:r>
              <a:rPr lang="ru-RU" sz="16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ru-RU" sz="16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цілочислових</a:t>
            </a:r>
            <a:r>
              <a:rPr lang="ru-RU" sz="16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констант та </a:t>
            </a:r>
            <a:r>
              <a:rPr lang="ru-RU" sz="16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організацією</a:t>
            </a:r>
            <a:r>
              <a:rPr lang="ru-RU" sz="16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ru-RU" sz="16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базових</a:t>
            </a:r>
            <a:r>
              <a:rPr lang="ru-RU" sz="16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ru-RU" sz="16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операцій</a:t>
            </a:r>
            <a:r>
              <a:rPr lang="ru-RU" sz="16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вводу-</a:t>
            </a:r>
            <a:r>
              <a:rPr lang="ru-RU" sz="16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виводу</a:t>
            </a:r>
            <a:r>
              <a:rPr lang="ru-RU" sz="16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.</a:t>
            </a:r>
            <a:endParaRPr lang="ru-RU" sz="16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3CE4078-FAF2-37B0-ED78-CC20797F749D}"/>
              </a:ext>
            </a:extLst>
          </p:cNvPr>
          <p:cNvSpPr txBox="1"/>
          <p:nvPr/>
        </p:nvSpPr>
        <p:spPr>
          <a:xfrm>
            <a:off x="3487269" y="2089103"/>
            <a:ext cx="2393576" cy="23416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lnSpc>
                <a:spcPct val="115000"/>
              </a:lnSpc>
              <a:spcAft>
                <a:spcPts val="800"/>
              </a:spcAft>
              <a:tabLst>
                <a:tab pos="457200" algn="l"/>
              </a:tabLst>
            </a:pPr>
            <a:r>
              <a:rPr lang="ru-RU" sz="16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Дослідити</a:t>
            </a:r>
            <a:r>
              <a:rPr lang="ru-RU" sz="16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ru-RU" sz="16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особливості</a:t>
            </a:r>
            <a:r>
              <a:rPr lang="ru-RU" sz="16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нового типу </a:t>
            </a:r>
            <a:r>
              <a:rPr lang="ru-RU" sz="16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перерахувань</a:t>
            </a:r>
            <a:r>
              <a:rPr lang="ru-RU" sz="16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ru-RU" sz="16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enum</a:t>
            </a:r>
            <a:r>
              <a:rPr lang="ru-RU" sz="16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ru-RU" sz="16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class</a:t>
            </a:r>
            <a:r>
              <a:rPr lang="ru-RU" sz="16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у C++11, </a:t>
            </a:r>
            <a:r>
              <a:rPr lang="ru-RU" sz="16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їх</a:t>
            </a:r>
            <a:r>
              <a:rPr lang="ru-RU" sz="16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ru-RU" sz="16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сильну</a:t>
            </a:r>
            <a:r>
              <a:rPr lang="ru-RU" sz="16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ru-RU" sz="16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типізацію</a:t>
            </a:r>
            <a:r>
              <a:rPr lang="ru-RU" sz="16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, </a:t>
            </a:r>
            <a:r>
              <a:rPr lang="ru-RU" sz="16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безпечність</a:t>
            </a:r>
            <a:r>
              <a:rPr lang="ru-RU" sz="16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та </a:t>
            </a:r>
            <a:r>
              <a:rPr lang="ru-RU" sz="16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переваги</a:t>
            </a:r>
            <a:r>
              <a:rPr lang="ru-RU" sz="16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над </a:t>
            </a:r>
            <a:r>
              <a:rPr lang="ru-RU" sz="16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класичними</a:t>
            </a:r>
            <a:r>
              <a:rPr lang="ru-RU" sz="16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ru-RU" sz="16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перерахуваннями</a:t>
            </a:r>
            <a:r>
              <a:rPr lang="ru-RU" sz="16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С.</a:t>
            </a:r>
            <a:endParaRPr lang="ru-RU" sz="16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2D13578-0867-1DF5-B16E-5C870AE55761}"/>
              </a:ext>
            </a:extLst>
          </p:cNvPr>
          <p:cNvSpPr txBox="1"/>
          <p:nvPr/>
        </p:nvSpPr>
        <p:spPr>
          <a:xfrm>
            <a:off x="6265206" y="2089103"/>
            <a:ext cx="2940423" cy="2058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lnSpc>
                <a:spcPct val="115000"/>
              </a:lnSpc>
              <a:spcAft>
                <a:spcPts val="800"/>
              </a:spcAft>
              <a:tabLst>
                <a:tab pos="457200" algn="l"/>
              </a:tabLst>
            </a:pPr>
            <a:r>
              <a:rPr lang="ru-RU" sz="16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Реалізувати</a:t>
            </a:r>
            <a:r>
              <a:rPr lang="ru-RU" sz="16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за </a:t>
            </a:r>
            <a:r>
              <a:rPr lang="ru-RU" sz="16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допомогою</a:t>
            </a:r>
            <a:r>
              <a:rPr lang="ru-RU" sz="16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ru-RU" sz="16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перерахувань</a:t>
            </a:r>
            <a:r>
              <a:rPr lang="ru-RU" sz="16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ru-RU" sz="16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ввід</a:t>
            </a:r>
            <a:r>
              <a:rPr lang="ru-RU" sz="16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/</a:t>
            </a:r>
            <a:r>
              <a:rPr lang="ru-RU" sz="16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вивід</a:t>
            </a:r>
            <a:r>
              <a:rPr lang="ru-RU" sz="16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для таких </a:t>
            </a:r>
            <a:r>
              <a:rPr lang="ru-RU" sz="16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сутностей</a:t>
            </a:r>
            <a:r>
              <a:rPr lang="ru-RU" sz="16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:</a:t>
            </a:r>
            <a:br>
              <a:rPr lang="ru-RU" sz="16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</a:br>
            <a:r>
              <a:rPr lang="ru-RU" sz="16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– </a:t>
            </a:r>
            <a:r>
              <a:rPr lang="ru-RU" sz="16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дні</a:t>
            </a:r>
            <a:r>
              <a:rPr lang="ru-RU" sz="16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ru-RU" sz="16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тижня</a:t>
            </a:r>
            <a:r>
              <a:rPr lang="ru-RU" sz="16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;</a:t>
            </a:r>
            <a:br>
              <a:rPr lang="ru-RU" sz="16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</a:br>
            <a:r>
              <a:rPr lang="ru-RU" sz="16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– </a:t>
            </a:r>
            <a:r>
              <a:rPr lang="ru-RU" sz="16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місяці</a:t>
            </a:r>
            <a:r>
              <a:rPr lang="ru-RU" sz="16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року;</a:t>
            </a:r>
            <a:br>
              <a:rPr lang="ru-RU" sz="16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</a:br>
            <a:r>
              <a:rPr lang="ru-RU" sz="16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– </a:t>
            </a:r>
            <a:r>
              <a:rPr lang="ru-RU" sz="16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кольори</a:t>
            </a:r>
            <a:r>
              <a:rPr lang="ru-RU" sz="16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спектра;</a:t>
            </a:r>
            <a:br>
              <a:rPr lang="ru-RU" sz="16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</a:br>
            <a:r>
              <a:rPr lang="ru-RU" sz="16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– </a:t>
            </a:r>
            <a:r>
              <a:rPr lang="ru-RU" sz="16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шахові</a:t>
            </a:r>
            <a:r>
              <a:rPr lang="ru-RU" sz="16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ru-RU" sz="16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фігури</a:t>
            </a:r>
            <a:r>
              <a:rPr lang="ru-RU" sz="16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.</a:t>
            </a:r>
            <a:endParaRPr lang="ru-RU" sz="16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31068FF-797B-C91D-099C-624156329F4E}"/>
              </a:ext>
            </a:extLst>
          </p:cNvPr>
          <p:cNvSpPr txBox="1"/>
          <p:nvPr/>
        </p:nvSpPr>
        <p:spPr>
          <a:xfrm>
            <a:off x="9205629" y="2073239"/>
            <a:ext cx="2290482" cy="23416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lnSpc>
                <a:spcPct val="115000"/>
              </a:lnSpc>
              <a:spcAft>
                <a:spcPts val="800"/>
              </a:spcAft>
              <a:tabLst>
                <a:tab pos="457200" algn="l"/>
              </a:tabLst>
            </a:pPr>
            <a:r>
              <a:rPr lang="ru-RU" sz="16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Створити</a:t>
            </a:r>
            <a:r>
              <a:rPr lang="ru-RU" sz="16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структуру Card та </a:t>
            </a:r>
            <a:r>
              <a:rPr lang="ru-RU" sz="16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перерахування</a:t>
            </a:r>
            <a:r>
              <a:rPr lang="ru-RU" sz="16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мастей і </a:t>
            </a:r>
            <a:r>
              <a:rPr lang="ru-RU" sz="16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рангів</a:t>
            </a:r>
            <a:r>
              <a:rPr lang="ru-RU" sz="16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, а також </a:t>
            </a:r>
            <a:r>
              <a:rPr lang="ru-RU" sz="16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реалізувати</a:t>
            </a:r>
            <a:r>
              <a:rPr lang="ru-RU" sz="16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ru-RU" sz="16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логічну</a:t>
            </a:r>
            <a:r>
              <a:rPr lang="ru-RU" sz="16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ru-RU" sz="16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функцію</a:t>
            </a:r>
            <a:r>
              <a:rPr lang="ru-RU" sz="16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ru-RU" sz="16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визначення</a:t>
            </a:r>
            <a:r>
              <a:rPr lang="ru-RU" sz="16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“</a:t>
            </a:r>
            <a:r>
              <a:rPr lang="ru-RU" sz="16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биття</a:t>
            </a:r>
            <a:r>
              <a:rPr lang="ru-RU" sz="16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” </a:t>
            </a:r>
            <a:r>
              <a:rPr lang="ru-RU" sz="16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карти</a:t>
            </a:r>
            <a:r>
              <a:rPr lang="ru-RU" sz="16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з </a:t>
            </a:r>
            <a:r>
              <a:rPr lang="ru-RU" sz="16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урахуванням</a:t>
            </a:r>
            <a:r>
              <a:rPr lang="ru-RU" sz="16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ru-RU" sz="16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козирної</a:t>
            </a:r>
            <a:r>
              <a:rPr lang="ru-RU" sz="16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ru-RU" sz="16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масті</a:t>
            </a:r>
            <a:r>
              <a:rPr lang="ru-RU" sz="16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.</a:t>
            </a:r>
            <a:endParaRPr lang="ru-RU" sz="16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CF7B744-565E-43B5-01F7-4C4FD4FB4BBF}"/>
              </a:ext>
            </a:extLst>
          </p:cNvPr>
          <p:cNvSpPr txBox="1"/>
          <p:nvPr/>
        </p:nvSpPr>
        <p:spPr>
          <a:xfrm>
            <a:off x="425821" y="4496199"/>
            <a:ext cx="2102225" cy="17753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lnSpc>
                <a:spcPct val="115000"/>
              </a:lnSpc>
              <a:spcAft>
                <a:spcPts val="800"/>
              </a:spcAft>
              <a:tabLst>
                <a:tab pos="457200" algn="l"/>
              </a:tabLst>
            </a:pPr>
            <a:r>
              <a:rPr lang="ru-RU" sz="16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Створити</a:t>
            </a:r>
            <a:r>
              <a:rPr lang="ru-RU" sz="16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ru-RU" sz="16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перелік</a:t>
            </a:r>
            <a:r>
              <a:rPr lang="ru-RU" sz="16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ru-RU" sz="16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одиниць</a:t>
            </a:r>
            <a:r>
              <a:rPr lang="ru-RU" sz="16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ru-RU" sz="16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довжини</a:t>
            </a:r>
            <a:r>
              <a:rPr lang="ru-RU" sz="16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та </a:t>
            </a:r>
            <a:r>
              <a:rPr lang="ru-RU" sz="16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функцію</a:t>
            </a:r>
            <a:r>
              <a:rPr lang="ru-RU" sz="16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ru-RU" sz="16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перерахунку</a:t>
            </a:r>
            <a:r>
              <a:rPr lang="ru-RU" sz="16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в </a:t>
            </a:r>
            <a:r>
              <a:rPr lang="ru-RU" sz="16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метри</a:t>
            </a:r>
            <a:r>
              <a:rPr lang="ru-RU" sz="16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, </a:t>
            </a:r>
            <a:r>
              <a:rPr lang="ru-RU" sz="16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використовуючи</a:t>
            </a:r>
            <a:r>
              <a:rPr lang="ru-RU" sz="16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типи </a:t>
            </a:r>
            <a:r>
              <a:rPr lang="ru-RU" sz="16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enum</a:t>
            </a:r>
            <a:r>
              <a:rPr lang="ru-RU" sz="16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/ </a:t>
            </a:r>
            <a:r>
              <a:rPr lang="ru-RU" sz="16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enum</a:t>
            </a:r>
            <a:r>
              <a:rPr lang="ru-RU" sz="16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ru-RU" sz="16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class</a:t>
            </a:r>
            <a:r>
              <a:rPr lang="ru-RU" sz="16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.</a:t>
            </a:r>
            <a:endParaRPr lang="ru-RU" sz="16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1C38D98-E169-97DF-E3CE-E63DCF0E43D6}"/>
              </a:ext>
            </a:extLst>
          </p:cNvPr>
          <p:cNvSpPr txBox="1"/>
          <p:nvPr/>
        </p:nvSpPr>
        <p:spPr>
          <a:xfrm>
            <a:off x="2469774" y="4565713"/>
            <a:ext cx="2102225" cy="2058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lnSpc>
                <a:spcPct val="115000"/>
              </a:lnSpc>
              <a:spcAft>
                <a:spcPts val="800"/>
              </a:spcAft>
              <a:tabLst>
                <a:tab pos="457200" algn="l"/>
              </a:tabLst>
            </a:pPr>
            <a:r>
              <a:rPr lang="ru-RU" sz="16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Реалізувати</a:t>
            </a:r>
            <a:r>
              <a:rPr lang="ru-RU" sz="16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ru-RU" sz="16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відмінювання</a:t>
            </a:r>
            <a:r>
              <a:rPr lang="ru-RU" sz="16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ru-RU" sz="16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українських</a:t>
            </a:r>
            <a:r>
              <a:rPr lang="ru-RU" sz="16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ru-RU" sz="16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слів</a:t>
            </a:r>
            <a:r>
              <a:rPr lang="ru-RU" sz="16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ru-RU" sz="16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відповідно</a:t>
            </a:r>
            <a:r>
              <a:rPr lang="ru-RU" sz="16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до </a:t>
            </a:r>
            <a:r>
              <a:rPr lang="ru-RU" sz="16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значення</a:t>
            </a:r>
            <a:r>
              <a:rPr lang="ru-RU" sz="16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ru-RU" sz="16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перерахування</a:t>
            </a:r>
            <a:r>
              <a:rPr lang="ru-RU" sz="16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“</a:t>
            </a:r>
            <a:r>
              <a:rPr lang="ru-RU" sz="16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Відмінок</a:t>
            </a:r>
            <a:r>
              <a:rPr lang="ru-RU" sz="16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”.</a:t>
            </a:r>
            <a:endParaRPr lang="ru-RU" sz="16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5930551-1BBC-F922-38F8-F8B0C52CCCD2}"/>
              </a:ext>
            </a:extLst>
          </p:cNvPr>
          <p:cNvSpPr txBox="1"/>
          <p:nvPr/>
        </p:nvSpPr>
        <p:spPr>
          <a:xfrm>
            <a:off x="6196858" y="4565713"/>
            <a:ext cx="1875866" cy="17753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lnSpc>
                <a:spcPct val="115000"/>
              </a:lnSpc>
              <a:spcAft>
                <a:spcPts val="800"/>
              </a:spcAft>
              <a:tabLst>
                <a:tab pos="457200" algn="l"/>
              </a:tabLst>
            </a:pPr>
            <a:r>
              <a:rPr lang="ru-RU" sz="16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Використати</a:t>
            </a:r>
            <a:r>
              <a:rPr lang="ru-RU" sz="16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ru-RU" sz="16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перерахування</a:t>
            </a:r>
            <a:r>
              <a:rPr lang="ru-RU" sz="16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ru-RU" sz="16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голосних</a:t>
            </a:r>
            <a:r>
              <a:rPr lang="ru-RU" sz="16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для </a:t>
            </a:r>
            <a:r>
              <a:rPr lang="ru-RU" sz="16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визначення</a:t>
            </a:r>
            <a:r>
              <a:rPr lang="ru-RU" sz="16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ru-RU" sz="16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кількості</a:t>
            </a:r>
            <a:r>
              <a:rPr lang="ru-RU" sz="16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ru-RU" sz="16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складів</a:t>
            </a:r>
            <a:r>
              <a:rPr lang="ru-RU" sz="16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у </a:t>
            </a:r>
            <a:r>
              <a:rPr lang="ru-RU" sz="16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фразі</a:t>
            </a:r>
            <a:r>
              <a:rPr lang="ru-RU" sz="16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.</a:t>
            </a:r>
            <a:endParaRPr lang="ru-RU" sz="16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847D548C-29F8-5D3C-2383-CCA677121BC9}"/>
              </a:ext>
            </a:extLst>
          </p:cNvPr>
          <p:cNvSpPr txBox="1"/>
          <p:nvPr/>
        </p:nvSpPr>
        <p:spPr>
          <a:xfrm>
            <a:off x="8231855" y="4565713"/>
            <a:ext cx="2624404" cy="17753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lnSpc>
                <a:spcPct val="115000"/>
              </a:lnSpc>
              <a:spcAft>
                <a:spcPts val="800"/>
              </a:spcAft>
              <a:tabLst>
                <a:tab pos="457200" algn="l"/>
              </a:tabLst>
            </a:pPr>
            <a:r>
              <a:rPr lang="ru-RU" sz="16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Створити</a:t>
            </a:r>
            <a:r>
              <a:rPr lang="ru-RU" sz="16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ru-RU" sz="16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перерахування</a:t>
            </a:r>
            <a:r>
              <a:rPr lang="ru-RU" sz="16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команд руху корабля та початкового курсу, </a:t>
            </a:r>
            <a:r>
              <a:rPr lang="ru-RU" sz="16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визначити</a:t>
            </a:r>
            <a:r>
              <a:rPr lang="ru-RU" sz="16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ru-RU" sz="16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кінцевий</a:t>
            </a:r>
            <a:r>
              <a:rPr lang="ru-RU" sz="16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ru-RU" sz="16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напрямок</a:t>
            </a:r>
            <a:r>
              <a:rPr lang="ru-RU" sz="16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та </a:t>
            </a:r>
            <a:r>
              <a:rPr lang="ru-RU" sz="16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абсолютне</a:t>
            </a:r>
            <a:r>
              <a:rPr lang="ru-RU" sz="16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ru-RU" sz="16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зміщення</a:t>
            </a:r>
            <a:r>
              <a:rPr lang="ru-RU" sz="16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корабля.</a:t>
            </a:r>
            <a:endParaRPr lang="ru-RU" sz="16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8CD58F1A-BA67-D695-4231-AC537519BC3B}"/>
              </a:ext>
            </a:extLst>
          </p:cNvPr>
          <p:cNvSpPr txBox="1"/>
          <p:nvPr/>
        </p:nvSpPr>
        <p:spPr>
          <a:xfrm>
            <a:off x="4094633" y="4565713"/>
            <a:ext cx="2001367" cy="2058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lnSpc>
                <a:spcPct val="115000"/>
              </a:lnSpc>
              <a:spcAft>
                <a:spcPts val="800"/>
              </a:spcAft>
              <a:tabLst>
                <a:tab pos="457200" algn="l"/>
              </a:tabLst>
            </a:pPr>
            <a:r>
              <a:rPr lang="ru-RU" sz="16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Порівняти</a:t>
            </a:r>
            <a:r>
              <a:rPr lang="ru-RU" sz="16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ru-RU" sz="16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реалізації</a:t>
            </a:r>
            <a:r>
              <a:rPr lang="ru-RU" sz="16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на </a:t>
            </a:r>
            <a:r>
              <a:rPr lang="ru-RU" sz="16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основі</a:t>
            </a:r>
            <a:r>
              <a:rPr lang="ru-RU" sz="16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ru-RU" sz="16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enum</a:t>
            </a:r>
            <a:r>
              <a:rPr lang="ru-RU" sz="16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(C) та </a:t>
            </a:r>
            <a:r>
              <a:rPr lang="ru-RU" sz="16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enum</a:t>
            </a:r>
            <a:r>
              <a:rPr lang="ru-RU" sz="16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ru-RU" sz="16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class</a:t>
            </a:r>
            <a:r>
              <a:rPr lang="ru-RU" sz="16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(C++) за </a:t>
            </a:r>
            <a:r>
              <a:rPr lang="ru-RU" sz="16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безпечністю</a:t>
            </a:r>
            <a:r>
              <a:rPr lang="ru-RU" sz="16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, </a:t>
            </a:r>
            <a:r>
              <a:rPr lang="ru-RU" sz="16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зручністю</a:t>
            </a:r>
            <a:r>
              <a:rPr lang="ru-RU" sz="16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ru-RU" sz="16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використання</a:t>
            </a:r>
            <a:r>
              <a:rPr lang="ru-RU" sz="16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та </a:t>
            </a:r>
            <a:r>
              <a:rPr lang="ru-RU" sz="16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швидкодією</a:t>
            </a:r>
            <a:r>
              <a:rPr lang="ru-RU" sz="16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.</a:t>
            </a:r>
            <a:endParaRPr lang="ru-RU" sz="16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1030" name="Picture 6">
            <a:extLst>
              <a:ext uri="{FF2B5EF4-FFF2-40B4-BE49-F238E27FC236}">
                <a16:creationId xmlns:a16="http://schemas.microsoft.com/office/drawing/2014/main" id="{0F6C0F07-A0F4-AA5C-2644-B0AEC7D40B7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267" b="14742"/>
          <a:stretch/>
        </p:blipFill>
        <p:spPr bwMode="auto">
          <a:xfrm>
            <a:off x="-20230" y="2073239"/>
            <a:ext cx="12212230" cy="52198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3351166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A6BAE96-77E9-AC35-6E7A-68F67BE38D0A}"/>
              </a:ext>
            </a:extLst>
          </p:cNvPr>
          <p:cNvSpPr txBox="1"/>
          <p:nvPr/>
        </p:nvSpPr>
        <p:spPr>
          <a:xfrm>
            <a:off x="1062317" y="310807"/>
            <a:ext cx="9637059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uk-UA" sz="2400" b="1" dirty="0"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Мета</a:t>
            </a:r>
            <a:r>
              <a:rPr lang="ru-RU" sz="2400" b="1" dirty="0"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:</a:t>
            </a:r>
            <a:r>
              <a:rPr lang="ru-RU" sz="2400" b="1" kern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endParaRPr lang="ru-RU" sz="2400" b="1" kern="18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ctr"/>
            <a:r>
              <a:rPr lang="ru-RU" sz="2400" dirty="0"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Метою </a:t>
            </a:r>
            <a:r>
              <a:rPr lang="ru-RU" sz="24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даної</a:t>
            </a:r>
            <a:r>
              <a:rPr lang="ru-RU" sz="2400" dirty="0"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 </a:t>
            </a:r>
            <a:r>
              <a:rPr lang="ru-RU" sz="24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роботи</a:t>
            </a:r>
            <a:r>
              <a:rPr lang="ru-RU" sz="2400" dirty="0"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 є </a:t>
            </a:r>
            <a:r>
              <a:rPr lang="ru-RU" sz="24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вивчення</a:t>
            </a:r>
            <a:r>
              <a:rPr lang="ru-RU" sz="2400" dirty="0"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, </a:t>
            </a:r>
            <a:r>
              <a:rPr lang="ru-RU" sz="24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закріплення</a:t>
            </a:r>
            <a:r>
              <a:rPr lang="ru-RU" sz="2400" dirty="0"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 та </a:t>
            </a:r>
            <a:r>
              <a:rPr lang="ru-RU" sz="24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практичне</a:t>
            </a:r>
            <a:r>
              <a:rPr lang="ru-RU" sz="2400" dirty="0"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 </a:t>
            </a:r>
            <a:r>
              <a:rPr lang="ru-RU" sz="24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застосування</a:t>
            </a:r>
            <a:r>
              <a:rPr lang="ru-RU" sz="2400" dirty="0"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 </a:t>
            </a:r>
            <a:r>
              <a:rPr lang="ru-RU" sz="24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механізму</a:t>
            </a:r>
            <a:r>
              <a:rPr lang="ru-RU" sz="2400" dirty="0"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 </a:t>
            </a:r>
            <a:r>
              <a:rPr lang="ru-RU" sz="24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перерахувань</a:t>
            </a:r>
            <a:r>
              <a:rPr lang="ru-RU" sz="2400" dirty="0"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 (</a:t>
            </a:r>
            <a:r>
              <a:rPr lang="ru-RU" sz="24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enum</a:t>
            </a:r>
            <a:r>
              <a:rPr lang="ru-RU" sz="2400" dirty="0"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) у мовах </a:t>
            </a:r>
            <a:r>
              <a:rPr lang="ru-RU" sz="24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програмування</a:t>
            </a:r>
            <a:r>
              <a:rPr lang="ru-RU" sz="2400" dirty="0"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 C та C++, а також </a:t>
            </a:r>
            <a:r>
              <a:rPr lang="ru-RU" sz="24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порівняння</a:t>
            </a:r>
            <a:r>
              <a:rPr lang="ru-RU" sz="2400" dirty="0"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 </a:t>
            </a:r>
            <a:r>
              <a:rPr lang="ru-RU" sz="24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їх</a:t>
            </a:r>
            <a:r>
              <a:rPr lang="ru-RU" sz="2400" dirty="0"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 </a:t>
            </a:r>
            <a:r>
              <a:rPr lang="ru-RU" sz="24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можливостей</a:t>
            </a:r>
            <a:r>
              <a:rPr lang="ru-RU" sz="2400" dirty="0"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 та </a:t>
            </a:r>
            <a:r>
              <a:rPr lang="ru-RU" sz="24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продуктивності</a:t>
            </a:r>
            <a:r>
              <a:rPr lang="ru-RU" sz="2400" dirty="0"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.</a:t>
            </a:r>
            <a:endParaRPr lang="ru-RU" sz="24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3CE4078-FAF2-37B0-ED78-CC20797F749D}"/>
              </a:ext>
            </a:extLst>
          </p:cNvPr>
          <p:cNvSpPr txBox="1"/>
          <p:nvPr/>
        </p:nvSpPr>
        <p:spPr>
          <a:xfrm>
            <a:off x="3487269" y="2089103"/>
            <a:ext cx="2393576" cy="23416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lnSpc>
                <a:spcPct val="115000"/>
              </a:lnSpc>
              <a:spcAft>
                <a:spcPts val="800"/>
              </a:spcAft>
              <a:tabLst>
                <a:tab pos="457200" algn="l"/>
              </a:tabLst>
            </a:pPr>
            <a:r>
              <a:rPr lang="ru-RU" sz="16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Дослідити</a:t>
            </a:r>
            <a:r>
              <a:rPr lang="ru-RU" sz="16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ru-RU" sz="16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особливості</a:t>
            </a:r>
            <a:r>
              <a:rPr lang="ru-RU" sz="16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нового типу </a:t>
            </a:r>
            <a:r>
              <a:rPr lang="ru-RU" sz="16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перерахувань</a:t>
            </a:r>
            <a:r>
              <a:rPr lang="ru-RU" sz="16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ru-RU" sz="16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enum</a:t>
            </a:r>
            <a:r>
              <a:rPr lang="ru-RU" sz="16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ru-RU" sz="16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class</a:t>
            </a:r>
            <a:r>
              <a:rPr lang="ru-RU" sz="16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у C++11, </a:t>
            </a:r>
            <a:r>
              <a:rPr lang="ru-RU" sz="16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їх</a:t>
            </a:r>
            <a:r>
              <a:rPr lang="ru-RU" sz="16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ru-RU" sz="16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сильну</a:t>
            </a:r>
            <a:r>
              <a:rPr lang="ru-RU" sz="16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ru-RU" sz="16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типізацію</a:t>
            </a:r>
            <a:r>
              <a:rPr lang="ru-RU" sz="16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, </a:t>
            </a:r>
            <a:r>
              <a:rPr lang="ru-RU" sz="16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безпечність</a:t>
            </a:r>
            <a:r>
              <a:rPr lang="ru-RU" sz="16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та </a:t>
            </a:r>
            <a:r>
              <a:rPr lang="ru-RU" sz="16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переваги</a:t>
            </a:r>
            <a:r>
              <a:rPr lang="ru-RU" sz="16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над </a:t>
            </a:r>
            <a:r>
              <a:rPr lang="ru-RU" sz="16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класичними</a:t>
            </a:r>
            <a:r>
              <a:rPr lang="ru-RU" sz="16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ru-RU" sz="16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перерахуваннями</a:t>
            </a:r>
            <a:r>
              <a:rPr lang="ru-RU" sz="16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С.</a:t>
            </a:r>
            <a:endParaRPr lang="ru-RU" sz="16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2D13578-0867-1DF5-B16E-5C870AE55761}"/>
              </a:ext>
            </a:extLst>
          </p:cNvPr>
          <p:cNvSpPr txBox="1"/>
          <p:nvPr/>
        </p:nvSpPr>
        <p:spPr>
          <a:xfrm>
            <a:off x="6265206" y="2089103"/>
            <a:ext cx="2940423" cy="2058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lnSpc>
                <a:spcPct val="115000"/>
              </a:lnSpc>
              <a:spcAft>
                <a:spcPts val="800"/>
              </a:spcAft>
              <a:tabLst>
                <a:tab pos="457200" algn="l"/>
              </a:tabLst>
            </a:pPr>
            <a:r>
              <a:rPr lang="ru-RU" sz="16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Реалізувати</a:t>
            </a:r>
            <a:r>
              <a:rPr lang="ru-RU" sz="16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за </a:t>
            </a:r>
            <a:r>
              <a:rPr lang="ru-RU" sz="16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допомогою</a:t>
            </a:r>
            <a:r>
              <a:rPr lang="ru-RU" sz="16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ru-RU" sz="16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перерахувань</a:t>
            </a:r>
            <a:r>
              <a:rPr lang="ru-RU" sz="16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ru-RU" sz="16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ввід</a:t>
            </a:r>
            <a:r>
              <a:rPr lang="ru-RU" sz="16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/</a:t>
            </a:r>
            <a:r>
              <a:rPr lang="ru-RU" sz="16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вивід</a:t>
            </a:r>
            <a:r>
              <a:rPr lang="ru-RU" sz="16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для таких </a:t>
            </a:r>
            <a:r>
              <a:rPr lang="ru-RU" sz="16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сутностей</a:t>
            </a:r>
            <a:r>
              <a:rPr lang="ru-RU" sz="16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:</a:t>
            </a:r>
            <a:br>
              <a:rPr lang="ru-RU" sz="16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</a:br>
            <a:r>
              <a:rPr lang="ru-RU" sz="16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– </a:t>
            </a:r>
            <a:r>
              <a:rPr lang="ru-RU" sz="16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дні</a:t>
            </a:r>
            <a:r>
              <a:rPr lang="ru-RU" sz="16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ru-RU" sz="16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тижня</a:t>
            </a:r>
            <a:r>
              <a:rPr lang="ru-RU" sz="16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;</a:t>
            </a:r>
            <a:br>
              <a:rPr lang="ru-RU" sz="16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</a:br>
            <a:r>
              <a:rPr lang="ru-RU" sz="16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– </a:t>
            </a:r>
            <a:r>
              <a:rPr lang="ru-RU" sz="16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місяці</a:t>
            </a:r>
            <a:r>
              <a:rPr lang="ru-RU" sz="16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року;</a:t>
            </a:r>
            <a:br>
              <a:rPr lang="ru-RU" sz="16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</a:br>
            <a:r>
              <a:rPr lang="ru-RU" sz="16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– </a:t>
            </a:r>
            <a:r>
              <a:rPr lang="ru-RU" sz="16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кольори</a:t>
            </a:r>
            <a:r>
              <a:rPr lang="ru-RU" sz="16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спектра;</a:t>
            </a:r>
            <a:br>
              <a:rPr lang="ru-RU" sz="16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</a:br>
            <a:r>
              <a:rPr lang="ru-RU" sz="16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– </a:t>
            </a:r>
            <a:r>
              <a:rPr lang="ru-RU" sz="16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шахові</a:t>
            </a:r>
            <a:r>
              <a:rPr lang="ru-RU" sz="16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ru-RU" sz="16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фігури</a:t>
            </a:r>
            <a:r>
              <a:rPr lang="ru-RU" sz="16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.</a:t>
            </a:r>
            <a:endParaRPr lang="ru-RU" sz="16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31068FF-797B-C91D-099C-624156329F4E}"/>
              </a:ext>
            </a:extLst>
          </p:cNvPr>
          <p:cNvSpPr txBox="1"/>
          <p:nvPr/>
        </p:nvSpPr>
        <p:spPr>
          <a:xfrm>
            <a:off x="9205629" y="2073239"/>
            <a:ext cx="2290482" cy="23416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lnSpc>
                <a:spcPct val="115000"/>
              </a:lnSpc>
              <a:spcAft>
                <a:spcPts val="800"/>
              </a:spcAft>
              <a:tabLst>
                <a:tab pos="457200" algn="l"/>
              </a:tabLst>
            </a:pPr>
            <a:r>
              <a:rPr lang="ru-RU" sz="16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Створити</a:t>
            </a:r>
            <a:r>
              <a:rPr lang="ru-RU" sz="16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структуру Card та </a:t>
            </a:r>
            <a:r>
              <a:rPr lang="ru-RU" sz="16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перерахування</a:t>
            </a:r>
            <a:r>
              <a:rPr lang="ru-RU" sz="16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мастей і </a:t>
            </a:r>
            <a:r>
              <a:rPr lang="ru-RU" sz="16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рангів</a:t>
            </a:r>
            <a:r>
              <a:rPr lang="ru-RU" sz="16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, а також </a:t>
            </a:r>
            <a:r>
              <a:rPr lang="ru-RU" sz="16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реалізувати</a:t>
            </a:r>
            <a:r>
              <a:rPr lang="ru-RU" sz="16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ru-RU" sz="16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логічну</a:t>
            </a:r>
            <a:r>
              <a:rPr lang="ru-RU" sz="16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ru-RU" sz="16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функцію</a:t>
            </a:r>
            <a:r>
              <a:rPr lang="ru-RU" sz="16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ru-RU" sz="16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визначення</a:t>
            </a:r>
            <a:r>
              <a:rPr lang="ru-RU" sz="16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“</a:t>
            </a:r>
            <a:r>
              <a:rPr lang="ru-RU" sz="16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биття</a:t>
            </a:r>
            <a:r>
              <a:rPr lang="ru-RU" sz="16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” </a:t>
            </a:r>
            <a:r>
              <a:rPr lang="ru-RU" sz="16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карти</a:t>
            </a:r>
            <a:r>
              <a:rPr lang="ru-RU" sz="16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з </a:t>
            </a:r>
            <a:r>
              <a:rPr lang="ru-RU" sz="16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урахуванням</a:t>
            </a:r>
            <a:r>
              <a:rPr lang="ru-RU" sz="16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ru-RU" sz="16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козирної</a:t>
            </a:r>
            <a:r>
              <a:rPr lang="ru-RU" sz="16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ru-RU" sz="16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масті</a:t>
            </a:r>
            <a:r>
              <a:rPr lang="ru-RU" sz="16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.</a:t>
            </a:r>
            <a:endParaRPr lang="ru-RU" sz="16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CF7B744-565E-43B5-01F7-4C4FD4FB4BBF}"/>
              </a:ext>
            </a:extLst>
          </p:cNvPr>
          <p:cNvSpPr txBox="1"/>
          <p:nvPr/>
        </p:nvSpPr>
        <p:spPr>
          <a:xfrm>
            <a:off x="425821" y="4496199"/>
            <a:ext cx="2102225" cy="17753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lnSpc>
                <a:spcPct val="115000"/>
              </a:lnSpc>
              <a:spcAft>
                <a:spcPts val="800"/>
              </a:spcAft>
              <a:tabLst>
                <a:tab pos="457200" algn="l"/>
              </a:tabLst>
            </a:pPr>
            <a:r>
              <a:rPr lang="ru-RU" sz="16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Створити</a:t>
            </a:r>
            <a:r>
              <a:rPr lang="ru-RU" sz="16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ru-RU" sz="16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перелік</a:t>
            </a:r>
            <a:r>
              <a:rPr lang="ru-RU" sz="16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ru-RU" sz="16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одиниць</a:t>
            </a:r>
            <a:r>
              <a:rPr lang="ru-RU" sz="16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ru-RU" sz="16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довжини</a:t>
            </a:r>
            <a:r>
              <a:rPr lang="ru-RU" sz="16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та </a:t>
            </a:r>
            <a:r>
              <a:rPr lang="ru-RU" sz="16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функцію</a:t>
            </a:r>
            <a:r>
              <a:rPr lang="ru-RU" sz="16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ru-RU" sz="16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перерахунку</a:t>
            </a:r>
            <a:r>
              <a:rPr lang="ru-RU" sz="16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в </a:t>
            </a:r>
            <a:r>
              <a:rPr lang="ru-RU" sz="16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метри</a:t>
            </a:r>
            <a:r>
              <a:rPr lang="ru-RU" sz="16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, </a:t>
            </a:r>
            <a:r>
              <a:rPr lang="ru-RU" sz="16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використовуючи</a:t>
            </a:r>
            <a:r>
              <a:rPr lang="ru-RU" sz="16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типи </a:t>
            </a:r>
            <a:r>
              <a:rPr lang="ru-RU" sz="16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enum</a:t>
            </a:r>
            <a:r>
              <a:rPr lang="ru-RU" sz="16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/ </a:t>
            </a:r>
            <a:r>
              <a:rPr lang="ru-RU" sz="16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enum</a:t>
            </a:r>
            <a:r>
              <a:rPr lang="ru-RU" sz="16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ru-RU" sz="16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class</a:t>
            </a:r>
            <a:r>
              <a:rPr lang="ru-RU" sz="16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.</a:t>
            </a:r>
            <a:endParaRPr lang="ru-RU" sz="16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1C38D98-E169-97DF-E3CE-E63DCF0E43D6}"/>
              </a:ext>
            </a:extLst>
          </p:cNvPr>
          <p:cNvSpPr txBox="1"/>
          <p:nvPr/>
        </p:nvSpPr>
        <p:spPr>
          <a:xfrm>
            <a:off x="2469774" y="4565713"/>
            <a:ext cx="2102225" cy="2058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lnSpc>
                <a:spcPct val="115000"/>
              </a:lnSpc>
              <a:spcAft>
                <a:spcPts val="800"/>
              </a:spcAft>
              <a:tabLst>
                <a:tab pos="457200" algn="l"/>
              </a:tabLst>
            </a:pPr>
            <a:r>
              <a:rPr lang="ru-RU" sz="16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Реалізувати</a:t>
            </a:r>
            <a:r>
              <a:rPr lang="ru-RU" sz="16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ru-RU" sz="16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відмінювання</a:t>
            </a:r>
            <a:r>
              <a:rPr lang="ru-RU" sz="16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ru-RU" sz="16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українських</a:t>
            </a:r>
            <a:r>
              <a:rPr lang="ru-RU" sz="16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ru-RU" sz="16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слів</a:t>
            </a:r>
            <a:r>
              <a:rPr lang="ru-RU" sz="16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ru-RU" sz="16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відповідно</a:t>
            </a:r>
            <a:r>
              <a:rPr lang="ru-RU" sz="16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до </a:t>
            </a:r>
            <a:r>
              <a:rPr lang="ru-RU" sz="16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значення</a:t>
            </a:r>
            <a:r>
              <a:rPr lang="ru-RU" sz="16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ru-RU" sz="16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перерахування</a:t>
            </a:r>
            <a:r>
              <a:rPr lang="ru-RU" sz="16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“</a:t>
            </a:r>
            <a:r>
              <a:rPr lang="ru-RU" sz="16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Відмінок</a:t>
            </a:r>
            <a:r>
              <a:rPr lang="ru-RU" sz="16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”.</a:t>
            </a:r>
            <a:endParaRPr lang="ru-RU" sz="16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5930551-1BBC-F922-38F8-F8B0C52CCCD2}"/>
              </a:ext>
            </a:extLst>
          </p:cNvPr>
          <p:cNvSpPr txBox="1"/>
          <p:nvPr/>
        </p:nvSpPr>
        <p:spPr>
          <a:xfrm>
            <a:off x="6196858" y="4565713"/>
            <a:ext cx="1875866" cy="17753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lnSpc>
                <a:spcPct val="115000"/>
              </a:lnSpc>
              <a:spcAft>
                <a:spcPts val="800"/>
              </a:spcAft>
              <a:tabLst>
                <a:tab pos="457200" algn="l"/>
              </a:tabLst>
            </a:pPr>
            <a:r>
              <a:rPr lang="ru-RU" sz="16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Використати</a:t>
            </a:r>
            <a:r>
              <a:rPr lang="ru-RU" sz="16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ru-RU" sz="16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перерахування</a:t>
            </a:r>
            <a:r>
              <a:rPr lang="ru-RU" sz="16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ru-RU" sz="16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голосних</a:t>
            </a:r>
            <a:r>
              <a:rPr lang="ru-RU" sz="16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для </a:t>
            </a:r>
            <a:r>
              <a:rPr lang="ru-RU" sz="16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визначення</a:t>
            </a:r>
            <a:r>
              <a:rPr lang="ru-RU" sz="16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ru-RU" sz="16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кількості</a:t>
            </a:r>
            <a:r>
              <a:rPr lang="ru-RU" sz="16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ru-RU" sz="16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складів</a:t>
            </a:r>
            <a:r>
              <a:rPr lang="ru-RU" sz="16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у </a:t>
            </a:r>
            <a:r>
              <a:rPr lang="ru-RU" sz="16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фразі</a:t>
            </a:r>
            <a:r>
              <a:rPr lang="ru-RU" sz="16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.</a:t>
            </a:r>
            <a:endParaRPr lang="ru-RU" sz="16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847D548C-29F8-5D3C-2383-CCA677121BC9}"/>
              </a:ext>
            </a:extLst>
          </p:cNvPr>
          <p:cNvSpPr txBox="1"/>
          <p:nvPr/>
        </p:nvSpPr>
        <p:spPr>
          <a:xfrm>
            <a:off x="8231855" y="4565713"/>
            <a:ext cx="2624404" cy="17753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lnSpc>
                <a:spcPct val="115000"/>
              </a:lnSpc>
              <a:spcAft>
                <a:spcPts val="800"/>
              </a:spcAft>
              <a:tabLst>
                <a:tab pos="457200" algn="l"/>
              </a:tabLst>
            </a:pPr>
            <a:r>
              <a:rPr lang="ru-RU" sz="16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Створити</a:t>
            </a:r>
            <a:r>
              <a:rPr lang="ru-RU" sz="16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ru-RU" sz="16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перерахування</a:t>
            </a:r>
            <a:r>
              <a:rPr lang="ru-RU" sz="16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команд руху корабля та початкового курсу, </a:t>
            </a:r>
            <a:r>
              <a:rPr lang="ru-RU" sz="16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визначити</a:t>
            </a:r>
            <a:r>
              <a:rPr lang="ru-RU" sz="16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ru-RU" sz="16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кінцевий</a:t>
            </a:r>
            <a:r>
              <a:rPr lang="ru-RU" sz="16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ru-RU" sz="16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напрямок</a:t>
            </a:r>
            <a:r>
              <a:rPr lang="ru-RU" sz="16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та </a:t>
            </a:r>
            <a:r>
              <a:rPr lang="ru-RU" sz="16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абсолютне</a:t>
            </a:r>
            <a:r>
              <a:rPr lang="ru-RU" sz="16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ru-RU" sz="16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зміщення</a:t>
            </a:r>
            <a:r>
              <a:rPr lang="ru-RU" sz="16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корабля.</a:t>
            </a:r>
            <a:endParaRPr lang="ru-RU" sz="16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8CD58F1A-BA67-D695-4231-AC537519BC3B}"/>
              </a:ext>
            </a:extLst>
          </p:cNvPr>
          <p:cNvSpPr txBox="1"/>
          <p:nvPr/>
        </p:nvSpPr>
        <p:spPr>
          <a:xfrm>
            <a:off x="4094633" y="4565713"/>
            <a:ext cx="2001367" cy="2058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lnSpc>
                <a:spcPct val="115000"/>
              </a:lnSpc>
              <a:spcAft>
                <a:spcPts val="800"/>
              </a:spcAft>
              <a:tabLst>
                <a:tab pos="457200" algn="l"/>
              </a:tabLst>
            </a:pPr>
            <a:r>
              <a:rPr lang="ru-RU" sz="16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Порівняти</a:t>
            </a:r>
            <a:r>
              <a:rPr lang="ru-RU" sz="16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ru-RU" sz="16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реалізації</a:t>
            </a:r>
            <a:r>
              <a:rPr lang="ru-RU" sz="16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на </a:t>
            </a:r>
            <a:r>
              <a:rPr lang="ru-RU" sz="16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основі</a:t>
            </a:r>
            <a:r>
              <a:rPr lang="ru-RU" sz="16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ru-RU" sz="16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enum</a:t>
            </a:r>
            <a:r>
              <a:rPr lang="ru-RU" sz="16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(C) та </a:t>
            </a:r>
            <a:r>
              <a:rPr lang="ru-RU" sz="16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enum</a:t>
            </a:r>
            <a:r>
              <a:rPr lang="ru-RU" sz="16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ru-RU" sz="16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class</a:t>
            </a:r>
            <a:r>
              <a:rPr lang="ru-RU" sz="16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(C++) за </a:t>
            </a:r>
            <a:r>
              <a:rPr lang="ru-RU" sz="16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безпечністю</a:t>
            </a:r>
            <a:r>
              <a:rPr lang="ru-RU" sz="16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, </a:t>
            </a:r>
            <a:r>
              <a:rPr lang="ru-RU" sz="16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зручністю</a:t>
            </a:r>
            <a:r>
              <a:rPr lang="ru-RU" sz="16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ru-RU" sz="16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використання</a:t>
            </a:r>
            <a:r>
              <a:rPr lang="ru-RU" sz="16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та </a:t>
            </a:r>
            <a:r>
              <a:rPr lang="ru-RU" sz="16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швидкодією</a:t>
            </a:r>
            <a:r>
              <a:rPr lang="ru-RU" sz="16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.</a:t>
            </a:r>
            <a:endParaRPr lang="ru-RU" sz="16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1030" name="Picture 6">
            <a:extLst>
              <a:ext uri="{FF2B5EF4-FFF2-40B4-BE49-F238E27FC236}">
                <a16:creationId xmlns:a16="http://schemas.microsoft.com/office/drawing/2014/main" id="{0F6C0F07-A0F4-AA5C-2644-B0AEC7D40B7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267" b="14742"/>
          <a:stretch/>
        </p:blipFill>
        <p:spPr bwMode="auto">
          <a:xfrm>
            <a:off x="0" y="2073239"/>
            <a:ext cx="12191999" cy="52198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C2407622-5617-F184-F641-668D1E4BFA0A}"/>
              </a:ext>
            </a:extLst>
          </p:cNvPr>
          <p:cNvSpPr txBox="1"/>
          <p:nvPr/>
        </p:nvSpPr>
        <p:spPr>
          <a:xfrm>
            <a:off x="377637" y="2089103"/>
            <a:ext cx="2725271" cy="2341667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lvl="0" algn="ctr">
              <a:lnSpc>
                <a:spcPct val="115000"/>
              </a:lnSpc>
              <a:spcAft>
                <a:spcPts val="800"/>
              </a:spcAft>
              <a:tabLst>
                <a:tab pos="457200" algn="l"/>
              </a:tabLst>
            </a:pPr>
            <a:r>
              <a:rPr lang="ru-RU" sz="16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Ознайомитися</a:t>
            </a:r>
            <a:r>
              <a:rPr lang="ru-RU" sz="16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з синтаксисом і принципами </a:t>
            </a:r>
            <a:r>
              <a:rPr lang="ru-RU" sz="16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роботи</a:t>
            </a:r>
            <a:r>
              <a:rPr lang="ru-RU" sz="16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ru-RU" sz="16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перерахувань</a:t>
            </a:r>
            <a:r>
              <a:rPr lang="ru-RU" sz="16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у </a:t>
            </a:r>
            <a:r>
              <a:rPr lang="ru-RU" sz="16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мові</a:t>
            </a:r>
            <a:r>
              <a:rPr lang="ru-RU" sz="16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C, </a:t>
            </a:r>
            <a:r>
              <a:rPr lang="ru-RU" sz="16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їх</a:t>
            </a:r>
            <a:r>
              <a:rPr lang="ru-RU" sz="16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ru-RU" sz="16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використанням</a:t>
            </a:r>
            <a:r>
              <a:rPr lang="ru-RU" sz="16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для </a:t>
            </a:r>
            <a:r>
              <a:rPr lang="ru-RU" sz="16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створення</a:t>
            </a:r>
            <a:r>
              <a:rPr lang="ru-RU" sz="16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ru-RU" sz="16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наборів</a:t>
            </a:r>
            <a:r>
              <a:rPr lang="ru-RU" sz="16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ru-RU" sz="16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цілочислових</a:t>
            </a:r>
            <a:r>
              <a:rPr lang="ru-RU" sz="16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констант та </a:t>
            </a:r>
            <a:r>
              <a:rPr lang="ru-RU" sz="16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організацією</a:t>
            </a:r>
            <a:r>
              <a:rPr lang="ru-RU" sz="16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ru-RU" sz="16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базових</a:t>
            </a:r>
            <a:r>
              <a:rPr lang="ru-RU" sz="16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ru-RU" sz="16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операцій</a:t>
            </a:r>
            <a:r>
              <a:rPr lang="ru-RU" sz="16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вводу-</a:t>
            </a:r>
            <a:r>
              <a:rPr lang="ru-RU" sz="16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виводу</a:t>
            </a:r>
            <a:r>
              <a:rPr lang="ru-RU" sz="16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.</a:t>
            </a:r>
            <a:endParaRPr lang="ru-RU" sz="16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00017071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A6BAE96-77E9-AC35-6E7A-68F67BE38D0A}"/>
              </a:ext>
            </a:extLst>
          </p:cNvPr>
          <p:cNvSpPr txBox="1"/>
          <p:nvPr/>
        </p:nvSpPr>
        <p:spPr>
          <a:xfrm>
            <a:off x="1062317" y="310807"/>
            <a:ext cx="9637059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uk-UA" sz="2400" b="1" dirty="0"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Мета</a:t>
            </a:r>
            <a:r>
              <a:rPr lang="ru-RU" sz="2400" b="1" dirty="0"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:</a:t>
            </a:r>
            <a:r>
              <a:rPr lang="ru-RU" sz="2400" b="1" kern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endParaRPr lang="ru-RU" sz="2400" b="1" kern="18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ctr"/>
            <a:r>
              <a:rPr lang="ru-RU" sz="2400" dirty="0"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Метою </a:t>
            </a:r>
            <a:r>
              <a:rPr lang="ru-RU" sz="24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даної</a:t>
            </a:r>
            <a:r>
              <a:rPr lang="ru-RU" sz="2400" dirty="0"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 </a:t>
            </a:r>
            <a:r>
              <a:rPr lang="ru-RU" sz="24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роботи</a:t>
            </a:r>
            <a:r>
              <a:rPr lang="ru-RU" sz="2400" dirty="0"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 є </a:t>
            </a:r>
            <a:r>
              <a:rPr lang="ru-RU" sz="24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вивчення</a:t>
            </a:r>
            <a:r>
              <a:rPr lang="ru-RU" sz="2400" dirty="0"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, </a:t>
            </a:r>
            <a:r>
              <a:rPr lang="ru-RU" sz="24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закріплення</a:t>
            </a:r>
            <a:r>
              <a:rPr lang="ru-RU" sz="2400" dirty="0"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 та </a:t>
            </a:r>
            <a:r>
              <a:rPr lang="ru-RU" sz="24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практичне</a:t>
            </a:r>
            <a:r>
              <a:rPr lang="ru-RU" sz="2400" dirty="0"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 </a:t>
            </a:r>
            <a:r>
              <a:rPr lang="ru-RU" sz="24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застосування</a:t>
            </a:r>
            <a:r>
              <a:rPr lang="ru-RU" sz="2400" dirty="0"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 </a:t>
            </a:r>
            <a:r>
              <a:rPr lang="ru-RU" sz="24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механізму</a:t>
            </a:r>
            <a:r>
              <a:rPr lang="ru-RU" sz="2400" dirty="0"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 </a:t>
            </a:r>
            <a:r>
              <a:rPr lang="ru-RU" sz="24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перерахувань</a:t>
            </a:r>
            <a:r>
              <a:rPr lang="ru-RU" sz="2400" dirty="0"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 (</a:t>
            </a:r>
            <a:r>
              <a:rPr lang="ru-RU" sz="24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enum</a:t>
            </a:r>
            <a:r>
              <a:rPr lang="ru-RU" sz="2400" dirty="0"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) у мовах </a:t>
            </a:r>
            <a:r>
              <a:rPr lang="ru-RU" sz="24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програмування</a:t>
            </a:r>
            <a:r>
              <a:rPr lang="ru-RU" sz="2400" dirty="0"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 C та C++, а також </a:t>
            </a:r>
            <a:r>
              <a:rPr lang="ru-RU" sz="24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порівняння</a:t>
            </a:r>
            <a:r>
              <a:rPr lang="ru-RU" sz="2400" dirty="0"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 </a:t>
            </a:r>
            <a:r>
              <a:rPr lang="ru-RU" sz="24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їх</a:t>
            </a:r>
            <a:r>
              <a:rPr lang="ru-RU" sz="2400" dirty="0"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 </a:t>
            </a:r>
            <a:r>
              <a:rPr lang="ru-RU" sz="24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можливостей</a:t>
            </a:r>
            <a:r>
              <a:rPr lang="ru-RU" sz="2400" dirty="0"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 та </a:t>
            </a:r>
            <a:r>
              <a:rPr lang="ru-RU" sz="24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продуктивності</a:t>
            </a:r>
            <a:r>
              <a:rPr lang="ru-RU" sz="2400" dirty="0"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.</a:t>
            </a:r>
            <a:endParaRPr lang="ru-RU" sz="2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2407622-5617-F184-F641-668D1E4BFA0A}"/>
              </a:ext>
            </a:extLst>
          </p:cNvPr>
          <p:cNvSpPr txBox="1"/>
          <p:nvPr/>
        </p:nvSpPr>
        <p:spPr>
          <a:xfrm>
            <a:off x="377637" y="2089103"/>
            <a:ext cx="2725271" cy="23416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lnSpc>
                <a:spcPct val="115000"/>
              </a:lnSpc>
              <a:spcAft>
                <a:spcPts val="800"/>
              </a:spcAft>
              <a:tabLst>
                <a:tab pos="457200" algn="l"/>
              </a:tabLst>
            </a:pPr>
            <a:r>
              <a:rPr lang="ru-RU" sz="16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Ознайомитися</a:t>
            </a:r>
            <a:r>
              <a:rPr lang="ru-RU" sz="16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з синтаксисом і принципами </a:t>
            </a:r>
            <a:r>
              <a:rPr lang="ru-RU" sz="16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роботи</a:t>
            </a:r>
            <a:r>
              <a:rPr lang="ru-RU" sz="16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ru-RU" sz="16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перерахувань</a:t>
            </a:r>
            <a:r>
              <a:rPr lang="ru-RU" sz="16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у </a:t>
            </a:r>
            <a:r>
              <a:rPr lang="ru-RU" sz="16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мові</a:t>
            </a:r>
            <a:r>
              <a:rPr lang="ru-RU" sz="16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C, </a:t>
            </a:r>
            <a:r>
              <a:rPr lang="ru-RU" sz="16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їх</a:t>
            </a:r>
            <a:r>
              <a:rPr lang="ru-RU" sz="16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ru-RU" sz="16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використанням</a:t>
            </a:r>
            <a:r>
              <a:rPr lang="ru-RU" sz="16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для </a:t>
            </a:r>
            <a:r>
              <a:rPr lang="ru-RU" sz="16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створення</a:t>
            </a:r>
            <a:r>
              <a:rPr lang="ru-RU" sz="16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ru-RU" sz="16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наборів</a:t>
            </a:r>
            <a:r>
              <a:rPr lang="ru-RU" sz="16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ru-RU" sz="16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цілочислових</a:t>
            </a:r>
            <a:r>
              <a:rPr lang="ru-RU" sz="16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констант та </a:t>
            </a:r>
            <a:r>
              <a:rPr lang="ru-RU" sz="16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організацією</a:t>
            </a:r>
            <a:r>
              <a:rPr lang="ru-RU" sz="16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ru-RU" sz="16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базових</a:t>
            </a:r>
            <a:r>
              <a:rPr lang="ru-RU" sz="16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ru-RU" sz="16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операцій</a:t>
            </a:r>
            <a:r>
              <a:rPr lang="ru-RU" sz="16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вводу-</a:t>
            </a:r>
            <a:r>
              <a:rPr lang="ru-RU" sz="16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виводу</a:t>
            </a:r>
            <a:r>
              <a:rPr lang="ru-RU" sz="16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.</a:t>
            </a:r>
            <a:endParaRPr lang="ru-RU" sz="16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2D13578-0867-1DF5-B16E-5C870AE55761}"/>
              </a:ext>
            </a:extLst>
          </p:cNvPr>
          <p:cNvSpPr txBox="1"/>
          <p:nvPr/>
        </p:nvSpPr>
        <p:spPr>
          <a:xfrm>
            <a:off x="6265206" y="2089103"/>
            <a:ext cx="2940423" cy="2058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lnSpc>
                <a:spcPct val="115000"/>
              </a:lnSpc>
              <a:spcAft>
                <a:spcPts val="800"/>
              </a:spcAft>
              <a:tabLst>
                <a:tab pos="457200" algn="l"/>
              </a:tabLst>
            </a:pPr>
            <a:r>
              <a:rPr lang="ru-RU" sz="16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Реалізувати</a:t>
            </a:r>
            <a:r>
              <a:rPr lang="ru-RU" sz="16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за </a:t>
            </a:r>
            <a:r>
              <a:rPr lang="ru-RU" sz="16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допомогою</a:t>
            </a:r>
            <a:r>
              <a:rPr lang="ru-RU" sz="16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ru-RU" sz="16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перерахувань</a:t>
            </a:r>
            <a:r>
              <a:rPr lang="ru-RU" sz="16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ru-RU" sz="16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ввід</a:t>
            </a:r>
            <a:r>
              <a:rPr lang="ru-RU" sz="16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/</a:t>
            </a:r>
            <a:r>
              <a:rPr lang="ru-RU" sz="16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вивід</a:t>
            </a:r>
            <a:r>
              <a:rPr lang="ru-RU" sz="16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для таких </a:t>
            </a:r>
            <a:r>
              <a:rPr lang="ru-RU" sz="16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сутностей</a:t>
            </a:r>
            <a:r>
              <a:rPr lang="ru-RU" sz="16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:</a:t>
            </a:r>
            <a:br>
              <a:rPr lang="ru-RU" sz="16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</a:br>
            <a:r>
              <a:rPr lang="ru-RU" sz="16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– </a:t>
            </a:r>
            <a:r>
              <a:rPr lang="ru-RU" sz="16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дні</a:t>
            </a:r>
            <a:r>
              <a:rPr lang="ru-RU" sz="16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ru-RU" sz="16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тижня</a:t>
            </a:r>
            <a:r>
              <a:rPr lang="ru-RU" sz="16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;</a:t>
            </a:r>
            <a:br>
              <a:rPr lang="ru-RU" sz="16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</a:br>
            <a:r>
              <a:rPr lang="ru-RU" sz="16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– </a:t>
            </a:r>
            <a:r>
              <a:rPr lang="ru-RU" sz="16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місяці</a:t>
            </a:r>
            <a:r>
              <a:rPr lang="ru-RU" sz="16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року;</a:t>
            </a:r>
            <a:br>
              <a:rPr lang="ru-RU" sz="16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</a:br>
            <a:r>
              <a:rPr lang="ru-RU" sz="16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– </a:t>
            </a:r>
            <a:r>
              <a:rPr lang="ru-RU" sz="16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кольори</a:t>
            </a:r>
            <a:r>
              <a:rPr lang="ru-RU" sz="16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спектра;</a:t>
            </a:r>
            <a:br>
              <a:rPr lang="ru-RU" sz="16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</a:br>
            <a:r>
              <a:rPr lang="ru-RU" sz="16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– </a:t>
            </a:r>
            <a:r>
              <a:rPr lang="ru-RU" sz="16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шахові</a:t>
            </a:r>
            <a:r>
              <a:rPr lang="ru-RU" sz="16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ru-RU" sz="16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фігури</a:t>
            </a:r>
            <a:r>
              <a:rPr lang="ru-RU" sz="16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.</a:t>
            </a:r>
            <a:endParaRPr lang="ru-RU" sz="16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31068FF-797B-C91D-099C-624156329F4E}"/>
              </a:ext>
            </a:extLst>
          </p:cNvPr>
          <p:cNvSpPr txBox="1"/>
          <p:nvPr/>
        </p:nvSpPr>
        <p:spPr>
          <a:xfrm>
            <a:off x="9205629" y="2073239"/>
            <a:ext cx="2290482" cy="23416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lnSpc>
                <a:spcPct val="115000"/>
              </a:lnSpc>
              <a:spcAft>
                <a:spcPts val="800"/>
              </a:spcAft>
              <a:tabLst>
                <a:tab pos="457200" algn="l"/>
              </a:tabLst>
            </a:pPr>
            <a:r>
              <a:rPr lang="ru-RU" sz="16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Створити</a:t>
            </a:r>
            <a:r>
              <a:rPr lang="ru-RU" sz="16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структуру Card та </a:t>
            </a:r>
            <a:r>
              <a:rPr lang="ru-RU" sz="16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перерахування</a:t>
            </a:r>
            <a:r>
              <a:rPr lang="ru-RU" sz="16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мастей і </a:t>
            </a:r>
            <a:r>
              <a:rPr lang="ru-RU" sz="16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рангів</a:t>
            </a:r>
            <a:r>
              <a:rPr lang="ru-RU" sz="16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, а також </a:t>
            </a:r>
            <a:r>
              <a:rPr lang="ru-RU" sz="16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реалізувати</a:t>
            </a:r>
            <a:r>
              <a:rPr lang="ru-RU" sz="16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ru-RU" sz="16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логічну</a:t>
            </a:r>
            <a:r>
              <a:rPr lang="ru-RU" sz="16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ru-RU" sz="16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функцію</a:t>
            </a:r>
            <a:r>
              <a:rPr lang="ru-RU" sz="16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ru-RU" sz="16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визначення</a:t>
            </a:r>
            <a:r>
              <a:rPr lang="ru-RU" sz="16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“</a:t>
            </a:r>
            <a:r>
              <a:rPr lang="ru-RU" sz="16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биття</a:t>
            </a:r>
            <a:r>
              <a:rPr lang="ru-RU" sz="16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” </a:t>
            </a:r>
            <a:r>
              <a:rPr lang="ru-RU" sz="16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карти</a:t>
            </a:r>
            <a:r>
              <a:rPr lang="ru-RU" sz="16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з </a:t>
            </a:r>
            <a:r>
              <a:rPr lang="ru-RU" sz="16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урахуванням</a:t>
            </a:r>
            <a:r>
              <a:rPr lang="ru-RU" sz="16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ru-RU" sz="16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козирної</a:t>
            </a:r>
            <a:r>
              <a:rPr lang="ru-RU" sz="16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ru-RU" sz="16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масті</a:t>
            </a:r>
            <a:r>
              <a:rPr lang="ru-RU" sz="16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.</a:t>
            </a:r>
            <a:endParaRPr lang="ru-RU" sz="16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CF7B744-565E-43B5-01F7-4C4FD4FB4BBF}"/>
              </a:ext>
            </a:extLst>
          </p:cNvPr>
          <p:cNvSpPr txBox="1"/>
          <p:nvPr/>
        </p:nvSpPr>
        <p:spPr>
          <a:xfrm>
            <a:off x="425821" y="4496199"/>
            <a:ext cx="2102225" cy="17753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lnSpc>
                <a:spcPct val="115000"/>
              </a:lnSpc>
              <a:spcAft>
                <a:spcPts val="800"/>
              </a:spcAft>
              <a:tabLst>
                <a:tab pos="457200" algn="l"/>
              </a:tabLst>
            </a:pPr>
            <a:r>
              <a:rPr lang="ru-RU" sz="16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Створити</a:t>
            </a:r>
            <a:r>
              <a:rPr lang="ru-RU" sz="16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ru-RU" sz="16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перелік</a:t>
            </a:r>
            <a:r>
              <a:rPr lang="ru-RU" sz="16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ru-RU" sz="16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одиниць</a:t>
            </a:r>
            <a:r>
              <a:rPr lang="ru-RU" sz="16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ru-RU" sz="16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довжини</a:t>
            </a:r>
            <a:r>
              <a:rPr lang="ru-RU" sz="16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та </a:t>
            </a:r>
            <a:r>
              <a:rPr lang="ru-RU" sz="16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функцію</a:t>
            </a:r>
            <a:r>
              <a:rPr lang="ru-RU" sz="16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ru-RU" sz="16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перерахунку</a:t>
            </a:r>
            <a:r>
              <a:rPr lang="ru-RU" sz="16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в </a:t>
            </a:r>
            <a:r>
              <a:rPr lang="ru-RU" sz="16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метри</a:t>
            </a:r>
            <a:r>
              <a:rPr lang="ru-RU" sz="16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, </a:t>
            </a:r>
            <a:r>
              <a:rPr lang="ru-RU" sz="16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використовуючи</a:t>
            </a:r>
            <a:r>
              <a:rPr lang="ru-RU" sz="16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типи </a:t>
            </a:r>
            <a:r>
              <a:rPr lang="ru-RU" sz="16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enum</a:t>
            </a:r>
            <a:r>
              <a:rPr lang="ru-RU" sz="16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/ </a:t>
            </a:r>
            <a:r>
              <a:rPr lang="ru-RU" sz="16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enum</a:t>
            </a:r>
            <a:r>
              <a:rPr lang="ru-RU" sz="16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ru-RU" sz="16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class</a:t>
            </a:r>
            <a:r>
              <a:rPr lang="ru-RU" sz="16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.</a:t>
            </a:r>
            <a:endParaRPr lang="ru-RU" sz="16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1C38D98-E169-97DF-E3CE-E63DCF0E43D6}"/>
              </a:ext>
            </a:extLst>
          </p:cNvPr>
          <p:cNvSpPr txBox="1"/>
          <p:nvPr/>
        </p:nvSpPr>
        <p:spPr>
          <a:xfrm>
            <a:off x="2469774" y="4565713"/>
            <a:ext cx="2102225" cy="2058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lnSpc>
                <a:spcPct val="115000"/>
              </a:lnSpc>
              <a:spcAft>
                <a:spcPts val="800"/>
              </a:spcAft>
              <a:tabLst>
                <a:tab pos="457200" algn="l"/>
              </a:tabLst>
            </a:pPr>
            <a:r>
              <a:rPr lang="ru-RU" sz="16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Реалізувати</a:t>
            </a:r>
            <a:r>
              <a:rPr lang="ru-RU" sz="16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ru-RU" sz="16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відмінювання</a:t>
            </a:r>
            <a:r>
              <a:rPr lang="ru-RU" sz="16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ru-RU" sz="16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українських</a:t>
            </a:r>
            <a:r>
              <a:rPr lang="ru-RU" sz="16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ru-RU" sz="16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слів</a:t>
            </a:r>
            <a:r>
              <a:rPr lang="ru-RU" sz="16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ru-RU" sz="16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відповідно</a:t>
            </a:r>
            <a:r>
              <a:rPr lang="ru-RU" sz="16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до </a:t>
            </a:r>
            <a:r>
              <a:rPr lang="ru-RU" sz="16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значення</a:t>
            </a:r>
            <a:r>
              <a:rPr lang="ru-RU" sz="16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ru-RU" sz="16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перерахування</a:t>
            </a:r>
            <a:r>
              <a:rPr lang="ru-RU" sz="16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“</a:t>
            </a:r>
            <a:r>
              <a:rPr lang="ru-RU" sz="16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Відмінок</a:t>
            </a:r>
            <a:r>
              <a:rPr lang="ru-RU" sz="16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”.</a:t>
            </a:r>
            <a:endParaRPr lang="ru-RU" sz="16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5930551-1BBC-F922-38F8-F8B0C52CCCD2}"/>
              </a:ext>
            </a:extLst>
          </p:cNvPr>
          <p:cNvSpPr txBox="1"/>
          <p:nvPr/>
        </p:nvSpPr>
        <p:spPr>
          <a:xfrm>
            <a:off x="6196858" y="4565713"/>
            <a:ext cx="1875866" cy="17753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lnSpc>
                <a:spcPct val="115000"/>
              </a:lnSpc>
              <a:spcAft>
                <a:spcPts val="800"/>
              </a:spcAft>
              <a:tabLst>
                <a:tab pos="457200" algn="l"/>
              </a:tabLst>
            </a:pPr>
            <a:r>
              <a:rPr lang="ru-RU" sz="16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Використати</a:t>
            </a:r>
            <a:r>
              <a:rPr lang="ru-RU" sz="16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ru-RU" sz="16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перерахування</a:t>
            </a:r>
            <a:r>
              <a:rPr lang="ru-RU" sz="16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ru-RU" sz="16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голосних</a:t>
            </a:r>
            <a:r>
              <a:rPr lang="ru-RU" sz="16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для </a:t>
            </a:r>
            <a:r>
              <a:rPr lang="ru-RU" sz="16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визначення</a:t>
            </a:r>
            <a:r>
              <a:rPr lang="ru-RU" sz="16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ru-RU" sz="16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кількості</a:t>
            </a:r>
            <a:r>
              <a:rPr lang="ru-RU" sz="16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ru-RU" sz="16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складів</a:t>
            </a:r>
            <a:r>
              <a:rPr lang="ru-RU" sz="16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у </a:t>
            </a:r>
            <a:r>
              <a:rPr lang="ru-RU" sz="16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фразі</a:t>
            </a:r>
            <a:r>
              <a:rPr lang="ru-RU" sz="16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.</a:t>
            </a:r>
            <a:endParaRPr lang="ru-RU" sz="16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847D548C-29F8-5D3C-2383-CCA677121BC9}"/>
              </a:ext>
            </a:extLst>
          </p:cNvPr>
          <p:cNvSpPr txBox="1"/>
          <p:nvPr/>
        </p:nvSpPr>
        <p:spPr>
          <a:xfrm>
            <a:off x="8231855" y="4565713"/>
            <a:ext cx="2624404" cy="17753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lnSpc>
                <a:spcPct val="115000"/>
              </a:lnSpc>
              <a:spcAft>
                <a:spcPts val="800"/>
              </a:spcAft>
              <a:tabLst>
                <a:tab pos="457200" algn="l"/>
              </a:tabLst>
            </a:pPr>
            <a:r>
              <a:rPr lang="ru-RU" sz="16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Створити</a:t>
            </a:r>
            <a:r>
              <a:rPr lang="ru-RU" sz="16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ru-RU" sz="16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перерахування</a:t>
            </a:r>
            <a:r>
              <a:rPr lang="ru-RU" sz="16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команд руху корабля та початкового курсу, </a:t>
            </a:r>
            <a:r>
              <a:rPr lang="ru-RU" sz="16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визначити</a:t>
            </a:r>
            <a:r>
              <a:rPr lang="ru-RU" sz="16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ru-RU" sz="16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кінцевий</a:t>
            </a:r>
            <a:r>
              <a:rPr lang="ru-RU" sz="16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ru-RU" sz="16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напрямок</a:t>
            </a:r>
            <a:r>
              <a:rPr lang="ru-RU" sz="16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та </a:t>
            </a:r>
            <a:r>
              <a:rPr lang="ru-RU" sz="16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абсолютне</a:t>
            </a:r>
            <a:r>
              <a:rPr lang="ru-RU" sz="16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ru-RU" sz="16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зміщення</a:t>
            </a:r>
            <a:r>
              <a:rPr lang="ru-RU" sz="16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корабля.</a:t>
            </a:r>
            <a:endParaRPr lang="ru-RU" sz="16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8CD58F1A-BA67-D695-4231-AC537519BC3B}"/>
              </a:ext>
            </a:extLst>
          </p:cNvPr>
          <p:cNvSpPr txBox="1"/>
          <p:nvPr/>
        </p:nvSpPr>
        <p:spPr>
          <a:xfrm>
            <a:off x="4094633" y="4565713"/>
            <a:ext cx="2001367" cy="2058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lnSpc>
                <a:spcPct val="115000"/>
              </a:lnSpc>
              <a:spcAft>
                <a:spcPts val="800"/>
              </a:spcAft>
              <a:tabLst>
                <a:tab pos="457200" algn="l"/>
              </a:tabLst>
            </a:pPr>
            <a:r>
              <a:rPr lang="ru-RU" sz="16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Порівняти</a:t>
            </a:r>
            <a:r>
              <a:rPr lang="ru-RU" sz="16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ru-RU" sz="16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реалізації</a:t>
            </a:r>
            <a:r>
              <a:rPr lang="ru-RU" sz="16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на </a:t>
            </a:r>
            <a:r>
              <a:rPr lang="ru-RU" sz="16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основі</a:t>
            </a:r>
            <a:r>
              <a:rPr lang="ru-RU" sz="16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ru-RU" sz="16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enum</a:t>
            </a:r>
            <a:r>
              <a:rPr lang="ru-RU" sz="16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(C) та </a:t>
            </a:r>
            <a:r>
              <a:rPr lang="ru-RU" sz="16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enum</a:t>
            </a:r>
            <a:r>
              <a:rPr lang="ru-RU" sz="16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ru-RU" sz="16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class</a:t>
            </a:r>
            <a:r>
              <a:rPr lang="ru-RU" sz="16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(C++) за </a:t>
            </a:r>
            <a:r>
              <a:rPr lang="ru-RU" sz="16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безпечністю</a:t>
            </a:r>
            <a:r>
              <a:rPr lang="ru-RU" sz="16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, </a:t>
            </a:r>
            <a:r>
              <a:rPr lang="ru-RU" sz="16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зручністю</a:t>
            </a:r>
            <a:r>
              <a:rPr lang="ru-RU" sz="16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ru-RU" sz="16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використання</a:t>
            </a:r>
            <a:r>
              <a:rPr lang="ru-RU" sz="16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та </a:t>
            </a:r>
            <a:r>
              <a:rPr lang="ru-RU" sz="16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швидкодією</a:t>
            </a:r>
            <a:r>
              <a:rPr lang="ru-RU" sz="16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.</a:t>
            </a:r>
            <a:endParaRPr lang="ru-RU" sz="16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1030" name="Picture 6">
            <a:extLst>
              <a:ext uri="{FF2B5EF4-FFF2-40B4-BE49-F238E27FC236}">
                <a16:creationId xmlns:a16="http://schemas.microsoft.com/office/drawing/2014/main" id="{0F6C0F07-A0F4-AA5C-2644-B0AEC7D40B7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267" b="14742"/>
          <a:stretch/>
        </p:blipFill>
        <p:spPr bwMode="auto">
          <a:xfrm>
            <a:off x="0" y="2073239"/>
            <a:ext cx="12191999" cy="52198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A3CE4078-FAF2-37B0-ED78-CC20797F749D}"/>
              </a:ext>
            </a:extLst>
          </p:cNvPr>
          <p:cNvSpPr txBox="1"/>
          <p:nvPr/>
        </p:nvSpPr>
        <p:spPr>
          <a:xfrm>
            <a:off x="3487269" y="2089103"/>
            <a:ext cx="2393576" cy="2341667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lvl="0" algn="ctr">
              <a:lnSpc>
                <a:spcPct val="115000"/>
              </a:lnSpc>
              <a:spcAft>
                <a:spcPts val="800"/>
              </a:spcAft>
              <a:tabLst>
                <a:tab pos="457200" algn="l"/>
              </a:tabLst>
            </a:pPr>
            <a:r>
              <a:rPr lang="ru-RU" sz="16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Дослідити</a:t>
            </a:r>
            <a:r>
              <a:rPr lang="ru-RU" sz="16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ru-RU" sz="16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особливості</a:t>
            </a:r>
            <a:r>
              <a:rPr lang="ru-RU" sz="16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нового типу </a:t>
            </a:r>
            <a:r>
              <a:rPr lang="ru-RU" sz="16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перерахувань</a:t>
            </a:r>
            <a:r>
              <a:rPr lang="ru-RU" sz="16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ru-RU" sz="16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enum</a:t>
            </a:r>
            <a:r>
              <a:rPr lang="ru-RU" sz="16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ru-RU" sz="16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class</a:t>
            </a:r>
            <a:r>
              <a:rPr lang="ru-RU" sz="16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у C++11, </a:t>
            </a:r>
            <a:r>
              <a:rPr lang="ru-RU" sz="16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їх</a:t>
            </a:r>
            <a:r>
              <a:rPr lang="ru-RU" sz="16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ru-RU" sz="16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сильну</a:t>
            </a:r>
            <a:r>
              <a:rPr lang="ru-RU" sz="16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ru-RU" sz="16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типізацію</a:t>
            </a:r>
            <a:r>
              <a:rPr lang="ru-RU" sz="16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, </a:t>
            </a:r>
            <a:r>
              <a:rPr lang="ru-RU" sz="16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безпечність</a:t>
            </a:r>
            <a:r>
              <a:rPr lang="ru-RU" sz="16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та </a:t>
            </a:r>
            <a:r>
              <a:rPr lang="ru-RU" sz="16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переваги</a:t>
            </a:r>
            <a:r>
              <a:rPr lang="ru-RU" sz="16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над </a:t>
            </a:r>
            <a:r>
              <a:rPr lang="ru-RU" sz="16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класичними</a:t>
            </a:r>
            <a:r>
              <a:rPr lang="ru-RU" sz="16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ru-RU" sz="16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перерахуваннями</a:t>
            </a:r>
            <a:r>
              <a:rPr lang="ru-RU" sz="16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С.</a:t>
            </a:r>
            <a:endParaRPr lang="ru-RU" sz="16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30375843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A6BAE96-77E9-AC35-6E7A-68F67BE38D0A}"/>
              </a:ext>
            </a:extLst>
          </p:cNvPr>
          <p:cNvSpPr txBox="1"/>
          <p:nvPr/>
        </p:nvSpPr>
        <p:spPr>
          <a:xfrm>
            <a:off x="1062317" y="310807"/>
            <a:ext cx="9637059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uk-UA" sz="2400" b="1" dirty="0"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Мета</a:t>
            </a:r>
            <a:r>
              <a:rPr lang="ru-RU" sz="2400" b="1" dirty="0"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:</a:t>
            </a:r>
            <a:r>
              <a:rPr lang="ru-RU" sz="2400" b="1" kern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endParaRPr lang="ru-RU" sz="2400" b="1" kern="18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ctr"/>
            <a:r>
              <a:rPr lang="ru-RU" sz="2400" dirty="0"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Метою </a:t>
            </a:r>
            <a:r>
              <a:rPr lang="ru-RU" sz="24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даної</a:t>
            </a:r>
            <a:r>
              <a:rPr lang="ru-RU" sz="2400" dirty="0"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 </a:t>
            </a:r>
            <a:r>
              <a:rPr lang="ru-RU" sz="24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роботи</a:t>
            </a:r>
            <a:r>
              <a:rPr lang="ru-RU" sz="2400" dirty="0"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 є </a:t>
            </a:r>
            <a:r>
              <a:rPr lang="ru-RU" sz="24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вивчення</a:t>
            </a:r>
            <a:r>
              <a:rPr lang="ru-RU" sz="2400" dirty="0"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, </a:t>
            </a:r>
            <a:r>
              <a:rPr lang="ru-RU" sz="24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закріплення</a:t>
            </a:r>
            <a:r>
              <a:rPr lang="ru-RU" sz="2400" dirty="0"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 та </a:t>
            </a:r>
            <a:r>
              <a:rPr lang="ru-RU" sz="24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практичне</a:t>
            </a:r>
            <a:r>
              <a:rPr lang="ru-RU" sz="2400" dirty="0"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 </a:t>
            </a:r>
            <a:r>
              <a:rPr lang="ru-RU" sz="24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застосування</a:t>
            </a:r>
            <a:r>
              <a:rPr lang="ru-RU" sz="2400" dirty="0"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 </a:t>
            </a:r>
            <a:r>
              <a:rPr lang="ru-RU" sz="24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механізму</a:t>
            </a:r>
            <a:r>
              <a:rPr lang="ru-RU" sz="2400" dirty="0"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 </a:t>
            </a:r>
            <a:r>
              <a:rPr lang="ru-RU" sz="24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перерахувань</a:t>
            </a:r>
            <a:r>
              <a:rPr lang="ru-RU" sz="2400" dirty="0"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 (</a:t>
            </a:r>
            <a:r>
              <a:rPr lang="ru-RU" sz="24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enum</a:t>
            </a:r>
            <a:r>
              <a:rPr lang="ru-RU" sz="2400" dirty="0"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) у мовах </a:t>
            </a:r>
            <a:r>
              <a:rPr lang="ru-RU" sz="24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програмування</a:t>
            </a:r>
            <a:r>
              <a:rPr lang="ru-RU" sz="2400" dirty="0"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 C та C++, а також </a:t>
            </a:r>
            <a:r>
              <a:rPr lang="ru-RU" sz="24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порівняння</a:t>
            </a:r>
            <a:r>
              <a:rPr lang="ru-RU" sz="2400" dirty="0"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 </a:t>
            </a:r>
            <a:r>
              <a:rPr lang="ru-RU" sz="24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їх</a:t>
            </a:r>
            <a:r>
              <a:rPr lang="ru-RU" sz="2400" dirty="0"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 </a:t>
            </a:r>
            <a:r>
              <a:rPr lang="ru-RU" sz="24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можливостей</a:t>
            </a:r>
            <a:r>
              <a:rPr lang="ru-RU" sz="2400" dirty="0"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 та </a:t>
            </a:r>
            <a:r>
              <a:rPr lang="ru-RU" sz="24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продуктивності</a:t>
            </a:r>
            <a:r>
              <a:rPr lang="ru-RU" sz="2400" dirty="0"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.</a:t>
            </a:r>
            <a:endParaRPr lang="ru-RU" sz="2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2407622-5617-F184-F641-668D1E4BFA0A}"/>
              </a:ext>
            </a:extLst>
          </p:cNvPr>
          <p:cNvSpPr txBox="1"/>
          <p:nvPr/>
        </p:nvSpPr>
        <p:spPr>
          <a:xfrm>
            <a:off x="377637" y="2089103"/>
            <a:ext cx="2725271" cy="23416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lnSpc>
                <a:spcPct val="115000"/>
              </a:lnSpc>
              <a:spcAft>
                <a:spcPts val="800"/>
              </a:spcAft>
              <a:tabLst>
                <a:tab pos="457200" algn="l"/>
              </a:tabLst>
            </a:pPr>
            <a:r>
              <a:rPr lang="ru-RU" sz="16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Ознайомитися</a:t>
            </a:r>
            <a:r>
              <a:rPr lang="ru-RU" sz="16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з синтаксисом і принципами </a:t>
            </a:r>
            <a:r>
              <a:rPr lang="ru-RU" sz="16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роботи</a:t>
            </a:r>
            <a:r>
              <a:rPr lang="ru-RU" sz="16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ru-RU" sz="16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перерахувань</a:t>
            </a:r>
            <a:r>
              <a:rPr lang="ru-RU" sz="16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у </a:t>
            </a:r>
            <a:r>
              <a:rPr lang="ru-RU" sz="16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мові</a:t>
            </a:r>
            <a:r>
              <a:rPr lang="ru-RU" sz="16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C, </a:t>
            </a:r>
            <a:r>
              <a:rPr lang="ru-RU" sz="16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їх</a:t>
            </a:r>
            <a:r>
              <a:rPr lang="ru-RU" sz="16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ru-RU" sz="16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використанням</a:t>
            </a:r>
            <a:r>
              <a:rPr lang="ru-RU" sz="16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для </a:t>
            </a:r>
            <a:r>
              <a:rPr lang="ru-RU" sz="16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створення</a:t>
            </a:r>
            <a:r>
              <a:rPr lang="ru-RU" sz="16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ru-RU" sz="16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наборів</a:t>
            </a:r>
            <a:r>
              <a:rPr lang="ru-RU" sz="16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ru-RU" sz="16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цілочислових</a:t>
            </a:r>
            <a:r>
              <a:rPr lang="ru-RU" sz="16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констант та </a:t>
            </a:r>
            <a:r>
              <a:rPr lang="ru-RU" sz="16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організацією</a:t>
            </a:r>
            <a:r>
              <a:rPr lang="ru-RU" sz="16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ru-RU" sz="16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базових</a:t>
            </a:r>
            <a:r>
              <a:rPr lang="ru-RU" sz="16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ru-RU" sz="16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операцій</a:t>
            </a:r>
            <a:r>
              <a:rPr lang="ru-RU" sz="16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вводу-</a:t>
            </a:r>
            <a:r>
              <a:rPr lang="ru-RU" sz="16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виводу</a:t>
            </a:r>
            <a:r>
              <a:rPr lang="ru-RU" sz="16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.</a:t>
            </a:r>
            <a:endParaRPr lang="ru-RU" sz="16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3CE4078-FAF2-37B0-ED78-CC20797F749D}"/>
              </a:ext>
            </a:extLst>
          </p:cNvPr>
          <p:cNvSpPr txBox="1"/>
          <p:nvPr/>
        </p:nvSpPr>
        <p:spPr>
          <a:xfrm>
            <a:off x="3487269" y="2089103"/>
            <a:ext cx="2393576" cy="23416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lnSpc>
                <a:spcPct val="115000"/>
              </a:lnSpc>
              <a:spcAft>
                <a:spcPts val="800"/>
              </a:spcAft>
              <a:tabLst>
                <a:tab pos="457200" algn="l"/>
              </a:tabLst>
            </a:pPr>
            <a:r>
              <a:rPr lang="ru-RU" sz="16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Дослідити</a:t>
            </a:r>
            <a:r>
              <a:rPr lang="ru-RU" sz="16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ru-RU" sz="16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особливості</a:t>
            </a:r>
            <a:r>
              <a:rPr lang="ru-RU" sz="16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нового типу </a:t>
            </a:r>
            <a:r>
              <a:rPr lang="ru-RU" sz="16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перерахувань</a:t>
            </a:r>
            <a:r>
              <a:rPr lang="ru-RU" sz="16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ru-RU" sz="16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enum</a:t>
            </a:r>
            <a:r>
              <a:rPr lang="ru-RU" sz="16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ru-RU" sz="16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class</a:t>
            </a:r>
            <a:r>
              <a:rPr lang="ru-RU" sz="16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у C++11, </a:t>
            </a:r>
            <a:r>
              <a:rPr lang="ru-RU" sz="16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їх</a:t>
            </a:r>
            <a:r>
              <a:rPr lang="ru-RU" sz="16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ru-RU" sz="16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сильну</a:t>
            </a:r>
            <a:r>
              <a:rPr lang="ru-RU" sz="16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ru-RU" sz="16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типізацію</a:t>
            </a:r>
            <a:r>
              <a:rPr lang="ru-RU" sz="16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, </a:t>
            </a:r>
            <a:r>
              <a:rPr lang="ru-RU" sz="16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безпечність</a:t>
            </a:r>
            <a:r>
              <a:rPr lang="ru-RU" sz="16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та </a:t>
            </a:r>
            <a:r>
              <a:rPr lang="ru-RU" sz="16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переваги</a:t>
            </a:r>
            <a:r>
              <a:rPr lang="ru-RU" sz="16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над </a:t>
            </a:r>
            <a:r>
              <a:rPr lang="ru-RU" sz="16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класичними</a:t>
            </a:r>
            <a:r>
              <a:rPr lang="ru-RU" sz="16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ru-RU" sz="16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перерахуваннями</a:t>
            </a:r>
            <a:r>
              <a:rPr lang="ru-RU" sz="16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С.</a:t>
            </a:r>
            <a:endParaRPr lang="ru-RU" sz="16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31068FF-797B-C91D-099C-624156329F4E}"/>
              </a:ext>
            </a:extLst>
          </p:cNvPr>
          <p:cNvSpPr txBox="1"/>
          <p:nvPr/>
        </p:nvSpPr>
        <p:spPr>
          <a:xfrm>
            <a:off x="9205629" y="2073239"/>
            <a:ext cx="2290482" cy="23416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lnSpc>
                <a:spcPct val="115000"/>
              </a:lnSpc>
              <a:spcAft>
                <a:spcPts val="800"/>
              </a:spcAft>
              <a:tabLst>
                <a:tab pos="457200" algn="l"/>
              </a:tabLst>
            </a:pPr>
            <a:r>
              <a:rPr lang="ru-RU" sz="16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Створити</a:t>
            </a:r>
            <a:r>
              <a:rPr lang="ru-RU" sz="16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структуру Card та </a:t>
            </a:r>
            <a:r>
              <a:rPr lang="ru-RU" sz="16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перерахування</a:t>
            </a:r>
            <a:r>
              <a:rPr lang="ru-RU" sz="16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мастей і </a:t>
            </a:r>
            <a:r>
              <a:rPr lang="ru-RU" sz="16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рангів</a:t>
            </a:r>
            <a:r>
              <a:rPr lang="ru-RU" sz="16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, а також </a:t>
            </a:r>
            <a:r>
              <a:rPr lang="ru-RU" sz="16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реалізувати</a:t>
            </a:r>
            <a:r>
              <a:rPr lang="ru-RU" sz="16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ru-RU" sz="16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логічну</a:t>
            </a:r>
            <a:r>
              <a:rPr lang="ru-RU" sz="16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ru-RU" sz="16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функцію</a:t>
            </a:r>
            <a:r>
              <a:rPr lang="ru-RU" sz="16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ru-RU" sz="16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визначення</a:t>
            </a:r>
            <a:r>
              <a:rPr lang="ru-RU" sz="16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“</a:t>
            </a:r>
            <a:r>
              <a:rPr lang="ru-RU" sz="16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биття</a:t>
            </a:r>
            <a:r>
              <a:rPr lang="ru-RU" sz="16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” </a:t>
            </a:r>
            <a:r>
              <a:rPr lang="ru-RU" sz="16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карти</a:t>
            </a:r>
            <a:r>
              <a:rPr lang="ru-RU" sz="16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з </a:t>
            </a:r>
            <a:r>
              <a:rPr lang="ru-RU" sz="16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урахуванням</a:t>
            </a:r>
            <a:r>
              <a:rPr lang="ru-RU" sz="16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ru-RU" sz="16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козирної</a:t>
            </a:r>
            <a:r>
              <a:rPr lang="ru-RU" sz="16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ru-RU" sz="16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масті</a:t>
            </a:r>
            <a:r>
              <a:rPr lang="ru-RU" sz="16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.</a:t>
            </a:r>
            <a:endParaRPr lang="ru-RU" sz="16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CF7B744-565E-43B5-01F7-4C4FD4FB4BBF}"/>
              </a:ext>
            </a:extLst>
          </p:cNvPr>
          <p:cNvSpPr txBox="1"/>
          <p:nvPr/>
        </p:nvSpPr>
        <p:spPr>
          <a:xfrm>
            <a:off x="425821" y="4496199"/>
            <a:ext cx="2102225" cy="17753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lnSpc>
                <a:spcPct val="115000"/>
              </a:lnSpc>
              <a:spcAft>
                <a:spcPts val="800"/>
              </a:spcAft>
              <a:tabLst>
                <a:tab pos="457200" algn="l"/>
              </a:tabLst>
            </a:pPr>
            <a:r>
              <a:rPr lang="ru-RU" sz="16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Створити</a:t>
            </a:r>
            <a:r>
              <a:rPr lang="ru-RU" sz="16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ru-RU" sz="16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перелік</a:t>
            </a:r>
            <a:r>
              <a:rPr lang="ru-RU" sz="16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ru-RU" sz="16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одиниць</a:t>
            </a:r>
            <a:r>
              <a:rPr lang="ru-RU" sz="16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ru-RU" sz="16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довжини</a:t>
            </a:r>
            <a:r>
              <a:rPr lang="ru-RU" sz="16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та </a:t>
            </a:r>
            <a:r>
              <a:rPr lang="ru-RU" sz="16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функцію</a:t>
            </a:r>
            <a:r>
              <a:rPr lang="ru-RU" sz="16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ru-RU" sz="16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перерахунку</a:t>
            </a:r>
            <a:r>
              <a:rPr lang="ru-RU" sz="16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в </a:t>
            </a:r>
            <a:r>
              <a:rPr lang="ru-RU" sz="16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метри</a:t>
            </a:r>
            <a:r>
              <a:rPr lang="ru-RU" sz="16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, </a:t>
            </a:r>
            <a:r>
              <a:rPr lang="ru-RU" sz="16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використовуючи</a:t>
            </a:r>
            <a:r>
              <a:rPr lang="ru-RU" sz="16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типи </a:t>
            </a:r>
            <a:r>
              <a:rPr lang="ru-RU" sz="16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enum</a:t>
            </a:r>
            <a:r>
              <a:rPr lang="ru-RU" sz="16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/ </a:t>
            </a:r>
            <a:r>
              <a:rPr lang="ru-RU" sz="16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enum</a:t>
            </a:r>
            <a:r>
              <a:rPr lang="ru-RU" sz="16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ru-RU" sz="16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class</a:t>
            </a:r>
            <a:r>
              <a:rPr lang="ru-RU" sz="16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.</a:t>
            </a:r>
            <a:endParaRPr lang="ru-RU" sz="16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1C38D98-E169-97DF-E3CE-E63DCF0E43D6}"/>
              </a:ext>
            </a:extLst>
          </p:cNvPr>
          <p:cNvSpPr txBox="1"/>
          <p:nvPr/>
        </p:nvSpPr>
        <p:spPr>
          <a:xfrm>
            <a:off x="2469774" y="4565713"/>
            <a:ext cx="2102225" cy="2058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lnSpc>
                <a:spcPct val="115000"/>
              </a:lnSpc>
              <a:spcAft>
                <a:spcPts val="800"/>
              </a:spcAft>
              <a:tabLst>
                <a:tab pos="457200" algn="l"/>
              </a:tabLst>
            </a:pPr>
            <a:r>
              <a:rPr lang="ru-RU" sz="16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Реалізувати</a:t>
            </a:r>
            <a:r>
              <a:rPr lang="ru-RU" sz="16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ru-RU" sz="16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відмінювання</a:t>
            </a:r>
            <a:r>
              <a:rPr lang="ru-RU" sz="16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ru-RU" sz="16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українських</a:t>
            </a:r>
            <a:r>
              <a:rPr lang="ru-RU" sz="16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ru-RU" sz="16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слів</a:t>
            </a:r>
            <a:r>
              <a:rPr lang="ru-RU" sz="16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ru-RU" sz="16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відповідно</a:t>
            </a:r>
            <a:r>
              <a:rPr lang="ru-RU" sz="16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до </a:t>
            </a:r>
            <a:r>
              <a:rPr lang="ru-RU" sz="16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значення</a:t>
            </a:r>
            <a:r>
              <a:rPr lang="ru-RU" sz="16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ru-RU" sz="16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перерахування</a:t>
            </a:r>
            <a:r>
              <a:rPr lang="ru-RU" sz="16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“</a:t>
            </a:r>
            <a:r>
              <a:rPr lang="ru-RU" sz="16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Відмінок</a:t>
            </a:r>
            <a:r>
              <a:rPr lang="ru-RU" sz="16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”.</a:t>
            </a:r>
            <a:endParaRPr lang="ru-RU" sz="16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5930551-1BBC-F922-38F8-F8B0C52CCCD2}"/>
              </a:ext>
            </a:extLst>
          </p:cNvPr>
          <p:cNvSpPr txBox="1"/>
          <p:nvPr/>
        </p:nvSpPr>
        <p:spPr>
          <a:xfrm>
            <a:off x="6196858" y="4565713"/>
            <a:ext cx="1875866" cy="17753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lnSpc>
                <a:spcPct val="115000"/>
              </a:lnSpc>
              <a:spcAft>
                <a:spcPts val="800"/>
              </a:spcAft>
              <a:tabLst>
                <a:tab pos="457200" algn="l"/>
              </a:tabLst>
            </a:pPr>
            <a:r>
              <a:rPr lang="ru-RU" sz="16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Використати</a:t>
            </a:r>
            <a:r>
              <a:rPr lang="ru-RU" sz="16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ru-RU" sz="16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перерахування</a:t>
            </a:r>
            <a:r>
              <a:rPr lang="ru-RU" sz="16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ru-RU" sz="16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голосних</a:t>
            </a:r>
            <a:r>
              <a:rPr lang="ru-RU" sz="16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для </a:t>
            </a:r>
            <a:r>
              <a:rPr lang="ru-RU" sz="16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визначення</a:t>
            </a:r>
            <a:r>
              <a:rPr lang="ru-RU" sz="16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ru-RU" sz="16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кількості</a:t>
            </a:r>
            <a:r>
              <a:rPr lang="ru-RU" sz="16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ru-RU" sz="16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складів</a:t>
            </a:r>
            <a:r>
              <a:rPr lang="ru-RU" sz="16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у </a:t>
            </a:r>
            <a:r>
              <a:rPr lang="ru-RU" sz="16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фразі</a:t>
            </a:r>
            <a:r>
              <a:rPr lang="ru-RU" sz="16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.</a:t>
            </a:r>
            <a:endParaRPr lang="ru-RU" sz="16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847D548C-29F8-5D3C-2383-CCA677121BC9}"/>
              </a:ext>
            </a:extLst>
          </p:cNvPr>
          <p:cNvSpPr txBox="1"/>
          <p:nvPr/>
        </p:nvSpPr>
        <p:spPr>
          <a:xfrm>
            <a:off x="8231855" y="4565713"/>
            <a:ext cx="2624404" cy="17753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lnSpc>
                <a:spcPct val="115000"/>
              </a:lnSpc>
              <a:spcAft>
                <a:spcPts val="800"/>
              </a:spcAft>
              <a:tabLst>
                <a:tab pos="457200" algn="l"/>
              </a:tabLst>
            </a:pPr>
            <a:r>
              <a:rPr lang="ru-RU" sz="16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Створити</a:t>
            </a:r>
            <a:r>
              <a:rPr lang="ru-RU" sz="16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ru-RU" sz="16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перерахування</a:t>
            </a:r>
            <a:r>
              <a:rPr lang="ru-RU" sz="16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команд руху корабля та початкового курсу, </a:t>
            </a:r>
            <a:r>
              <a:rPr lang="ru-RU" sz="16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визначити</a:t>
            </a:r>
            <a:r>
              <a:rPr lang="ru-RU" sz="16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ru-RU" sz="16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кінцевий</a:t>
            </a:r>
            <a:r>
              <a:rPr lang="ru-RU" sz="16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ru-RU" sz="16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напрямок</a:t>
            </a:r>
            <a:r>
              <a:rPr lang="ru-RU" sz="16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та </a:t>
            </a:r>
            <a:r>
              <a:rPr lang="ru-RU" sz="16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абсолютне</a:t>
            </a:r>
            <a:r>
              <a:rPr lang="ru-RU" sz="16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ru-RU" sz="16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зміщення</a:t>
            </a:r>
            <a:r>
              <a:rPr lang="ru-RU" sz="16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корабля.</a:t>
            </a:r>
            <a:endParaRPr lang="ru-RU" sz="16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8CD58F1A-BA67-D695-4231-AC537519BC3B}"/>
              </a:ext>
            </a:extLst>
          </p:cNvPr>
          <p:cNvSpPr txBox="1"/>
          <p:nvPr/>
        </p:nvSpPr>
        <p:spPr>
          <a:xfrm>
            <a:off x="4094633" y="4565713"/>
            <a:ext cx="2001367" cy="2058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lnSpc>
                <a:spcPct val="115000"/>
              </a:lnSpc>
              <a:spcAft>
                <a:spcPts val="800"/>
              </a:spcAft>
              <a:tabLst>
                <a:tab pos="457200" algn="l"/>
              </a:tabLst>
            </a:pPr>
            <a:r>
              <a:rPr lang="ru-RU" sz="16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Порівняти</a:t>
            </a:r>
            <a:r>
              <a:rPr lang="ru-RU" sz="16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ru-RU" sz="16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реалізації</a:t>
            </a:r>
            <a:r>
              <a:rPr lang="ru-RU" sz="16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на </a:t>
            </a:r>
            <a:r>
              <a:rPr lang="ru-RU" sz="16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основі</a:t>
            </a:r>
            <a:r>
              <a:rPr lang="ru-RU" sz="16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ru-RU" sz="16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enum</a:t>
            </a:r>
            <a:r>
              <a:rPr lang="ru-RU" sz="16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(C) та </a:t>
            </a:r>
            <a:r>
              <a:rPr lang="ru-RU" sz="16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enum</a:t>
            </a:r>
            <a:r>
              <a:rPr lang="ru-RU" sz="16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ru-RU" sz="16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class</a:t>
            </a:r>
            <a:r>
              <a:rPr lang="ru-RU" sz="16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(C++) за </a:t>
            </a:r>
            <a:r>
              <a:rPr lang="ru-RU" sz="16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безпечністю</a:t>
            </a:r>
            <a:r>
              <a:rPr lang="ru-RU" sz="16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, </a:t>
            </a:r>
            <a:r>
              <a:rPr lang="ru-RU" sz="16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зручністю</a:t>
            </a:r>
            <a:r>
              <a:rPr lang="ru-RU" sz="16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ru-RU" sz="16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використання</a:t>
            </a:r>
            <a:r>
              <a:rPr lang="ru-RU" sz="16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та </a:t>
            </a:r>
            <a:r>
              <a:rPr lang="ru-RU" sz="16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швидкодією</a:t>
            </a:r>
            <a:r>
              <a:rPr lang="ru-RU" sz="16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.</a:t>
            </a:r>
            <a:endParaRPr lang="ru-RU" sz="16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1030" name="Picture 6">
            <a:extLst>
              <a:ext uri="{FF2B5EF4-FFF2-40B4-BE49-F238E27FC236}">
                <a16:creationId xmlns:a16="http://schemas.microsoft.com/office/drawing/2014/main" id="{0F6C0F07-A0F4-AA5C-2644-B0AEC7D40B7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267" b="14742"/>
          <a:stretch/>
        </p:blipFill>
        <p:spPr bwMode="auto">
          <a:xfrm>
            <a:off x="0" y="2073239"/>
            <a:ext cx="12192000" cy="52198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C2D13578-0867-1DF5-B16E-5C870AE55761}"/>
              </a:ext>
            </a:extLst>
          </p:cNvPr>
          <p:cNvSpPr txBox="1"/>
          <p:nvPr/>
        </p:nvSpPr>
        <p:spPr>
          <a:xfrm>
            <a:off x="6265206" y="2089103"/>
            <a:ext cx="2940423" cy="2058512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lvl="0">
              <a:lnSpc>
                <a:spcPct val="115000"/>
              </a:lnSpc>
              <a:spcAft>
                <a:spcPts val="800"/>
              </a:spcAft>
              <a:tabLst>
                <a:tab pos="457200" algn="l"/>
              </a:tabLst>
            </a:pPr>
            <a:r>
              <a:rPr lang="ru-RU" sz="16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Реалізувати</a:t>
            </a:r>
            <a:r>
              <a:rPr lang="ru-RU" sz="16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за </a:t>
            </a:r>
            <a:r>
              <a:rPr lang="ru-RU" sz="16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допомогою</a:t>
            </a:r>
            <a:r>
              <a:rPr lang="ru-RU" sz="16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ru-RU" sz="16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перерахувань</a:t>
            </a:r>
            <a:r>
              <a:rPr lang="ru-RU" sz="16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ru-RU" sz="16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ввід</a:t>
            </a:r>
            <a:r>
              <a:rPr lang="ru-RU" sz="16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/</a:t>
            </a:r>
            <a:r>
              <a:rPr lang="ru-RU" sz="16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вивід</a:t>
            </a:r>
            <a:r>
              <a:rPr lang="ru-RU" sz="16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для таких </a:t>
            </a:r>
            <a:r>
              <a:rPr lang="ru-RU" sz="16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сутностей</a:t>
            </a:r>
            <a:r>
              <a:rPr lang="ru-RU" sz="16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:</a:t>
            </a:r>
            <a:br>
              <a:rPr lang="ru-RU" sz="16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</a:br>
            <a:r>
              <a:rPr lang="ru-RU" sz="16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– </a:t>
            </a:r>
            <a:r>
              <a:rPr lang="ru-RU" sz="16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дні</a:t>
            </a:r>
            <a:r>
              <a:rPr lang="ru-RU" sz="16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ru-RU" sz="16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тижня</a:t>
            </a:r>
            <a:r>
              <a:rPr lang="ru-RU" sz="16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;</a:t>
            </a:r>
            <a:br>
              <a:rPr lang="ru-RU" sz="16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</a:br>
            <a:r>
              <a:rPr lang="ru-RU" sz="16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– </a:t>
            </a:r>
            <a:r>
              <a:rPr lang="ru-RU" sz="16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місяці</a:t>
            </a:r>
            <a:r>
              <a:rPr lang="ru-RU" sz="16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року;</a:t>
            </a:r>
            <a:br>
              <a:rPr lang="ru-RU" sz="16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</a:br>
            <a:r>
              <a:rPr lang="ru-RU" sz="16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– </a:t>
            </a:r>
            <a:r>
              <a:rPr lang="ru-RU" sz="16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кольори</a:t>
            </a:r>
            <a:r>
              <a:rPr lang="ru-RU" sz="16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спектра;</a:t>
            </a:r>
            <a:br>
              <a:rPr lang="ru-RU" sz="16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</a:br>
            <a:r>
              <a:rPr lang="ru-RU" sz="16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– </a:t>
            </a:r>
            <a:r>
              <a:rPr lang="ru-RU" sz="16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шахові</a:t>
            </a:r>
            <a:r>
              <a:rPr lang="ru-RU" sz="16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ru-RU" sz="16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фігури</a:t>
            </a:r>
            <a:r>
              <a:rPr lang="ru-RU" sz="16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.</a:t>
            </a:r>
            <a:endParaRPr lang="ru-RU" sz="16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54505666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A6BAE96-77E9-AC35-6E7A-68F67BE38D0A}"/>
              </a:ext>
            </a:extLst>
          </p:cNvPr>
          <p:cNvSpPr txBox="1"/>
          <p:nvPr/>
        </p:nvSpPr>
        <p:spPr>
          <a:xfrm>
            <a:off x="1062317" y="310807"/>
            <a:ext cx="9637059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uk-UA" sz="2400" b="1" dirty="0"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Мета</a:t>
            </a:r>
            <a:r>
              <a:rPr lang="ru-RU" sz="2400" b="1" dirty="0"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:</a:t>
            </a:r>
            <a:r>
              <a:rPr lang="ru-RU" sz="2400" b="1" kern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endParaRPr lang="ru-RU" sz="2400" b="1" kern="18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ctr"/>
            <a:r>
              <a:rPr lang="ru-RU" sz="2400" dirty="0"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Метою </a:t>
            </a:r>
            <a:r>
              <a:rPr lang="ru-RU" sz="24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даної</a:t>
            </a:r>
            <a:r>
              <a:rPr lang="ru-RU" sz="2400" dirty="0"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 </a:t>
            </a:r>
            <a:r>
              <a:rPr lang="ru-RU" sz="24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роботи</a:t>
            </a:r>
            <a:r>
              <a:rPr lang="ru-RU" sz="2400" dirty="0"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 є </a:t>
            </a:r>
            <a:r>
              <a:rPr lang="ru-RU" sz="24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вивчення</a:t>
            </a:r>
            <a:r>
              <a:rPr lang="ru-RU" sz="2400" dirty="0"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, </a:t>
            </a:r>
            <a:r>
              <a:rPr lang="ru-RU" sz="24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закріплення</a:t>
            </a:r>
            <a:r>
              <a:rPr lang="ru-RU" sz="2400" dirty="0"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 та </a:t>
            </a:r>
            <a:r>
              <a:rPr lang="ru-RU" sz="24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практичне</a:t>
            </a:r>
            <a:r>
              <a:rPr lang="ru-RU" sz="2400" dirty="0"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 </a:t>
            </a:r>
            <a:r>
              <a:rPr lang="ru-RU" sz="24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застосування</a:t>
            </a:r>
            <a:r>
              <a:rPr lang="ru-RU" sz="2400" dirty="0"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 </a:t>
            </a:r>
            <a:r>
              <a:rPr lang="ru-RU" sz="24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механізму</a:t>
            </a:r>
            <a:r>
              <a:rPr lang="ru-RU" sz="2400" dirty="0"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 </a:t>
            </a:r>
            <a:r>
              <a:rPr lang="ru-RU" sz="24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перерахувань</a:t>
            </a:r>
            <a:r>
              <a:rPr lang="ru-RU" sz="2400" dirty="0"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 (</a:t>
            </a:r>
            <a:r>
              <a:rPr lang="ru-RU" sz="24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enum</a:t>
            </a:r>
            <a:r>
              <a:rPr lang="ru-RU" sz="2400" dirty="0"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) у мовах </a:t>
            </a:r>
            <a:r>
              <a:rPr lang="ru-RU" sz="24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програмування</a:t>
            </a:r>
            <a:r>
              <a:rPr lang="ru-RU" sz="2400" dirty="0"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 C та C++, а також </a:t>
            </a:r>
            <a:r>
              <a:rPr lang="ru-RU" sz="24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порівняння</a:t>
            </a:r>
            <a:r>
              <a:rPr lang="ru-RU" sz="2400" dirty="0"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 </a:t>
            </a:r>
            <a:r>
              <a:rPr lang="ru-RU" sz="24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їх</a:t>
            </a:r>
            <a:r>
              <a:rPr lang="ru-RU" sz="2400" dirty="0"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 </a:t>
            </a:r>
            <a:r>
              <a:rPr lang="ru-RU" sz="24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можливостей</a:t>
            </a:r>
            <a:r>
              <a:rPr lang="ru-RU" sz="2400" dirty="0"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 та </a:t>
            </a:r>
            <a:r>
              <a:rPr lang="ru-RU" sz="24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продуктивності</a:t>
            </a:r>
            <a:r>
              <a:rPr lang="ru-RU" sz="2400" dirty="0"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.</a:t>
            </a:r>
            <a:endParaRPr lang="ru-RU" sz="2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2407622-5617-F184-F641-668D1E4BFA0A}"/>
              </a:ext>
            </a:extLst>
          </p:cNvPr>
          <p:cNvSpPr txBox="1"/>
          <p:nvPr/>
        </p:nvSpPr>
        <p:spPr>
          <a:xfrm>
            <a:off x="377637" y="2089103"/>
            <a:ext cx="2725271" cy="23416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lnSpc>
                <a:spcPct val="115000"/>
              </a:lnSpc>
              <a:spcAft>
                <a:spcPts val="800"/>
              </a:spcAft>
              <a:tabLst>
                <a:tab pos="457200" algn="l"/>
              </a:tabLst>
            </a:pPr>
            <a:r>
              <a:rPr lang="ru-RU" sz="16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Ознайомитися</a:t>
            </a:r>
            <a:r>
              <a:rPr lang="ru-RU" sz="16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з синтаксисом і принципами </a:t>
            </a:r>
            <a:r>
              <a:rPr lang="ru-RU" sz="16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роботи</a:t>
            </a:r>
            <a:r>
              <a:rPr lang="ru-RU" sz="16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ru-RU" sz="16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перерахувань</a:t>
            </a:r>
            <a:r>
              <a:rPr lang="ru-RU" sz="16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у </a:t>
            </a:r>
            <a:r>
              <a:rPr lang="ru-RU" sz="16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мові</a:t>
            </a:r>
            <a:r>
              <a:rPr lang="ru-RU" sz="16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C, </a:t>
            </a:r>
            <a:r>
              <a:rPr lang="ru-RU" sz="16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їх</a:t>
            </a:r>
            <a:r>
              <a:rPr lang="ru-RU" sz="16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ru-RU" sz="16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використанням</a:t>
            </a:r>
            <a:r>
              <a:rPr lang="ru-RU" sz="16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для </a:t>
            </a:r>
            <a:r>
              <a:rPr lang="ru-RU" sz="16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створення</a:t>
            </a:r>
            <a:r>
              <a:rPr lang="ru-RU" sz="16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ru-RU" sz="16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наборів</a:t>
            </a:r>
            <a:r>
              <a:rPr lang="ru-RU" sz="16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ru-RU" sz="16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цілочислових</a:t>
            </a:r>
            <a:r>
              <a:rPr lang="ru-RU" sz="16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констант та </a:t>
            </a:r>
            <a:r>
              <a:rPr lang="ru-RU" sz="16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організацією</a:t>
            </a:r>
            <a:r>
              <a:rPr lang="ru-RU" sz="16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ru-RU" sz="16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базових</a:t>
            </a:r>
            <a:r>
              <a:rPr lang="ru-RU" sz="16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ru-RU" sz="16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операцій</a:t>
            </a:r>
            <a:r>
              <a:rPr lang="ru-RU" sz="16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вводу-</a:t>
            </a:r>
            <a:r>
              <a:rPr lang="ru-RU" sz="16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виводу</a:t>
            </a:r>
            <a:r>
              <a:rPr lang="ru-RU" sz="16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.</a:t>
            </a:r>
            <a:endParaRPr lang="ru-RU" sz="16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3CE4078-FAF2-37B0-ED78-CC20797F749D}"/>
              </a:ext>
            </a:extLst>
          </p:cNvPr>
          <p:cNvSpPr txBox="1"/>
          <p:nvPr/>
        </p:nvSpPr>
        <p:spPr>
          <a:xfrm>
            <a:off x="3487269" y="2089103"/>
            <a:ext cx="2393576" cy="23416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lnSpc>
                <a:spcPct val="115000"/>
              </a:lnSpc>
              <a:spcAft>
                <a:spcPts val="800"/>
              </a:spcAft>
              <a:tabLst>
                <a:tab pos="457200" algn="l"/>
              </a:tabLst>
            </a:pPr>
            <a:r>
              <a:rPr lang="ru-RU" sz="16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Дослідити</a:t>
            </a:r>
            <a:r>
              <a:rPr lang="ru-RU" sz="16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ru-RU" sz="16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особливості</a:t>
            </a:r>
            <a:r>
              <a:rPr lang="ru-RU" sz="16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нового типу </a:t>
            </a:r>
            <a:r>
              <a:rPr lang="ru-RU" sz="16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перерахувань</a:t>
            </a:r>
            <a:r>
              <a:rPr lang="ru-RU" sz="16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ru-RU" sz="16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enum</a:t>
            </a:r>
            <a:r>
              <a:rPr lang="ru-RU" sz="16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ru-RU" sz="16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class</a:t>
            </a:r>
            <a:r>
              <a:rPr lang="ru-RU" sz="16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у C++11, </a:t>
            </a:r>
            <a:r>
              <a:rPr lang="ru-RU" sz="16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їх</a:t>
            </a:r>
            <a:r>
              <a:rPr lang="ru-RU" sz="16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ru-RU" sz="16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сильну</a:t>
            </a:r>
            <a:r>
              <a:rPr lang="ru-RU" sz="16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ru-RU" sz="16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типізацію</a:t>
            </a:r>
            <a:r>
              <a:rPr lang="ru-RU" sz="16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, </a:t>
            </a:r>
            <a:r>
              <a:rPr lang="ru-RU" sz="16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безпечність</a:t>
            </a:r>
            <a:r>
              <a:rPr lang="ru-RU" sz="16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та </a:t>
            </a:r>
            <a:r>
              <a:rPr lang="ru-RU" sz="16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переваги</a:t>
            </a:r>
            <a:r>
              <a:rPr lang="ru-RU" sz="16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над </a:t>
            </a:r>
            <a:r>
              <a:rPr lang="ru-RU" sz="16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класичними</a:t>
            </a:r>
            <a:r>
              <a:rPr lang="ru-RU" sz="16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ru-RU" sz="16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перерахуваннями</a:t>
            </a:r>
            <a:r>
              <a:rPr lang="ru-RU" sz="16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С.</a:t>
            </a:r>
            <a:endParaRPr lang="ru-RU" sz="16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2D13578-0867-1DF5-B16E-5C870AE55761}"/>
              </a:ext>
            </a:extLst>
          </p:cNvPr>
          <p:cNvSpPr txBox="1"/>
          <p:nvPr/>
        </p:nvSpPr>
        <p:spPr>
          <a:xfrm>
            <a:off x="6265206" y="2089103"/>
            <a:ext cx="2940423" cy="2058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lnSpc>
                <a:spcPct val="115000"/>
              </a:lnSpc>
              <a:spcAft>
                <a:spcPts val="800"/>
              </a:spcAft>
              <a:tabLst>
                <a:tab pos="457200" algn="l"/>
              </a:tabLst>
            </a:pPr>
            <a:r>
              <a:rPr lang="ru-RU" sz="16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Реалізувати</a:t>
            </a:r>
            <a:r>
              <a:rPr lang="ru-RU" sz="16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за </a:t>
            </a:r>
            <a:r>
              <a:rPr lang="ru-RU" sz="16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допомогою</a:t>
            </a:r>
            <a:r>
              <a:rPr lang="ru-RU" sz="16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ru-RU" sz="16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перерахувань</a:t>
            </a:r>
            <a:r>
              <a:rPr lang="ru-RU" sz="16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ru-RU" sz="16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ввід</a:t>
            </a:r>
            <a:r>
              <a:rPr lang="ru-RU" sz="16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/</a:t>
            </a:r>
            <a:r>
              <a:rPr lang="ru-RU" sz="16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вивід</a:t>
            </a:r>
            <a:r>
              <a:rPr lang="ru-RU" sz="16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для таких </a:t>
            </a:r>
            <a:r>
              <a:rPr lang="ru-RU" sz="16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сутностей</a:t>
            </a:r>
            <a:r>
              <a:rPr lang="ru-RU" sz="16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:</a:t>
            </a:r>
            <a:br>
              <a:rPr lang="ru-RU" sz="16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</a:br>
            <a:r>
              <a:rPr lang="ru-RU" sz="16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– </a:t>
            </a:r>
            <a:r>
              <a:rPr lang="ru-RU" sz="16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дні</a:t>
            </a:r>
            <a:r>
              <a:rPr lang="ru-RU" sz="16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ru-RU" sz="16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тижня</a:t>
            </a:r>
            <a:r>
              <a:rPr lang="ru-RU" sz="16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;</a:t>
            </a:r>
            <a:br>
              <a:rPr lang="ru-RU" sz="16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</a:br>
            <a:r>
              <a:rPr lang="ru-RU" sz="16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– </a:t>
            </a:r>
            <a:r>
              <a:rPr lang="ru-RU" sz="16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місяці</a:t>
            </a:r>
            <a:r>
              <a:rPr lang="ru-RU" sz="16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року;</a:t>
            </a:r>
            <a:br>
              <a:rPr lang="ru-RU" sz="16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</a:br>
            <a:r>
              <a:rPr lang="ru-RU" sz="16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– </a:t>
            </a:r>
            <a:r>
              <a:rPr lang="ru-RU" sz="16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кольори</a:t>
            </a:r>
            <a:r>
              <a:rPr lang="ru-RU" sz="16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спектра;</a:t>
            </a:r>
            <a:br>
              <a:rPr lang="ru-RU" sz="16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</a:br>
            <a:r>
              <a:rPr lang="ru-RU" sz="16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– </a:t>
            </a:r>
            <a:r>
              <a:rPr lang="ru-RU" sz="16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шахові</a:t>
            </a:r>
            <a:r>
              <a:rPr lang="ru-RU" sz="16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ru-RU" sz="16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фігури</a:t>
            </a:r>
            <a:r>
              <a:rPr lang="ru-RU" sz="16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.</a:t>
            </a:r>
            <a:endParaRPr lang="ru-RU" sz="16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CF7B744-565E-43B5-01F7-4C4FD4FB4BBF}"/>
              </a:ext>
            </a:extLst>
          </p:cNvPr>
          <p:cNvSpPr txBox="1"/>
          <p:nvPr/>
        </p:nvSpPr>
        <p:spPr>
          <a:xfrm>
            <a:off x="425821" y="4496199"/>
            <a:ext cx="2102225" cy="17753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lnSpc>
                <a:spcPct val="115000"/>
              </a:lnSpc>
              <a:spcAft>
                <a:spcPts val="800"/>
              </a:spcAft>
              <a:tabLst>
                <a:tab pos="457200" algn="l"/>
              </a:tabLst>
            </a:pPr>
            <a:r>
              <a:rPr lang="ru-RU" sz="16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Створити</a:t>
            </a:r>
            <a:r>
              <a:rPr lang="ru-RU" sz="16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ru-RU" sz="16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перелік</a:t>
            </a:r>
            <a:r>
              <a:rPr lang="ru-RU" sz="16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ru-RU" sz="16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одиниць</a:t>
            </a:r>
            <a:r>
              <a:rPr lang="ru-RU" sz="16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ru-RU" sz="16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довжини</a:t>
            </a:r>
            <a:r>
              <a:rPr lang="ru-RU" sz="16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та </a:t>
            </a:r>
            <a:r>
              <a:rPr lang="ru-RU" sz="16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функцію</a:t>
            </a:r>
            <a:r>
              <a:rPr lang="ru-RU" sz="16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ru-RU" sz="16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перерахунку</a:t>
            </a:r>
            <a:r>
              <a:rPr lang="ru-RU" sz="16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в </a:t>
            </a:r>
            <a:r>
              <a:rPr lang="ru-RU" sz="16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метри</a:t>
            </a:r>
            <a:r>
              <a:rPr lang="ru-RU" sz="16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, </a:t>
            </a:r>
            <a:r>
              <a:rPr lang="ru-RU" sz="16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використовуючи</a:t>
            </a:r>
            <a:r>
              <a:rPr lang="ru-RU" sz="16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типи </a:t>
            </a:r>
            <a:r>
              <a:rPr lang="ru-RU" sz="16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enum</a:t>
            </a:r>
            <a:r>
              <a:rPr lang="ru-RU" sz="16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/ </a:t>
            </a:r>
            <a:r>
              <a:rPr lang="ru-RU" sz="16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enum</a:t>
            </a:r>
            <a:r>
              <a:rPr lang="ru-RU" sz="16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ru-RU" sz="16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class</a:t>
            </a:r>
            <a:r>
              <a:rPr lang="ru-RU" sz="16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.</a:t>
            </a:r>
            <a:endParaRPr lang="ru-RU" sz="16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1C38D98-E169-97DF-E3CE-E63DCF0E43D6}"/>
              </a:ext>
            </a:extLst>
          </p:cNvPr>
          <p:cNvSpPr txBox="1"/>
          <p:nvPr/>
        </p:nvSpPr>
        <p:spPr>
          <a:xfrm>
            <a:off x="2469774" y="4565713"/>
            <a:ext cx="2102225" cy="2058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lnSpc>
                <a:spcPct val="115000"/>
              </a:lnSpc>
              <a:spcAft>
                <a:spcPts val="800"/>
              </a:spcAft>
              <a:tabLst>
                <a:tab pos="457200" algn="l"/>
              </a:tabLst>
            </a:pPr>
            <a:r>
              <a:rPr lang="ru-RU" sz="16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Реалізувати</a:t>
            </a:r>
            <a:r>
              <a:rPr lang="ru-RU" sz="16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ru-RU" sz="16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відмінювання</a:t>
            </a:r>
            <a:r>
              <a:rPr lang="ru-RU" sz="16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ru-RU" sz="16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українських</a:t>
            </a:r>
            <a:r>
              <a:rPr lang="ru-RU" sz="16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ru-RU" sz="16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слів</a:t>
            </a:r>
            <a:r>
              <a:rPr lang="ru-RU" sz="16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ru-RU" sz="16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відповідно</a:t>
            </a:r>
            <a:r>
              <a:rPr lang="ru-RU" sz="16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до </a:t>
            </a:r>
            <a:r>
              <a:rPr lang="ru-RU" sz="16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значення</a:t>
            </a:r>
            <a:r>
              <a:rPr lang="ru-RU" sz="16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ru-RU" sz="16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перерахування</a:t>
            </a:r>
            <a:r>
              <a:rPr lang="ru-RU" sz="16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“</a:t>
            </a:r>
            <a:r>
              <a:rPr lang="ru-RU" sz="16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Відмінок</a:t>
            </a:r>
            <a:r>
              <a:rPr lang="ru-RU" sz="16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”.</a:t>
            </a:r>
            <a:endParaRPr lang="ru-RU" sz="16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5930551-1BBC-F922-38F8-F8B0C52CCCD2}"/>
              </a:ext>
            </a:extLst>
          </p:cNvPr>
          <p:cNvSpPr txBox="1"/>
          <p:nvPr/>
        </p:nvSpPr>
        <p:spPr>
          <a:xfrm>
            <a:off x="6196858" y="4565713"/>
            <a:ext cx="1875866" cy="17753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lnSpc>
                <a:spcPct val="115000"/>
              </a:lnSpc>
              <a:spcAft>
                <a:spcPts val="800"/>
              </a:spcAft>
              <a:tabLst>
                <a:tab pos="457200" algn="l"/>
              </a:tabLst>
            </a:pPr>
            <a:r>
              <a:rPr lang="ru-RU" sz="16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Використати</a:t>
            </a:r>
            <a:r>
              <a:rPr lang="ru-RU" sz="16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ru-RU" sz="16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перерахування</a:t>
            </a:r>
            <a:r>
              <a:rPr lang="ru-RU" sz="16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ru-RU" sz="16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голосних</a:t>
            </a:r>
            <a:r>
              <a:rPr lang="ru-RU" sz="16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для </a:t>
            </a:r>
            <a:r>
              <a:rPr lang="ru-RU" sz="16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визначення</a:t>
            </a:r>
            <a:r>
              <a:rPr lang="ru-RU" sz="16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ru-RU" sz="16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кількості</a:t>
            </a:r>
            <a:r>
              <a:rPr lang="ru-RU" sz="16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ru-RU" sz="16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складів</a:t>
            </a:r>
            <a:r>
              <a:rPr lang="ru-RU" sz="16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у </a:t>
            </a:r>
            <a:r>
              <a:rPr lang="ru-RU" sz="16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фразі</a:t>
            </a:r>
            <a:r>
              <a:rPr lang="ru-RU" sz="16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.</a:t>
            </a:r>
            <a:endParaRPr lang="ru-RU" sz="16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847D548C-29F8-5D3C-2383-CCA677121BC9}"/>
              </a:ext>
            </a:extLst>
          </p:cNvPr>
          <p:cNvSpPr txBox="1"/>
          <p:nvPr/>
        </p:nvSpPr>
        <p:spPr>
          <a:xfrm>
            <a:off x="8231855" y="4565713"/>
            <a:ext cx="2624404" cy="17753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lnSpc>
                <a:spcPct val="115000"/>
              </a:lnSpc>
              <a:spcAft>
                <a:spcPts val="800"/>
              </a:spcAft>
              <a:tabLst>
                <a:tab pos="457200" algn="l"/>
              </a:tabLst>
            </a:pPr>
            <a:r>
              <a:rPr lang="ru-RU" sz="16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Створити</a:t>
            </a:r>
            <a:r>
              <a:rPr lang="ru-RU" sz="16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ru-RU" sz="16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перерахування</a:t>
            </a:r>
            <a:r>
              <a:rPr lang="ru-RU" sz="16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команд руху корабля та початкового курсу, </a:t>
            </a:r>
            <a:r>
              <a:rPr lang="ru-RU" sz="16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визначити</a:t>
            </a:r>
            <a:r>
              <a:rPr lang="ru-RU" sz="16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ru-RU" sz="16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кінцевий</a:t>
            </a:r>
            <a:r>
              <a:rPr lang="ru-RU" sz="16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ru-RU" sz="16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напрямок</a:t>
            </a:r>
            <a:r>
              <a:rPr lang="ru-RU" sz="16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та </a:t>
            </a:r>
            <a:r>
              <a:rPr lang="ru-RU" sz="16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абсолютне</a:t>
            </a:r>
            <a:r>
              <a:rPr lang="ru-RU" sz="16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ru-RU" sz="16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зміщення</a:t>
            </a:r>
            <a:r>
              <a:rPr lang="ru-RU" sz="16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корабля.</a:t>
            </a:r>
            <a:endParaRPr lang="ru-RU" sz="16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8CD58F1A-BA67-D695-4231-AC537519BC3B}"/>
              </a:ext>
            </a:extLst>
          </p:cNvPr>
          <p:cNvSpPr txBox="1"/>
          <p:nvPr/>
        </p:nvSpPr>
        <p:spPr>
          <a:xfrm>
            <a:off x="4094633" y="4565713"/>
            <a:ext cx="2001367" cy="2058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lnSpc>
                <a:spcPct val="115000"/>
              </a:lnSpc>
              <a:spcAft>
                <a:spcPts val="800"/>
              </a:spcAft>
              <a:tabLst>
                <a:tab pos="457200" algn="l"/>
              </a:tabLst>
            </a:pPr>
            <a:r>
              <a:rPr lang="ru-RU" sz="16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Порівняти</a:t>
            </a:r>
            <a:r>
              <a:rPr lang="ru-RU" sz="16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ru-RU" sz="16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реалізації</a:t>
            </a:r>
            <a:r>
              <a:rPr lang="ru-RU" sz="16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на </a:t>
            </a:r>
            <a:r>
              <a:rPr lang="ru-RU" sz="16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основі</a:t>
            </a:r>
            <a:r>
              <a:rPr lang="ru-RU" sz="16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ru-RU" sz="16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enum</a:t>
            </a:r>
            <a:r>
              <a:rPr lang="ru-RU" sz="16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(C) та </a:t>
            </a:r>
            <a:r>
              <a:rPr lang="ru-RU" sz="16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enum</a:t>
            </a:r>
            <a:r>
              <a:rPr lang="ru-RU" sz="16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ru-RU" sz="16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class</a:t>
            </a:r>
            <a:r>
              <a:rPr lang="ru-RU" sz="16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(C++) за </a:t>
            </a:r>
            <a:r>
              <a:rPr lang="ru-RU" sz="16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безпечністю</a:t>
            </a:r>
            <a:r>
              <a:rPr lang="ru-RU" sz="16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, </a:t>
            </a:r>
            <a:r>
              <a:rPr lang="ru-RU" sz="16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зручністю</a:t>
            </a:r>
            <a:r>
              <a:rPr lang="ru-RU" sz="16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ru-RU" sz="16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використання</a:t>
            </a:r>
            <a:r>
              <a:rPr lang="ru-RU" sz="16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та </a:t>
            </a:r>
            <a:r>
              <a:rPr lang="ru-RU" sz="16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швидкодією</a:t>
            </a:r>
            <a:r>
              <a:rPr lang="ru-RU" sz="16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.</a:t>
            </a:r>
            <a:endParaRPr lang="ru-RU" sz="16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1030" name="Picture 6">
            <a:extLst>
              <a:ext uri="{FF2B5EF4-FFF2-40B4-BE49-F238E27FC236}">
                <a16:creationId xmlns:a16="http://schemas.microsoft.com/office/drawing/2014/main" id="{0F6C0F07-A0F4-AA5C-2644-B0AEC7D40B7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267" b="14742"/>
          <a:stretch/>
        </p:blipFill>
        <p:spPr bwMode="auto">
          <a:xfrm>
            <a:off x="0" y="2073239"/>
            <a:ext cx="12191999" cy="52198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731068FF-797B-C91D-099C-624156329F4E}"/>
              </a:ext>
            </a:extLst>
          </p:cNvPr>
          <p:cNvSpPr txBox="1"/>
          <p:nvPr/>
        </p:nvSpPr>
        <p:spPr>
          <a:xfrm>
            <a:off x="9205629" y="2073239"/>
            <a:ext cx="2290482" cy="2341667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lvl="0">
              <a:lnSpc>
                <a:spcPct val="115000"/>
              </a:lnSpc>
              <a:spcAft>
                <a:spcPts val="800"/>
              </a:spcAft>
              <a:tabLst>
                <a:tab pos="457200" algn="l"/>
              </a:tabLst>
            </a:pPr>
            <a:r>
              <a:rPr lang="ru-RU" sz="16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Створити</a:t>
            </a:r>
            <a:r>
              <a:rPr lang="ru-RU" sz="16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структуру Card та </a:t>
            </a:r>
            <a:r>
              <a:rPr lang="ru-RU" sz="16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перерахування</a:t>
            </a:r>
            <a:r>
              <a:rPr lang="ru-RU" sz="16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мастей і </a:t>
            </a:r>
            <a:r>
              <a:rPr lang="ru-RU" sz="16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рангів</a:t>
            </a:r>
            <a:r>
              <a:rPr lang="ru-RU" sz="16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, а також </a:t>
            </a:r>
            <a:r>
              <a:rPr lang="ru-RU" sz="16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реалізувати</a:t>
            </a:r>
            <a:r>
              <a:rPr lang="ru-RU" sz="16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ru-RU" sz="16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логічну</a:t>
            </a:r>
            <a:r>
              <a:rPr lang="ru-RU" sz="16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ru-RU" sz="16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функцію</a:t>
            </a:r>
            <a:r>
              <a:rPr lang="ru-RU" sz="16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ru-RU" sz="16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визначення</a:t>
            </a:r>
            <a:r>
              <a:rPr lang="ru-RU" sz="16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“</a:t>
            </a:r>
            <a:r>
              <a:rPr lang="ru-RU" sz="16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биття</a:t>
            </a:r>
            <a:r>
              <a:rPr lang="ru-RU" sz="16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” </a:t>
            </a:r>
            <a:r>
              <a:rPr lang="ru-RU" sz="16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карти</a:t>
            </a:r>
            <a:r>
              <a:rPr lang="ru-RU" sz="16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з </a:t>
            </a:r>
            <a:r>
              <a:rPr lang="ru-RU" sz="16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урахуванням</a:t>
            </a:r>
            <a:r>
              <a:rPr lang="ru-RU" sz="16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ru-RU" sz="16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козирної</a:t>
            </a:r>
            <a:r>
              <a:rPr lang="ru-RU" sz="16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ru-RU" sz="16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масті</a:t>
            </a:r>
            <a:r>
              <a:rPr lang="ru-RU" sz="16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.</a:t>
            </a:r>
            <a:endParaRPr lang="ru-RU" sz="16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67929664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A6BAE96-77E9-AC35-6E7A-68F67BE38D0A}"/>
              </a:ext>
            </a:extLst>
          </p:cNvPr>
          <p:cNvSpPr txBox="1"/>
          <p:nvPr/>
        </p:nvSpPr>
        <p:spPr>
          <a:xfrm>
            <a:off x="1062317" y="310807"/>
            <a:ext cx="9637059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uk-UA" sz="2400" b="1" dirty="0"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Мета</a:t>
            </a:r>
            <a:r>
              <a:rPr lang="ru-RU" sz="2400" b="1" dirty="0"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:</a:t>
            </a:r>
            <a:r>
              <a:rPr lang="ru-RU" sz="2400" b="1" kern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endParaRPr lang="ru-RU" sz="2400" b="1" kern="18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ctr"/>
            <a:r>
              <a:rPr lang="ru-RU" sz="2400" dirty="0"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Метою </a:t>
            </a:r>
            <a:r>
              <a:rPr lang="ru-RU" sz="24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даної</a:t>
            </a:r>
            <a:r>
              <a:rPr lang="ru-RU" sz="2400" dirty="0"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 </a:t>
            </a:r>
            <a:r>
              <a:rPr lang="ru-RU" sz="24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роботи</a:t>
            </a:r>
            <a:r>
              <a:rPr lang="ru-RU" sz="2400" dirty="0"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 є </a:t>
            </a:r>
            <a:r>
              <a:rPr lang="ru-RU" sz="24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вивчення</a:t>
            </a:r>
            <a:r>
              <a:rPr lang="ru-RU" sz="2400" dirty="0"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, </a:t>
            </a:r>
            <a:r>
              <a:rPr lang="ru-RU" sz="24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закріплення</a:t>
            </a:r>
            <a:r>
              <a:rPr lang="ru-RU" sz="2400" dirty="0"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 та </a:t>
            </a:r>
            <a:r>
              <a:rPr lang="ru-RU" sz="24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практичне</a:t>
            </a:r>
            <a:r>
              <a:rPr lang="ru-RU" sz="2400" dirty="0"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 </a:t>
            </a:r>
            <a:r>
              <a:rPr lang="ru-RU" sz="24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застосування</a:t>
            </a:r>
            <a:r>
              <a:rPr lang="ru-RU" sz="2400" dirty="0"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 </a:t>
            </a:r>
            <a:r>
              <a:rPr lang="ru-RU" sz="24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механізму</a:t>
            </a:r>
            <a:r>
              <a:rPr lang="ru-RU" sz="2400" dirty="0"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 </a:t>
            </a:r>
            <a:r>
              <a:rPr lang="ru-RU" sz="24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перерахувань</a:t>
            </a:r>
            <a:r>
              <a:rPr lang="ru-RU" sz="2400" dirty="0"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 (</a:t>
            </a:r>
            <a:r>
              <a:rPr lang="ru-RU" sz="24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enum</a:t>
            </a:r>
            <a:r>
              <a:rPr lang="ru-RU" sz="2400" dirty="0"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) у мовах </a:t>
            </a:r>
            <a:r>
              <a:rPr lang="ru-RU" sz="24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програмування</a:t>
            </a:r>
            <a:r>
              <a:rPr lang="ru-RU" sz="2400" dirty="0"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 C та C++, а також </a:t>
            </a:r>
            <a:r>
              <a:rPr lang="ru-RU" sz="24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порівняння</a:t>
            </a:r>
            <a:r>
              <a:rPr lang="ru-RU" sz="2400" dirty="0"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 </a:t>
            </a:r>
            <a:r>
              <a:rPr lang="ru-RU" sz="24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їх</a:t>
            </a:r>
            <a:r>
              <a:rPr lang="ru-RU" sz="2400" dirty="0"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 </a:t>
            </a:r>
            <a:r>
              <a:rPr lang="ru-RU" sz="24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можливостей</a:t>
            </a:r>
            <a:r>
              <a:rPr lang="ru-RU" sz="2400" dirty="0"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 та </a:t>
            </a:r>
            <a:r>
              <a:rPr lang="ru-RU" sz="24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продуктивності</a:t>
            </a:r>
            <a:r>
              <a:rPr lang="ru-RU" sz="2400" dirty="0"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.</a:t>
            </a:r>
            <a:endParaRPr lang="ru-RU" sz="2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2407622-5617-F184-F641-668D1E4BFA0A}"/>
              </a:ext>
            </a:extLst>
          </p:cNvPr>
          <p:cNvSpPr txBox="1"/>
          <p:nvPr/>
        </p:nvSpPr>
        <p:spPr>
          <a:xfrm>
            <a:off x="377637" y="2089103"/>
            <a:ext cx="2725271" cy="23416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lnSpc>
                <a:spcPct val="115000"/>
              </a:lnSpc>
              <a:spcAft>
                <a:spcPts val="800"/>
              </a:spcAft>
              <a:tabLst>
                <a:tab pos="457200" algn="l"/>
              </a:tabLst>
            </a:pPr>
            <a:r>
              <a:rPr lang="ru-RU" sz="16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Ознайомитися</a:t>
            </a:r>
            <a:r>
              <a:rPr lang="ru-RU" sz="16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з синтаксисом і принципами </a:t>
            </a:r>
            <a:r>
              <a:rPr lang="ru-RU" sz="16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роботи</a:t>
            </a:r>
            <a:r>
              <a:rPr lang="ru-RU" sz="16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ru-RU" sz="16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перерахувань</a:t>
            </a:r>
            <a:r>
              <a:rPr lang="ru-RU" sz="16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у </a:t>
            </a:r>
            <a:r>
              <a:rPr lang="ru-RU" sz="16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мові</a:t>
            </a:r>
            <a:r>
              <a:rPr lang="ru-RU" sz="16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C, </a:t>
            </a:r>
            <a:r>
              <a:rPr lang="ru-RU" sz="16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їх</a:t>
            </a:r>
            <a:r>
              <a:rPr lang="ru-RU" sz="16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ru-RU" sz="16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використанням</a:t>
            </a:r>
            <a:r>
              <a:rPr lang="ru-RU" sz="16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для </a:t>
            </a:r>
            <a:r>
              <a:rPr lang="ru-RU" sz="16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створення</a:t>
            </a:r>
            <a:r>
              <a:rPr lang="ru-RU" sz="16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ru-RU" sz="16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наборів</a:t>
            </a:r>
            <a:r>
              <a:rPr lang="ru-RU" sz="16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ru-RU" sz="16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цілочислових</a:t>
            </a:r>
            <a:r>
              <a:rPr lang="ru-RU" sz="16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констант та </a:t>
            </a:r>
            <a:r>
              <a:rPr lang="ru-RU" sz="16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організацією</a:t>
            </a:r>
            <a:r>
              <a:rPr lang="ru-RU" sz="16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ru-RU" sz="16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базових</a:t>
            </a:r>
            <a:r>
              <a:rPr lang="ru-RU" sz="16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ru-RU" sz="16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операцій</a:t>
            </a:r>
            <a:r>
              <a:rPr lang="ru-RU" sz="16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вводу-</a:t>
            </a:r>
            <a:r>
              <a:rPr lang="ru-RU" sz="16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виводу</a:t>
            </a:r>
            <a:r>
              <a:rPr lang="ru-RU" sz="16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.</a:t>
            </a:r>
            <a:endParaRPr lang="ru-RU" sz="16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3CE4078-FAF2-37B0-ED78-CC20797F749D}"/>
              </a:ext>
            </a:extLst>
          </p:cNvPr>
          <p:cNvSpPr txBox="1"/>
          <p:nvPr/>
        </p:nvSpPr>
        <p:spPr>
          <a:xfrm>
            <a:off x="3487269" y="2089103"/>
            <a:ext cx="2393576" cy="23416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lnSpc>
                <a:spcPct val="115000"/>
              </a:lnSpc>
              <a:spcAft>
                <a:spcPts val="800"/>
              </a:spcAft>
              <a:tabLst>
                <a:tab pos="457200" algn="l"/>
              </a:tabLst>
            </a:pPr>
            <a:r>
              <a:rPr lang="ru-RU" sz="16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Дослідити</a:t>
            </a:r>
            <a:r>
              <a:rPr lang="ru-RU" sz="16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ru-RU" sz="16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особливості</a:t>
            </a:r>
            <a:r>
              <a:rPr lang="ru-RU" sz="16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нового типу </a:t>
            </a:r>
            <a:r>
              <a:rPr lang="ru-RU" sz="16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перерахувань</a:t>
            </a:r>
            <a:r>
              <a:rPr lang="ru-RU" sz="16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ru-RU" sz="16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enum</a:t>
            </a:r>
            <a:r>
              <a:rPr lang="ru-RU" sz="16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ru-RU" sz="16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class</a:t>
            </a:r>
            <a:r>
              <a:rPr lang="ru-RU" sz="16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у C++11, </a:t>
            </a:r>
            <a:r>
              <a:rPr lang="ru-RU" sz="16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їх</a:t>
            </a:r>
            <a:r>
              <a:rPr lang="ru-RU" sz="16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ru-RU" sz="16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сильну</a:t>
            </a:r>
            <a:r>
              <a:rPr lang="ru-RU" sz="16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ru-RU" sz="16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типізацію</a:t>
            </a:r>
            <a:r>
              <a:rPr lang="ru-RU" sz="16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, </a:t>
            </a:r>
            <a:r>
              <a:rPr lang="ru-RU" sz="16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безпечність</a:t>
            </a:r>
            <a:r>
              <a:rPr lang="ru-RU" sz="16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та </a:t>
            </a:r>
            <a:r>
              <a:rPr lang="ru-RU" sz="16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переваги</a:t>
            </a:r>
            <a:r>
              <a:rPr lang="ru-RU" sz="16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над </a:t>
            </a:r>
            <a:r>
              <a:rPr lang="ru-RU" sz="16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класичними</a:t>
            </a:r>
            <a:r>
              <a:rPr lang="ru-RU" sz="16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ru-RU" sz="16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перерахуваннями</a:t>
            </a:r>
            <a:r>
              <a:rPr lang="ru-RU" sz="16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С.</a:t>
            </a:r>
            <a:endParaRPr lang="ru-RU" sz="16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2D13578-0867-1DF5-B16E-5C870AE55761}"/>
              </a:ext>
            </a:extLst>
          </p:cNvPr>
          <p:cNvSpPr txBox="1"/>
          <p:nvPr/>
        </p:nvSpPr>
        <p:spPr>
          <a:xfrm>
            <a:off x="6265206" y="2089103"/>
            <a:ext cx="2940423" cy="2058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lnSpc>
                <a:spcPct val="115000"/>
              </a:lnSpc>
              <a:spcAft>
                <a:spcPts val="800"/>
              </a:spcAft>
              <a:tabLst>
                <a:tab pos="457200" algn="l"/>
              </a:tabLst>
            </a:pPr>
            <a:r>
              <a:rPr lang="ru-RU" sz="16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Реалізувати</a:t>
            </a:r>
            <a:r>
              <a:rPr lang="ru-RU" sz="16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за </a:t>
            </a:r>
            <a:r>
              <a:rPr lang="ru-RU" sz="16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допомогою</a:t>
            </a:r>
            <a:r>
              <a:rPr lang="ru-RU" sz="16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ru-RU" sz="16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перерахувань</a:t>
            </a:r>
            <a:r>
              <a:rPr lang="ru-RU" sz="16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ru-RU" sz="16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ввід</a:t>
            </a:r>
            <a:r>
              <a:rPr lang="ru-RU" sz="16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/</a:t>
            </a:r>
            <a:r>
              <a:rPr lang="ru-RU" sz="16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вивід</a:t>
            </a:r>
            <a:r>
              <a:rPr lang="ru-RU" sz="16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для таких </a:t>
            </a:r>
            <a:r>
              <a:rPr lang="ru-RU" sz="16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сутностей</a:t>
            </a:r>
            <a:r>
              <a:rPr lang="ru-RU" sz="16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:</a:t>
            </a:r>
            <a:br>
              <a:rPr lang="ru-RU" sz="16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</a:br>
            <a:r>
              <a:rPr lang="ru-RU" sz="16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– </a:t>
            </a:r>
            <a:r>
              <a:rPr lang="ru-RU" sz="16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дні</a:t>
            </a:r>
            <a:r>
              <a:rPr lang="ru-RU" sz="16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ru-RU" sz="16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тижня</a:t>
            </a:r>
            <a:r>
              <a:rPr lang="ru-RU" sz="16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;</a:t>
            </a:r>
            <a:br>
              <a:rPr lang="ru-RU" sz="16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</a:br>
            <a:r>
              <a:rPr lang="ru-RU" sz="16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– </a:t>
            </a:r>
            <a:r>
              <a:rPr lang="ru-RU" sz="16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місяці</a:t>
            </a:r>
            <a:r>
              <a:rPr lang="ru-RU" sz="16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року;</a:t>
            </a:r>
            <a:br>
              <a:rPr lang="ru-RU" sz="16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</a:br>
            <a:r>
              <a:rPr lang="ru-RU" sz="16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– </a:t>
            </a:r>
            <a:r>
              <a:rPr lang="ru-RU" sz="16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кольори</a:t>
            </a:r>
            <a:r>
              <a:rPr lang="ru-RU" sz="16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спектра;</a:t>
            </a:r>
            <a:br>
              <a:rPr lang="ru-RU" sz="16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</a:br>
            <a:r>
              <a:rPr lang="ru-RU" sz="16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– </a:t>
            </a:r>
            <a:r>
              <a:rPr lang="ru-RU" sz="16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шахові</a:t>
            </a:r>
            <a:r>
              <a:rPr lang="ru-RU" sz="16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ru-RU" sz="16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фігури</a:t>
            </a:r>
            <a:r>
              <a:rPr lang="ru-RU" sz="16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.</a:t>
            </a:r>
            <a:endParaRPr lang="ru-RU" sz="16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31068FF-797B-C91D-099C-624156329F4E}"/>
              </a:ext>
            </a:extLst>
          </p:cNvPr>
          <p:cNvSpPr txBox="1"/>
          <p:nvPr/>
        </p:nvSpPr>
        <p:spPr>
          <a:xfrm>
            <a:off x="9205629" y="2073239"/>
            <a:ext cx="2290482" cy="23416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lnSpc>
                <a:spcPct val="115000"/>
              </a:lnSpc>
              <a:spcAft>
                <a:spcPts val="800"/>
              </a:spcAft>
              <a:tabLst>
                <a:tab pos="457200" algn="l"/>
              </a:tabLst>
            </a:pPr>
            <a:r>
              <a:rPr lang="ru-RU" sz="16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Створити</a:t>
            </a:r>
            <a:r>
              <a:rPr lang="ru-RU" sz="16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структуру Card та </a:t>
            </a:r>
            <a:r>
              <a:rPr lang="ru-RU" sz="16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перерахування</a:t>
            </a:r>
            <a:r>
              <a:rPr lang="ru-RU" sz="16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мастей і </a:t>
            </a:r>
            <a:r>
              <a:rPr lang="ru-RU" sz="16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рангів</a:t>
            </a:r>
            <a:r>
              <a:rPr lang="ru-RU" sz="16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, а також </a:t>
            </a:r>
            <a:r>
              <a:rPr lang="ru-RU" sz="16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реалізувати</a:t>
            </a:r>
            <a:r>
              <a:rPr lang="ru-RU" sz="16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ru-RU" sz="16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логічну</a:t>
            </a:r>
            <a:r>
              <a:rPr lang="ru-RU" sz="16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ru-RU" sz="16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функцію</a:t>
            </a:r>
            <a:r>
              <a:rPr lang="ru-RU" sz="16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ru-RU" sz="16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визначення</a:t>
            </a:r>
            <a:r>
              <a:rPr lang="ru-RU" sz="16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“</a:t>
            </a:r>
            <a:r>
              <a:rPr lang="ru-RU" sz="16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биття</a:t>
            </a:r>
            <a:r>
              <a:rPr lang="ru-RU" sz="16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” </a:t>
            </a:r>
            <a:r>
              <a:rPr lang="ru-RU" sz="16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карти</a:t>
            </a:r>
            <a:r>
              <a:rPr lang="ru-RU" sz="16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з </a:t>
            </a:r>
            <a:r>
              <a:rPr lang="ru-RU" sz="16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урахуванням</a:t>
            </a:r>
            <a:r>
              <a:rPr lang="ru-RU" sz="16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ru-RU" sz="16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козирної</a:t>
            </a:r>
            <a:r>
              <a:rPr lang="ru-RU" sz="16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ru-RU" sz="16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масті</a:t>
            </a:r>
            <a:r>
              <a:rPr lang="ru-RU" sz="16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.</a:t>
            </a:r>
            <a:endParaRPr lang="ru-RU" sz="16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1C38D98-E169-97DF-E3CE-E63DCF0E43D6}"/>
              </a:ext>
            </a:extLst>
          </p:cNvPr>
          <p:cNvSpPr txBox="1"/>
          <p:nvPr/>
        </p:nvSpPr>
        <p:spPr>
          <a:xfrm>
            <a:off x="2469774" y="4565713"/>
            <a:ext cx="2102225" cy="2058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lnSpc>
                <a:spcPct val="115000"/>
              </a:lnSpc>
              <a:spcAft>
                <a:spcPts val="800"/>
              </a:spcAft>
              <a:tabLst>
                <a:tab pos="457200" algn="l"/>
              </a:tabLst>
            </a:pPr>
            <a:r>
              <a:rPr lang="ru-RU" sz="16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Реалізувати</a:t>
            </a:r>
            <a:r>
              <a:rPr lang="ru-RU" sz="16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ru-RU" sz="16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відмінювання</a:t>
            </a:r>
            <a:r>
              <a:rPr lang="ru-RU" sz="16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ru-RU" sz="16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українських</a:t>
            </a:r>
            <a:r>
              <a:rPr lang="ru-RU" sz="16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ru-RU" sz="16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слів</a:t>
            </a:r>
            <a:r>
              <a:rPr lang="ru-RU" sz="16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ru-RU" sz="16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відповідно</a:t>
            </a:r>
            <a:r>
              <a:rPr lang="ru-RU" sz="16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до </a:t>
            </a:r>
            <a:r>
              <a:rPr lang="ru-RU" sz="16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значення</a:t>
            </a:r>
            <a:r>
              <a:rPr lang="ru-RU" sz="16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ru-RU" sz="16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перерахування</a:t>
            </a:r>
            <a:r>
              <a:rPr lang="ru-RU" sz="16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“</a:t>
            </a:r>
            <a:r>
              <a:rPr lang="ru-RU" sz="16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Відмінок</a:t>
            </a:r>
            <a:r>
              <a:rPr lang="ru-RU" sz="16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”.</a:t>
            </a:r>
            <a:endParaRPr lang="ru-RU" sz="16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5930551-1BBC-F922-38F8-F8B0C52CCCD2}"/>
              </a:ext>
            </a:extLst>
          </p:cNvPr>
          <p:cNvSpPr txBox="1"/>
          <p:nvPr/>
        </p:nvSpPr>
        <p:spPr>
          <a:xfrm>
            <a:off x="6196858" y="4565713"/>
            <a:ext cx="1875866" cy="17753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lnSpc>
                <a:spcPct val="115000"/>
              </a:lnSpc>
              <a:spcAft>
                <a:spcPts val="800"/>
              </a:spcAft>
              <a:tabLst>
                <a:tab pos="457200" algn="l"/>
              </a:tabLst>
            </a:pPr>
            <a:r>
              <a:rPr lang="ru-RU" sz="16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Використати</a:t>
            </a:r>
            <a:r>
              <a:rPr lang="ru-RU" sz="16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ru-RU" sz="16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перерахування</a:t>
            </a:r>
            <a:r>
              <a:rPr lang="ru-RU" sz="16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ru-RU" sz="16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голосних</a:t>
            </a:r>
            <a:r>
              <a:rPr lang="ru-RU" sz="16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для </a:t>
            </a:r>
            <a:r>
              <a:rPr lang="ru-RU" sz="16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визначення</a:t>
            </a:r>
            <a:r>
              <a:rPr lang="ru-RU" sz="16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ru-RU" sz="16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кількості</a:t>
            </a:r>
            <a:r>
              <a:rPr lang="ru-RU" sz="16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ru-RU" sz="16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складів</a:t>
            </a:r>
            <a:r>
              <a:rPr lang="ru-RU" sz="16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у </a:t>
            </a:r>
            <a:r>
              <a:rPr lang="ru-RU" sz="16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фразі</a:t>
            </a:r>
            <a:r>
              <a:rPr lang="ru-RU" sz="16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.</a:t>
            </a:r>
            <a:endParaRPr lang="ru-RU" sz="16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847D548C-29F8-5D3C-2383-CCA677121BC9}"/>
              </a:ext>
            </a:extLst>
          </p:cNvPr>
          <p:cNvSpPr txBox="1"/>
          <p:nvPr/>
        </p:nvSpPr>
        <p:spPr>
          <a:xfrm>
            <a:off x="8231855" y="4565713"/>
            <a:ext cx="2624404" cy="17753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lnSpc>
                <a:spcPct val="115000"/>
              </a:lnSpc>
              <a:spcAft>
                <a:spcPts val="800"/>
              </a:spcAft>
              <a:tabLst>
                <a:tab pos="457200" algn="l"/>
              </a:tabLst>
            </a:pPr>
            <a:r>
              <a:rPr lang="ru-RU" sz="16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Створити</a:t>
            </a:r>
            <a:r>
              <a:rPr lang="ru-RU" sz="16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ru-RU" sz="16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перерахування</a:t>
            </a:r>
            <a:r>
              <a:rPr lang="ru-RU" sz="16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команд руху корабля та початкового курсу, </a:t>
            </a:r>
            <a:r>
              <a:rPr lang="ru-RU" sz="16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визначити</a:t>
            </a:r>
            <a:r>
              <a:rPr lang="ru-RU" sz="16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ru-RU" sz="16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кінцевий</a:t>
            </a:r>
            <a:r>
              <a:rPr lang="ru-RU" sz="16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ru-RU" sz="16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напрямок</a:t>
            </a:r>
            <a:r>
              <a:rPr lang="ru-RU" sz="16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та </a:t>
            </a:r>
            <a:r>
              <a:rPr lang="ru-RU" sz="16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абсолютне</a:t>
            </a:r>
            <a:r>
              <a:rPr lang="ru-RU" sz="16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ru-RU" sz="16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зміщення</a:t>
            </a:r>
            <a:r>
              <a:rPr lang="ru-RU" sz="16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корабля.</a:t>
            </a:r>
            <a:endParaRPr lang="ru-RU" sz="16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8CD58F1A-BA67-D695-4231-AC537519BC3B}"/>
              </a:ext>
            </a:extLst>
          </p:cNvPr>
          <p:cNvSpPr txBox="1"/>
          <p:nvPr/>
        </p:nvSpPr>
        <p:spPr>
          <a:xfrm>
            <a:off x="4094633" y="4565713"/>
            <a:ext cx="2001367" cy="2058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lnSpc>
                <a:spcPct val="115000"/>
              </a:lnSpc>
              <a:spcAft>
                <a:spcPts val="800"/>
              </a:spcAft>
              <a:tabLst>
                <a:tab pos="457200" algn="l"/>
              </a:tabLst>
            </a:pPr>
            <a:r>
              <a:rPr lang="ru-RU" sz="16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Порівняти</a:t>
            </a:r>
            <a:r>
              <a:rPr lang="ru-RU" sz="16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ru-RU" sz="16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реалізації</a:t>
            </a:r>
            <a:r>
              <a:rPr lang="ru-RU" sz="16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на </a:t>
            </a:r>
            <a:r>
              <a:rPr lang="ru-RU" sz="16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основі</a:t>
            </a:r>
            <a:r>
              <a:rPr lang="ru-RU" sz="16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ru-RU" sz="16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enum</a:t>
            </a:r>
            <a:r>
              <a:rPr lang="ru-RU" sz="16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(C) та </a:t>
            </a:r>
            <a:r>
              <a:rPr lang="ru-RU" sz="16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enum</a:t>
            </a:r>
            <a:r>
              <a:rPr lang="ru-RU" sz="16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ru-RU" sz="16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class</a:t>
            </a:r>
            <a:r>
              <a:rPr lang="ru-RU" sz="16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(C++) за </a:t>
            </a:r>
            <a:r>
              <a:rPr lang="ru-RU" sz="16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безпечністю</a:t>
            </a:r>
            <a:r>
              <a:rPr lang="ru-RU" sz="16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, </a:t>
            </a:r>
            <a:r>
              <a:rPr lang="ru-RU" sz="16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зручністю</a:t>
            </a:r>
            <a:r>
              <a:rPr lang="ru-RU" sz="16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ru-RU" sz="16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використання</a:t>
            </a:r>
            <a:r>
              <a:rPr lang="ru-RU" sz="16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та </a:t>
            </a:r>
            <a:r>
              <a:rPr lang="ru-RU" sz="16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швидкодією</a:t>
            </a:r>
            <a:r>
              <a:rPr lang="ru-RU" sz="16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.</a:t>
            </a:r>
            <a:endParaRPr lang="ru-RU" sz="16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1030" name="Picture 6">
            <a:extLst>
              <a:ext uri="{FF2B5EF4-FFF2-40B4-BE49-F238E27FC236}">
                <a16:creationId xmlns:a16="http://schemas.microsoft.com/office/drawing/2014/main" id="{0F6C0F07-A0F4-AA5C-2644-B0AEC7D40B7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267" b="14742"/>
          <a:stretch/>
        </p:blipFill>
        <p:spPr bwMode="auto">
          <a:xfrm>
            <a:off x="0" y="2073239"/>
            <a:ext cx="12191999" cy="52198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1CF7B744-565E-43B5-01F7-4C4FD4FB4BBF}"/>
              </a:ext>
            </a:extLst>
          </p:cNvPr>
          <p:cNvSpPr txBox="1"/>
          <p:nvPr/>
        </p:nvSpPr>
        <p:spPr>
          <a:xfrm>
            <a:off x="425821" y="4496199"/>
            <a:ext cx="2102225" cy="1775358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lvl="0">
              <a:lnSpc>
                <a:spcPct val="115000"/>
              </a:lnSpc>
              <a:spcAft>
                <a:spcPts val="800"/>
              </a:spcAft>
              <a:tabLst>
                <a:tab pos="457200" algn="l"/>
              </a:tabLst>
            </a:pPr>
            <a:r>
              <a:rPr lang="ru-RU" sz="16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Створити</a:t>
            </a:r>
            <a:r>
              <a:rPr lang="ru-RU" sz="16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ru-RU" sz="16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перелік</a:t>
            </a:r>
            <a:r>
              <a:rPr lang="ru-RU" sz="16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ru-RU" sz="16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одиниць</a:t>
            </a:r>
            <a:r>
              <a:rPr lang="ru-RU" sz="16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ru-RU" sz="16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довжини</a:t>
            </a:r>
            <a:r>
              <a:rPr lang="ru-RU" sz="16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та </a:t>
            </a:r>
            <a:r>
              <a:rPr lang="ru-RU" sz="16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функцію</a:t>
            </a:r>
            <a:r>
              <a:rPr lang="ru-RU" sz="16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ru-RU" sz="16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перерахунку</a:t>
            </a:r>
            <a:r>
              <a:rPr lang="ru-RU" sz="16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в </a:t>
            </a:r>
            <a:r>
              <a:rPr lang="ru-RU" sz="16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метри</a:t>
            </a:r>
            <a:r>
              <a:rPr lang="ru-RU" sz="16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, </a:t>
            </a:r>
            <a:r>
              <a:rPr lang="ru-RU" sz="16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використовуючи</a:t>
            </a:r>
            <a:r>
              <a:rPr lang="ru-RU" sz="16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типи </a:t>
            </a:r>
            <a:r>
              <a:rPr lang="ru-RU" sz="16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enum</a:t>
            </a:r>
            <a:r>
              <a:rPr lang="ru-RU" sz="16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/ </a:t>
            </a:r>
            <a:r>
              <a:rPr lang="ru-RU" sz="16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enum</a:t>
            </a:r>
            <a:r>
              <a:rPr lang="ru-RU" sz="16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ru-RU" sz="16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class</a:t>
            </a:r>
            <a:r>
              <a:rPr lang="ru-RU" sz="16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.</a:t>
            </a:r>
            <a:endParaRPr lang="ru-RU" sz="16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80532525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A6BAE96-77E9-AC35-6E7A-68F67BE38D0A}"/>
              </a:ext>
            </a:extLst>
          </p:cNvPr>
          <p:cNvSpPr txBox="1"/>
          <p:nvPr/>
        </p:nvSpPr>
        <p:spPr>
          <a:xfrm>
            <a:off x="1062317" y="310807"/>
            <a:ext cx="9637059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uk-UA" sz="2400" b="1" dirty="0"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Мета</a:t>
            </a:r>
            <a:r>
              <a:rPr lang="ru-RU" sz="2400" b="1" dirty="0"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:</a:t>
            </a:r>
            <a:r>
              <a:rPr lang="ru-RU" sz="2400" b="1" kern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endParaRPr lang="ru-RU" sz="2400" b="1" kern="18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ctr"/>
            <a:r>
              <a:rPr lang="ru-RU" sz="2400" dirty="0"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Метою </a:t>
            </a:r>
            <a:r>
              <a:rPr lang="ru-RU" sz="24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даної</a:t>
            </a:r>
            <a:r>
              <a:rPr lang="ru-RU" sz="2400" dirty="0"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 </a:t>
            </a:r>
            <a:r>
              <a:rPr lang="ru-RU" sz="24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роботи</a:t>
            </a:r>
            <a:r>
              <a:rPr lang="ru-RU" sz="2400" dirty="0"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 є </a:t>
            </a:r>
            <a:r>
              <a:rPr lang="ru-RU" sz="24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вивчення</a:t>
            </a:r>
            <a:r>
              <a:rPr lang="ru-RU" sz="2400" dirty="0"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, </a:t>
            </a:r>
            <a:r>
              <a:rPr lang="ru-RU" sz="24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закріплення</a:t>
            </a:r>
            <a:r>
              <a:rPr lang="ru-RU" sz="2400" dirty="0"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 та </a:t>
            </a:r>
            <a:r>
              <a:rPr lang="ru-RU" sz="24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практичне</a:t>
            </a:r>
            <a:r>
              <a:rPr lang="ru-RU" sz="2400" dirty="0"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 </a:t>
            </a:r>
            <a:r>
              <a:rPr lang="ru-RU" sz="24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застосування</a:t>
            </a:r>
            <a:r>
              <a:rPr lang="ru-RU" sz="2400" dirty="0"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 </a:t>
            </a:r>
            <a:r>
              <a:rPr lang="ru-RU" sz="24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механізму</a:t>
            </a:r>
            <a:r>
              <a:rPr lang="ru-RU" sz="2400" dirty="0"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 </a:t>
            </a:r>
            <a:r>
              <a:rPr lang="ru-RU" sz="24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перерахувань</a:t>
            </a:r>
            <a:r>
              <a:rPr lang="ru-RU" sz="2400" dirty="0"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 (</a:t>
            </a:r>
            <a:r>
              <a:rPr lang="ru-RU" sz="24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enum</a:t>
            </a:r>
            <a:r>
              <a:rPr lang="ru-RU" sz="2400" dirty="0"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) у мовах </a:t>
            </a:r>
            <a:r>
              <a:rPr lang="ru-RU" sz="24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програмування</a:t>
            </a:r>
            <a:r>
              <a:rPr lang="ru-RU" sz="2400" dirty="0"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 C та C++, а також </a:t>
            </a:r>
            <a:r>
              <a:rPr lang="ru-RU" sz="24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порівняння</a:t>
            </a:r>
            <a:r>
              <a:rPr lang="ru-RU" sz="2400" dirty="0"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 </a:t>
            </a:r>
            <a:r>
              <a:rPr lang="ru-RU" sz="24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їх</a:t>
            </a:r>
            <a:r>
              <a:rPr lang="ru-RU" sz="2400" dirty="0"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 </a:t>
            </a:r>
            <a:r>
              <a:rPr lang="ru-RU" sz="24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можливостей</a:t>
            </a:r>
            <a:r>
              <a:rPr lang="ru-RU" sz="2400" dirty="0"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 та </a:t>
            </a:r>
            <a:r>
              <a:rPr lang="ru-RU" sz="24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продуктивності</a:t>
            </a:r>
            <a:r>
              <a:rPr lang="ru-RU" sz="2400" dirty="0"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.</a:t>
            </a:r>
            <a:endParaRPr lang="ru-RU" sz="2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2407622-5617-F184-F641-668D1E4BFA0A}"/>
              </a:ext>
            </a:extLst>
          </p:cNvPr>
          <p:cNvSpPr txBox="1"/>
          <p:nvPr/>
        </p:nvSpPr>
        <p:spPr>
          <a:xfrm>
            <a:off x="377637" y="2089103"/>
            <a:ext cx="2725271" cy="23416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lnSpc>
                <a:spcPct val="115000"/>
              </a:lnSpc>
              <a:spcAft>
                <a:spcPts val="800"/>
              </a:spcAft>
              <a:tabLst>
                <a:tab pos="457200" algn="l"/>
              </a:tabLst>
            </a:pPr>
            <a:r>
              <a:rPr lang="ru-RU" sz="16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Ознайомитися</a:t>
            </a:r>
            <a:r>
              <a:rPr lang="ru-RU" sz="16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з синтаксисом і принципами </a:t>
            </a:r>
            <a:r>
              <a:rPr lang="ru-RU" sz="16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роботи</a:t>
            </a:r>
            <a:r>
              <a:rPr lang="ru-RU" sz="16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ru-RU" sz="16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перерахувань</a:t>
            </a:r>
            <a:r>
              <a:rPr lang="ru-RU" sz="16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у </a:t>
            </a:r>
            <a:r>
              <a:rPr lang="ru-RU" sz="16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мові</a:t>
            </a:r>
            <a:r>
              <a:rPr lang="ru-RU" sz="16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C, </a:t>
            </a:r>
            <a:r>
              <a:rPr lang="ru-RU" sz="16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їх</a:t>
            </a:r>
            <a:r>
              <a:rPr lang="ru-RU" sz="16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ru-RU" sz="16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використанням</a:t>
            </a:r>
            <a:r>
              <a:rPr lang="ru-RU" sz="16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для </a:t>
            </a:r>
            <a:r>
              <a:rPr lang="ru-RU" sz="16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створення</a:t>
            </a:r>
            <a:r>
              <a:rPr lang="ru-RU" sz="16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ru-RU" sz="16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наборів</a:t>
            </a:r>
            <a:r>
              <a:rPr lang="ru-RU" sz="16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ru-RU" sz="16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цілочислових</a:t>
            </a:r>
            <a:r>
              <a:rPr lang="ru-RU" sz="16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констант та </a:t>
            </a:r>
            <a:r>
              <a:rPr lang="ru-RU" sz="16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організацією</a:t>
            </a:r>
            <a:r>
              <a:rPr lang="ru-RU" sz="16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ru-RU" sz="16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базових</a:t>
            </a:r>
            <a:r>
              <a:rPr lang="ru-RU" sz="16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ru-RU" sz="16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операцій</a:t>
            </a:r>
            <a:r>
              <a:rPr lang="ru-RU" sz="16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вводу-</a:t>
            </a:r>
            <a:r>
              <a:rPr lang="ru-RU" sz="16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виводу</a:t>
            </a:r>
            <a:r>
              <a:rPr lang="ru-RU" sz="16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.</a:t>
            </a:r>
            <a:endParaRPr lang="ru-RU" sz="16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3CE4078-FAF2-37B0-ED78-CC20797F749D}"/>
              </a:ext>
            </a:extLst>
          </p:cNvPr>
          <p:cNvSpPr txBox="1"/>
          <p:nvPr/>
        </p:nvSpPr>
        <p:spPr>
          <a:xfrm>
            <a:off x="3487269" y="2089103"/>
            <a:ext cx="2393576" cy="23416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lnSpc>
                <a:spcPct val="115000"/>
              </a:lnSpc>
              <a:spcAft>
                <a:spcPts val="800"/>
              </a:spcAft>
              <a:tabLst>
                <a:tab pos="457200" algn="l"/>
              </a:tabLst>
            </a:pPr>
            <a:r>
              <a:rPr lang="ru-RU" sz="16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Дослідити</a:t>
            </a:r>
            <a:r>
              <a:rPr lang="ru-RU" sz="16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ru-RU" sz="16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особливості</a:t>
            </a:r>
            <a:r>
              <a:rPr lang="ru-RU" sz="16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нового типу </a:t>
            </a:r>
            <a:r>
              <a:rPr lang="ru-RU" sz="16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перерахувань</a:t>
            </a:r>
            <a:r>
              <a:rPr lang="ru-RU" sz="16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ru-RU" sz="16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enum</a:t>
            </a:r>
            <a:r>
              <a:rPr lang="ru-RU" sz="16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ru-RU" sz="16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class</a:t>
            </a:r>
            <a:r>
              <a:rPr lang="ru-RU" sz="16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у C++11, </a:t>
            </a:r>
            <a:r>
              <a:rPr lang="ru-RU" sz="16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їх</a:t>
            </a:r>
            <a:r>
              <a:rPr lang="ru-RU" sz="16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ru-RU" sz="16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сильну</a:t>
            </a:r>
            <a:r>
              <a:rPr lang="ru-RU" sz="16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ru-RU" sz="16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типізацію</a:t>
            </a:r>
            <a:r>
              <a:rPr lang="ru-RU" sz="16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, </a:t>
            </a:r>
            <a:r>
              <a:rPr lang="ru-RU" sz="16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безпечність</a:t>
            </a:r>
            <a:r>
              <a:rPr lang="ru-RU" sz="16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та </a:t>
            </a:r>
            <a:r>
              <a:rPr lang="ru-RU" sz="16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переваги</a:t>
            </a:r>
            <a:r>
              <a:rPr lang="ru-RU" sz="16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над </a:t>
            </a:r>
            <a:r>
              <a:rPr lang="ru-RU" sz="16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класичними</a:t>
            </a:r>
            <a:r>
              <a:rPr lang="ru-RU" sz="16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ru-RU" sz="16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перерахуваннями</a:t>
            </a:r>
            <a:r>
              <a:rPr lang="ru-RU" sz="16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С.</a:t>
            </a:r>
            <a:endParaRPr lang="ru-RU" sz="16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2D13578-0867-1DF5-B16E-5C870AE55761}"/>
              </a:ext>
            </a:extLst>
          </p:cNvPr>
          <p:cNvSpPr txBox="1"/>
          <p:nvPr/>
        </p:nvSpPr>
        <p:spPr>
          <a:xfrm>
            <a:off x="6265206" y="2089103"/>
            <a:ext cx="2940423" cy="2058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lnSpc>
                <a:spcPct val="115000"/>
              </a:lnSpc>
              <a:spcAft>
                <a:spcPts val="800"/>
              </a:spcAft>
              <a:tabLst>
                <a:tab pos="457200" algn="l"/>
              </a:tabLst>
            </a:pPr>
            <a:r>
              <a:rPr lang="ru-RU" sz="16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Реалізувати</a:t>
            </a:r>
            <a:r>
              <a:rPr lang="ru-RU" sz="16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за </a:t>
            </a:r>
            <a:r>
              <a:rPr lang="ru-RU" sz="16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допомогою</a:t>
            </a:r>
            <a:r>
              <a:rPr lang="ru-RU" sz="16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ru-RU" sz="16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перерахувань</a:t>
            </a:r>
            <a:r>
              <a:rPr lang="ru-RU" sz="16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ru-RU" sz="16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ввід</a:t>
            </a:r>
            <a:r>
              <a:rPr lang="ru-RU" sz="16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/</a:t>
            </a:r>
            <a:r>
              <a:rPr lang="ru-RU" sz="16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вивід</a:t>
            </a:r>
            <a:r>
              <a:rPr lang="ru-RU" sz="16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для таких </a:t>
            </a:r>
            <a:r>
              <a:rPr lang="ru-RU" sz="16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сутностей</a:t>
            </a:r>
            <a:r>
              <a:rPr lang="ru-RU" sz="16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:</a:t>
            </a:r>
            <a:br>
              <a:rPr lang="ru-RU" sz="16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</a:br>
            <a:r>
              <a:rPr lang="ru-RU" sz="16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– </a:t>
            </a:r>
            <a:r>
              <a:rPr lang="ru-RU" sz="16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дні</a:t>
            </a:r>
            <a:r>
              <a:rPr lang="ru-RU" sz="16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ru-RU" sz="16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тижня</a:t>
            </a:r>
            <a:r>
              <a:rPr lang="ru-RU" sz="16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;</a:t>
            </a:r>
            <a:br>
              <a:rPr lang="ru-RU" sz="16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</a:br>
            <a:r>
              <a:rPr lang="ru-RU" sz="16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– </a:t>
            </a:r>
            <a:r>
              <a:rPr lang="ru-RU" sz="16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місяці</a:t>
            </a:r>
            <a:r>
              <a:rPr lang="ru-RU" sz="16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року;</a:t>
            </a:r>
            <a:br>
              <a:rPr lang="ru-RU" sz="16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</a:br>
            <a:r>
              <a:rPr lang="ru-RU" sz="16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– </a:t>
            </a:r>
            <a:r>
              <a:rPr lang="ru-RU" sz="16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кольори</a:t>
            </a:r>
            <a:r>
              <a:rPr lang="ru-RU" sz="16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спектра;</a:t>
            </a:r>
            <a:br>
              <a:rPr lang="ru-RU" sz="16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</a:br>
            <a:r>
              <a:rPr lang="ru-RU" sz="16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– </a:t>
            </a:r>
            <a:r>
              <a:rPr lang="ru-RU" sz="16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шахові</a:t>
            </a:r>
            <a:r>
              <a:rPr lang="ru-RU" sz="16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ru-RU" sz="16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фігури</a:t>
            </a:r>
            <a:r>
              <a:rPr lang="ru-RU" sz="16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.</a:t>
            </a:r>
            <a:endParaRPr lang="ru-RU" sz="16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31068FF-797B-C91D-099C-624156329F4E}"/>
              </a:ext>
            </a:extLst>
          </p:cNvPr>
          <p:cNvSpPr txBox="1"/>
          <p:nvPr/>
        </p:nvSpPr>
        <p:spPr>
          <a:xfrm>
            <a:off x="9205629" y="2073239"/>
            <a:ext cx="2290482" cy="23416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lnSpc>
                <a:spcPct val="115000"/>
              </a:lnSpc>
              <a:spcAft>
                <a:spcPts val="800"/>
              </a:spcAft>
              <a:tabLst>
                <a:tab pos="457200" algn="l"/>
              </a:tabLst>
            </a:pPr>
            <a:r>
              <a:rPr lang="ru-RU" sz="16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Створити</a:t>
            </a:r>
            <a:r>
              <a:rPr lang="ru-RU" sz="16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структуру Card та </a:t>
            </a:r>
            <a:r>
              <a:rPr lang="ru-RU" sz="16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перерахування</a:t>
            </a:r>
            <a:r>
              <a:rPr lang="ru-RU" sz="16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мастей і </a:t>
            </a:r>
            <a:r>
              <a:rPr lang="ru-RU" sz="16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рангів</a:t>
            </a:r>
            <a:r>
              <a:rPr lang="ru-RU" sz="16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, а також </a:t>
            </a:r>
            <a:r>
              <a:rPr lang="ru-RU" sz="16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реалізувати</a:t>
            </a:r>
            <a:r>
              <a:rPr lang="ru-RU" sz="16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ru-RU" sz="16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логічну</a:t>
            </a:r>
            <a:r>
              <a:rPr lang="ru-RU" sz="16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ru-RU" sz="16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функцію</a:t>
            </a:r>
            <a:r>
              <a:rPr lang="ru-RU" sz="16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ru-RU" sz="16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визначення</a:t>
            </a:r>
            <a:r>
              <a:rPr lang="ru-RU" sz="16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“</a:t>
            </a:r>
            <a:r>
              <a:rPr lang="ru-RU" sz="16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биття</a:t>
            </a:r>
            <a:r>
              <a:rPr lang="ru-RU" sz="16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” </a:t>
            </a:r>
            <a:r>
              <a:rPr lang="ru-RU" sz="16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карти</a:t>
            </a:r>
            <a:r>
              <a:rPr lang="ru-RU" sz="16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з </a:t>
            </a:r>
            <a:r>
              <a:rPr lang="ru-RU" sz="16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урахуванням</a:t>
            </a:r>
            <a:r>
              <a:rPr lang="ru-RU" sz="16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ru-RU" sz="16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козирної</a:t>
            </a:r>
            <a:r>
              <a:rPr lang="ru-RU" sz="16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ru-RU" sz="16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масті</a:t>
            </a:r>
            <a:r>
              <a:rPr lang="ru-RU" sz="16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.</a:t>
            </a:r>
            <a:endParaRPr lang="ru-RU" sz="16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CF7B744-565E-43B5-01F7-4C4FD4FB4BBF}"/>
              </a:ext>
            </a:extLst>
          </p:cNvPr>
          <p:cNvSpPr txBox="1"/>
          <p:nvPr/>
        </p:nvSpPr>
        <p:spPr>
          <a:xfrm>
            <a:off x="425821" y="4496199"/>
            <a:ext cx="2102225" cy="17753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lnSpc>
                <a:spcPct val="115000"/>
              </a:lnSpc>
              <a:spcAft>
                <a:spcPts val="800"/>
              </a:spcAft>
              <a:tabLst>
                <a:tab pos="457200" algn="l"/>
              </a:tabLst>
            </a:pPr>
            <a:r>
              <a:rPr lang="ru-RU" sz="16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Створити</a:t>
            </a:r>
            <a:r>
              <a:rPr lang="ru-RU" sz="16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ru-RU" sz="16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перелік</a:t>
            </a:r>
            <a:r>
              <a:rPr lang="ru-RU" sz="16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ru-RU" sz="16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одиниць</a:t>
            </a:r>
            <a:r>
              <a:rPr lang="ru-RU" sz="16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ru-RU" sz="16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довжини</a:t>
            </a:r>
            <a:r>
              <a:rPr lang="ru-RU" sz="16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та </a:t>
            </a:r>
            <a:r>
              <a:rPr lang="ru-RU" sz="16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функцію</a:t>
            </a:r>
            <a:r>
              <a:rPr lang="ru-RU" sz="16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ru-RU" sz="16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перерахунку</a:t>
            </a:r>
            <a:r>
              <a:rPr lang="ru-RU" sz="16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в </a:t>
            </a:r>
            <a:r>
              <a:rPr lang="ru-RU" sz="16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метри</a:t>
            </a:r>
            <a:r>
              <a:rPr lang="ru-RU" sz="16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, </a:t>
            </a:r>
            <a:r>
              <a:rPr lang="ru-RU" sz="16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використовуючи</a:t>
            </a:r>
            <a:r>
              <a:rPr lang="ru-RU" sz="16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типи </a:t>
            </a:r>
            <a:r>
              <a:rPr lang="ru-RU" sz="16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enum</a:t>
            </a:r>
            <a:r>
              <a:rPr lang="ru-RU" sz="16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/ </a:t>
            </a:r>
            <a:r>
              <a:rPr lang="ru-RU" sz="16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enum</a:t>
            </a:r>
            <a:r>
              <a:rPr lang="ru-RU" sz="16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ru-RU" sz="16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class</a:t>
            </a:r>
            <a:r>
              <a:rPr lang="ru-RU" sz="16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.</a:t>
            </a:r>
            <a:endParaRPr lang="ru-RU" sz="16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5930551-1BBC-F922-38F8-F8B0C52CCCD2}"/>
              </a:ext>
            </a:extLst>
          </p:cNvPr>
          <p:cNvSpPr txBox="1"/>
          <p:nvPr/>
        </p:nvSpPr>
        <p:spPr>
          <a:xfrm>
            <a:off x="6196858" y="4565713"/>
            <a:ext cx="1875866" cy="17753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lnSpc>
                <a:spcPct val="115000"/>
              </a:lnSpc>
              <a:spcAft>
                <a:spcPts val="800"/>
              </a:spcAft>
              <a:tabLst>
                <a:tab pos="457200" algn="l"/>
              </a:tabLst>
            </a:pPr>
            <a:r>
              <a:rPr lang="ru-RU" sz="16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Використати</a:t>
            </a:r>
            <a:r>
              <a:rPr lang="ru-RU" sz="16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ru-RU" sz="16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перерахування</a:t>
            </a:r>
            <a:r>
              <a:rPr lang="ru-RU" sz="16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ru-RU" sz="16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голосних</a:t>
            </a:r>
            <a:r>
              <a:rPr lang="ru-RU" sz="16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для </a:t>
            </a:r>
            <a:r>
              <a:rPr lang="ru-RU" sz="16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визначення</a:t>
            </a:r>
            <a:r>
              <a:rPr lang="ru-RU" sz="16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ru-RU" sz="16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кількості</a:t>
            </a:r>
            <a:r>
              <a:rPr lang="ru-RU" sz="16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ru-RU" sz="16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складів</a:t>
            </a:r>
            <a:r>
              <a:rPr lang="ru-RU" sz="16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у </a:t>
            </a:r>
            <a:r>
              <a:rPr lang="ru-RU" sz="16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фразі</a:t>
            </a:r>
            <a:r>
              <a:rPr lang="ru-RU" sz="16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.</a:t>
            </a:r>
            <a:endParaRPr lang="ru-RU" sz="16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847D548C-29F8-5D3C-2383-CCA677121BC9}"/>
              </a:ext>
            </a:extLst>
          </p:cNvPr>
          <p:cNvSpPr txBox="1"/>
          <p:nvPr/>
        </p:nvSpPr>
        <p:spPr>
          <a:xfrm>
            <a:off x="8231855" y="4565713"/>
            <a:ext cx="2624404" cy="17753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lnSpc>
                <a:spcPct val="115000"/>
              </a:lnSpc>
              <a:spcAft>
                <a:spcPts val="800"/>
              </a:spcAft>
              <a:tabLst>
                <a:tab pos="457200" algn="l"/>
              </a:tabLst>
            </a:pPr>
            <a:r>
              <a:rPr lang="ru-RU" sz="16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Створити</a:t>
            </a:r>
            <a:r>
              <a:rPr lang="ru-RU" sz="16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ru-RU" sz="16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перерахування</a:t>
            </a:r>
            <a:r>
              <a:rPr lang="ru-RU" sz="16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команд руху корабля та початкового курсу, </a:t>
            </a:r>
            <a:r>
              <a:rPr lang="ru-RU" sz="16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визначити</a:t>
            </a:r>
            <a:r>
              <a:rPr lang="ru-RU" sz="16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ru-RU" sz="16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кінцевий</a:t>
            </a:r>
            <a:r>
              <a:rPr lang="ru-RU" sz="16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ru-RU" sz="16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напрямок</a:t>
            </a:r>
            <a:r>
              <a:rPr lang="ru-RU" sz="16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та </a:t>
            </a:r>
            <a:r>
              <a:rPr lang="ru-RU" sz="16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абсолютне</a:t>
            </a:r>
            <a:r>
              <a:rPr lang="ru-RU" sz="16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ru-RU" sz="16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зміщення</a:t>
            </a:r>
            <a:r>
              <a:rPr lang="ru-RU" sz="16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корабля.</a:t>
            </a:r>
            <a:endParaRPr lang="ru-RU" sz="16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8CD58F1A-BA67-D695-4231-AC537519BC3B}"/>
              </a:ext>
            </a:extLst>
          </p:cNvPr>
          <p:cNvSpPr txBox="1"/>
          <p:nvPr/>
        </p:nvSpPr>
        <p:spPr>
          <a:xfrm>
            <a:off x="4094633" y="4565713"/>
            <a:ext cx="2001367" cy="2058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lnSpc>
                <a:spcPct val="115000"/>
              </a:lnSpc>
              <a:spcAft>
                <a:spcPts val="800"/>
              </a:spcAft>
              <a:tabLst>
                <a:tab pos="457200" algn="l"/>
              </a:tabLst>
            </a:pPr>
            <a:r>
              <a:rPr lang="ru-RU" sz="16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Порівняти</a:t>
            </a:r>
            <a:r>
              <a:rPr lang="ru-RU" sz="16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ru-RU" sz="16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реалізації</a:t>
            </a:r>
            <a:r>
              <a:rPr lang="ru-RU" sz="16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на </a:t>
            </a:r>
            <a:r>
              <a:rPr lang="ru-RU" sz="16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основі</a:t>
            </a:r>
            <a:r>
              <a:rPr lang="ru-RU" sz="16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ru-RU" sz="16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enum</a:t>
            </a:r>
            <a:r>
              <a:rPr lang="ru-RU" sz="16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(C) та </a:t>
            </a:r>
            <a:r>
              <a:rPr lang="ru-RU" sz="16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enum</a:t>
            </a:r>
            <a:r>
              <a:rPr lang="ru-RU" sz="16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ru-RU" sz="16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class</a:t>
            </a:r>
            <a:r>
              <a:rPr lang="ru-RU" sz="16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(C++) за </a:t>
            </a:r>
            <a:r>
              <a:rPr lang="ru-RU" sz="16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безпечністю</a:t>
            </a:r>
            <a:r>
              <a:rPr lang="ru-RU" sz="16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, </a:t>
            </a:r>
            <a:r>
              <a:rPr lang="ru-RU" sz="16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зручністю</a:t>
            </a:r>
            <a:r>
              <a:rPr lang="ru-RU" sz="16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ru-RU" sz="16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використання</a:t>
            </a:r>
            <a:r>
              <a:rPr lang="ru-RU" sz="16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та </a:t>
            </a:r>
            <a:r>
              <a:rPr lang="ru-RU" sz="16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швидкодією</a:t>
            </a:r>
            <a:r>
              <a:rPr lang="ru-RU" sz="16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.</a:t>
            </a:r>
            <a:endParaRPr lang="ru-RU" sz="16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1030" name="Picture 6">
            <a:extLst>
              <a:ext uri="{FF2B5EF4-FFF2-40B4-BE49-F238E27FC236}">
                <a16:creationId xmlns:a16="http://schemas.microsoft.com/office/drawing/2014/main" id="{0F6C0F07-A0F4-AA5C-2644-B0AEC7D40B7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267" b="14742"/>
          <a:stretch/>
        </p:blipFill>
        <p:spPr bwMode="auto">
          <a:xfrm>
            <a:off x="0" y="2073239"/>
            <a:ext cx="12192000" cy="52198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61C38D98-E169-97DF-E3CE-E63DCF0E43D6}"/>
              </a:ext>
            </a:extLst>
          </p:cNvPr>
          <p:cNvSpPr txBox="1"/>
          <p:nvPr/>
        </p:nvSpPr>
        <p:spPr>
          <a:xfrm>
            <a:off x="2469774" y="4565713"/>
            <a:ext cx="2102225" cy="2058512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lvl="0">
              <a:lnSpc>
                <a:spcPct val="115000"/>
              </a:lnSpc>
              <a:spcAft>
                <a:spcPts val="800"/>
              </a:spcAft>
              <a:tabLst>
                <a:tab pos="457200" algn="l"/>
              </a:tabLst>
            </a:pPr>
            <a:r>
              <a:rPr lang="ru-RU" sz="16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Реалізувати</a:t>
            </a:r>
            <a:r>
              <a:rPr lang="ru-RU" sz="16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ru-RU" sz="16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відмінювання</a:t>
            </a:r>
            <a:r>
              <a:rPr lang="ru-RU" sz="16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ru-RU" sz="16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українських</a:t>
            </a:r>
            <a:r>
              <a:rPr lang="ru-RU" sz="16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ru-RU" sz="16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слів</a:t>
            </a:r>
            <a:r>
              <a:rPr lang="ru-RU" sz="16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ru-RU" sz="16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відповідно</a:t>
            </a:r>
            <a:r>
              <a:rPr lang="ru-RU" sz="16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до </a:t>
            </a:r>
            <a:r>
              <a:rPr lang="ru-RU" sz="16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значення</a:t>
            </a:r>
            <a:r>
              <a:rPr lang="ru-RU" sz="16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ru-RU" sz="16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перерахування</a:t>
            </a:r>
            <a:r>
              <a:rPr lang="ru-RU" sz="16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“</a:t>
            </a:r>
            <a:r>
              <a:rPr lang="ru-RU" sz="16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Відмінок</a:t>
            </a:r>
            <a:r>
              <a:rPr lang="ru-RU" sz="16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”.</a:t>
            </a:r>
            <a:endParaRPr lang="ru-RU" sz="16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85236869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A6BAE96-77E9-AC35-6E7A-68F67BE38D0A}"/>
              </a:ext>
            </a:extLst>
          </p:cNvPr>
          <p:cNvSpPr txBox="1"/>
          <p:nvPr/>
        </p:nvSpPr>
        <p:spPr>
          <a:xfrm>
            <a:off x="1062317" y="310807"/>
            <a:ext cx="9637059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uk-UA" sz="2400" b="1" dirty="0"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Мета</a:t>
            </a:r>
            <a:r>
              <a:rPr lang="ru-RU" sz="2400" b="1" dirty="0"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:</a:t>
            </a:r>
            <a:r>
              <a:rPr lang="ru-RU" sz="2400" b="1" kern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endParaRPr lang="ru-RU" sz="2400" b="1" kern="18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ctr"/>
            <a:r>
              <a:rPr lang="ru-RU" sz="2400" dirty="0"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Метою </a:t>
            </a:r>
            <a:r>
              <a:rPr lang="ru-RU" sz="24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даної</a:t>
            </a:r>
            <a:r>
              <a:rPr lang="ru-RU" sz="2400" dirty="0"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 </a:t>
            </a:r>
            <a:r>
              <a:rPr lang="ru-RU" sz="24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роботи</a:t>
            </a:r>
            <a:r>
              <a:rPr lang="ru-RU" sz="2400" dirty="0"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 є </a:t>
            </a:r>
            <a:r>
              <a:rPr lang="ru-RU" sz="24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вивчення</a:t>
            </a:r>
            <a:r>
              <a:rPr lang="ru-RU" sz="2400" dirty="0"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, </a:t>
            </a:r>
            <a:r>
              <a:rPr lang="ru-RU" sz="24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закріплення</a:t>
            </a:r>
            <a:r>
              <a:rPr lang="ru-RU" sz="2400" dirty="0"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 та </a:t>
            </a:r>
            <a:r>
              <a:rPr lang="ru-RU" sz="24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практичне</a:t>
            </a:r>
            <a:r>
              <a:rPr lang="ru-RU" sz="2400" dirty="0"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 </a:t>
            </a:r>
            <a:r>
              <a:rPr lang="ru-RU" sz="24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застосування</a:t>
            </a:r>
            <a:r>
              <a:rPr lang="ru-RU" sz="2400" dirty="0"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 </a:t>
            </a:r>
            <a:r>
              <a:rPr lang="ru-RU" sz="24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механізму</a:t>
            </a:r>
            <a:r>
              <a:rPr lang="ru-RU" sz="2400" dirty="0"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 </a:t>
            </a:r>
            <a:r>
              <a:rPr lang="ru-RU" sz="24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перерахувань</a:t>
            </a:r>
            <a:r>
              <a:rPr lang="ru-RU" sz="2400" dirty="0"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 (</a:t>
            </a:r>
            <a:r>
              <a:rPr lang="ru-RU" sz="24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enum</a:t>
            </a:r>
            <a:r>
              <a:rPr lang="ru-RU" sz="2400" dirty="0"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) у мовах </a:t>
            </a:r>
            <a:r>
              <a:rPr lang="ru-RU" sz="24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програмування</a:t>
            </a:r>
            <a:r>
              <a:rPr lang="ru-RU" sz="2400" dirty="0"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 C та C++, а також </a:t>
            </a:r>
            <a:r>
              <a:rPr lang="ru-RU" sz="24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порівняння</a:t>
            </a:r>
            <a:r>
              <a:rPr lang="ru-RU" sz="2400" dirty="0"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 </a:t>
            </a:r>
            <a:r>
              <a:rPr lang="ru-RU" sz="24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їх</a:t>
            </a:r>
            <a:r>
              <a:rPr lang="ru-RU" sz="2400" dirty="0"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 </a:t>
            </a:r>
            <a:r>
              <a:rPr lang="ru-RU" sz="24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можливостей</a:t>
            </a:r>
            <a:r>
              <a:rPr lang="ru-RU" sz="2400" dirty="0"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 та </a:t>
            </a:r>
            <a:r>
              <a:rPr lang="ru-RU" sz="24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продуктивності</a:t>
            </a:r>
            <a:r>
              <a:rPr lang="ru-RU" sz="2400" dirty="0"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.</a:t>
            </a:r>
            <a:endParaRPr lang="ru-RU" sz="2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2407622-5617-F184-F641-668D1E4BFA0A}"/>
              </a:ext>
            </a:extLst>
          </p:cNvPr>
          <p:cNvSpPr txBox="1"/>
          <p:nvPr/>
        </p:nvSpPr>
        <p:spPr>
          <a:xfrm>
            <a:off x="377637" y="2089103"/>
            <a:ext cx="2725271" cy="23416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lnSpc>
                <a:spcPct val="115000"/>
              </a:lnSpc>
              <a:spcAft>
                <a:spcPts val="800"/>
              </a:spcAft>
              <a:tabLst>
                <a:tab pos="457200" algn="l"/>
              </a:tabLst>
            </a:pPr>
            <a:r>
              <a:rPr lang="ru-RU" sz="16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Ознайомитися</a:t>
            </a:r>
            <a:r>
              <a:rPr lang="ru-RU" sz="16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з синтаксисом і принципами </a:t>
            </a:r>
            <a:r>
              <a:rPr lang="ru-RU" sz="16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роботи</a:t>
            </a:r>
            <a:r>
              <a:rPr lang="ru-RU" sz="16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ru-RU" sz="16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перерахувань</a:t>
            </a:r>
            <a:r>
              <a:rPr lang="ru-RU" sz="16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у </a:t>
            </a:r>
            <a:r>
              <a:rPr lang="ru-RU" sz="16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мові</a:t>
            </a:r>
            <a:r>
              <a:rPr lang="ru-RU" sz="16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C, </a:t>
            </a:r>
            <a:r>
              <a:rPr lang="ru-RU" sz="16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їх</a:t>
            </a:r>
            <a:r>
              <a:rPr lang="ru-RU" sz="16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ru-RU" sz="16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використанням</a:t>
            </a:r>
            <a:r>
              <a:rPr lang="ru-RU" sz="16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для </a:t>
            </a:r>
            <a:r>
              <a:rPr lang="ru-RU" sz="16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створення</a:t>
            </a:r>
            <a:r>
              <a:rPr lang="ru-RU" sz="16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ru-RU" sz="16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наборів</a:t>
            </a:r>
            <a:r>
              <a:rPr lang="ru-RU" sz="16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ru-RU" sz="16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цілочислових</a:t>
            </a:r>
            <a:r>
              <a:rPr lang="ru-RU" sz="16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констант та </a:t>
            </a:r>
            <a:r>
              <a:rPr lang="ru-RU" sz="16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організацією</a:t>
            </a:r>
            <a:r>
              <a:rPr lang="ru-RU" sz="16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ru-RU" sz="16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базових</a:t>
            </a:r>
            <a:r>
              <a:rPr lang="ru-RU" sz="16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ru-RU" sz="16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операцій</a:t>
            </a:r>
            <a:r>
              <a:rPr lang="ru-RU" sz="16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вводу-</a:t>
            </a:r>
            <a:r>
              <a:rPr lang="ru-RU" sz="16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виводу</a:t>
            </a:r>
            <a:r>
              <a:rPr lang="ru-RU" sz="16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.</a:t>
            </a:r>
            <a:endParaRPr lang="ru-RU" sz="16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3CE4078-FAF2-37B0-ED78-CC20797F749D}"/>
              </a:ext>
            </a:extLst>
          </p:cNvPr>
          <p:cNvSpPr txBox="1"/>
          <p:nvPr/>
        </p:nvSpPr>
        <p:spPr>
          <a:xfrm>
            <a:off x="3487269" y="2089103"/>
            <a:ext cx="2393576" cy="23416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lnSpc>
                <a:spcPct val="115000"/>
              </a:lnSpc>
              <a:spcAft>
                <a:spcPts val="800"/>
              </a:spcAft>
              <a:tabLst>
                <a:tab pos="457200" algn="l"/>
              </a:tabLst>
            </a:pPr>
            <a:r>
              <a:rPr lang="ru-RU" sz="16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Дослідити</a:t>
            </a:r>
            <a:r>
              <a:rPr lang="ru-RU" sz="16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ru-RU" sz="16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особливості</a:t>
            </a:r>
            <a:r>
              <a:rPr lang="ru-RU" sz="16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нового типу </a:t>
            </a:r>
            <a:r>
              <a:rPr lang="ru-RU" sz="16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перерахувань</a:t>
            </a:r>
            <a:r>
              <a:rPr lang="ru-RU" sz="16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ru-RU" sz="16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enum</a:t>
            </a:r>
            <a:r>
              <a:rPr lang="ru-RU" sz="16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ru-RU" sz="16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class</a:t>
            </a:r>
            <a:r>
              <a:rPr lang="ru-RU" sz="16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у C++11, </a:t>
            </a:r>
            <a:r>
              <a:rPr lang="ru-RU" sz="16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їх</a:t>
            </a:r>
            <a:r>
              <a:rPr lang="ru-RU" sz="16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ru-RU" sz="16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сильну</a:t>
            </a:r>
            <a:r>
              <a:rPr lang="ru-RU" sz="16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ru-RU" sz="16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типізацію</a:t>
            </a:r>
            <a:r>
              <a:rPr lang="ru-RU" sz="16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, </a:t>
            </a:r>
            <a:r>
              <a:rPr lang="ru-RU" sz="16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безпечність</a:t>
            </a:r>
            <a:r>
              <a:rPr lang="ru-RU" sz="16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та </a:t>
            </a:r>
            <a:r>
              <a:rPr lang="ru-RU" sz="16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переваги</a:t>
            </a:r>
            <a:r>
              <a:rPr lang="ru-RU" sz="16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над </a:t>
            </a:r>
            <a:r>
              <a:rPr lang="ru-RU" sz="16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класичними</a:t>
            </a:r>
            <a:r>
              <a:rPr lang="ru-RU" sz="16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ru-RU" sz="16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перерахуваннями</a:t>
            </a:r>
            <a:r>
              <a:rPr lang="ru-RU" sz="16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С.</a:t>
            </a:r>
            <a:endParaRPr lang="ru-RU" sz="16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2D13578-0867-1DF5-B16E-5C870AE55761}"/>
              </a:ext>
            </a:extLst>
          </p:cNvPr>
          <p:cNvSpPr txBox="1"/>
          <p:nvPr/>
        </p:nvSpPr>
        <p:spPr>
          <a:xfrm>
            <a:off x="6265206" y="2089103"/>
            <a:ext cx="2940423" cy="2058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lnSpc>
                <a:spcPct val="115000"/>
              </a:lnSpc>
              <a:spcAft>
                <a:spcPts val="800"/>
              </a:spcAft>
              <a:tabLst>
                <a:tab pos="457200" algn="l"/>
              </a:tabLst>
            </a:pPr>
            <a:r>
              <a:rPr lang="ru-RU" sz="16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Реалізувати</a:t>
            </a:r>
            <a:r>
              <a:rPr lang="ru-RU" sz="16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за </a:t>
            </a:r>
            <a:r>
              <a:rPr lang="ru-RU" sz="16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допомогою</a:t>
            </a:r>
            <a:r>
              <a:rPr lang="ru-RU" sz="16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ru-RU" sz="16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перерахувань</a:t>
            </a:r>
            <a:r>
              <a:rPr lang="ru-RU" sz="16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ru-RU" sz="16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ввід</a:t>
            </a:r>
            <a:r>
              <a:rPr lang="ru-RU" sz="16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/</a:t>
            </a:r>
            <a:r>
              <a:rPr lang="ru-RU" sz="16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вивід</a:t>
            </a:r>
            <a:r>
              <a:rPr lang="ru-RU" sz="16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для таких </a:t>
            </a:r>
            <a:r>
              <a:rPr lang="ru-RU" sz="16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сутностей</a:t>
            </a:r>
            <a:r>
              <a:rPr lang="ru-RU" sz="16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:</a:t>
            </a:r>
            <a:br>
              <a:rPr lang="ru-RU" sz="16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</a:br>
            <a:r>
              <a:rPr lang="ru-RU" sz="16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– </a:t>
            </a:r>
            <a:r>
              <a:rPr lang="ru-RU" sz="16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дні</a:t>
            </a:r>
            <a:r>
              <a:rPr lang="ru-RU" sz="16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ru-RU" sz="16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тижня</a:t>
            </a:r>
            <a:r>
              <a:rPr lang="ru-RU" sz="16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;</a:t>
            </a:r>
            <a:br>
              <a:rPr lang="ru-RU" sz="16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</a:br>
            <a:r>
              <a:rPr lang="ru-RU" sz="16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– </a:t>
            </a:r>
            <a:r>
              <a:rPr lang="ru-RU" sz="16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місяці</a:t>
            </a:r>
            <a:r>
              <a:rPr lang="ru-RU" sz="16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року;</a:t>
            </a:r>
            <a:br>
              <a:rPr lang="ru-RU" sz="16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</a:br>
            <a:r>
              <a:rPr lang="ru-RU" sz="16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– </a:t>
            </a:r>
            <a:r>
              <a:rPr lang="ru-RU" sz="16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кольори</a:t>
            </a:r>
            <a:r>
              <a:rPr lang="ru-RU" sz="16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спектра;</a:t>
            </a:r>
            <a:br>
              <a:rPr lang="ru-RU" sz="16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</a:br>
            <a:r>
              <a:rPr lang="ru-RU" sz="16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– </a:t>
            </a:r>
            <a:r>
              <a:rPr lang="ru-RU" sz="16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шахові</a:t>
            </a:r>
            <a:r>
              <a:rPr lang="ru-RU" sz="16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ru-RU" sz="16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фігури</a:t>
            </a:r>
            <a:r>
              <a:rPr lang="ru-RU" sz="16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.</a:t>
            </a:r>
            <a:endParaRPr lang="ru-RU" sz="16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31068FF-797B-C91D-099C-624156329F4E}"/>
              </a:ext>
            </a:extLst>
          </p:cNvPr>
          <p:cNvSpPr txBox="1"/>
          <p:nvPr/>
        </p:nvSpPr>
        <p:spPr>
          <a:xfrm>
            <a:off x="9205629" y="2073239"/>
            <a:ext cx="2290482" cy="23416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lnSpc>
                <a:spcPct val="115000"/>
              </a:lnSpc>
              <a:spcAft>
                <a:spcPts val="800"/>
              </a:spcAft>
              <a:tabLst>
                <a:tab pos="457200" algn="l"/>
              </a:tabLst>
            </a:pPr>
            <a:r>
              <a:rPr lang="ru-RU" sz="16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Створити</a:t>
            </a:r>
            <a:r>
              <a:rPr lang="ru-RU" sz="16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структуру Card та </a:t>
            </a:r>
            <a:r>
              <a:rPr lang="ru-RU" sz="16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перерахування</a:t>
            </a:r>
            <a:r>
              <a:rPr lang="ru-RU" sz="16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мастей і </a:t>
            </a:r>
            <a:r>
              <a:rPr lang="ru-RU" sz="16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рангів</a:t>
            </a:r>
            <a:r>
              <a:rPr lang="ru-RU" sz="16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, а також </a:t>
            </a:r>
            <a:r>
              <a:rPr lang="ru-RU" sz="16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реалізувати</a:t>
            </a:r>
            <a:r>
              <a:rPr lang="ru-RU" sz="16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ru-RU" sz="16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логічну</a:t>
            </a:r>
            <a:r>
              <a:rPr lang="ru-RU" sz="16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ru-RU" sz="16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функцію</a:t>
            </a:r>
            <a:r>
              <a:rPr lang="ru-RU" sz="16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ru-RU" sz="16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визначення</a:t>
            </a:r>
            <a:r>
              <a:rPr lang="ru-RU" sz="16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“</a:t>
            </a:r>
            <a:r>
              <a:rPr lang="ru-RU" sz="16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биття</a:t>
            </a:r>
            <a:r>
              <a:rPr lang="ru-RU" sz="16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” </a:t>
            </a:r>
            <a:r>
              <a:rPr lang="ru-RU" sz="16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карти</a:t>
            </a:r>
            <a:r>
              <a:rPr lang="ru-RU" sz="16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з </a:t>
            </a:r>
            <a:r>
              <a:rPr lang="ru-RU" sz="16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урахуванням</a:t>
            </a:r>
            <a:r>
              <a:rPr lang="ru-RU" sz="16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ru-RU" sz="16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козирної</a:t>
            </a:r>
            <a:r>
              <a:rPr lang="ru-RU" sz="16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ru-RU" sz="16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масті</a:t>
            </a:r>
            <a:r>
              <a:rPr lang="ru-RU" sz="16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.</a:t>
            </a:r>
            <a:endParaRPr lang="ru-RU" sz="16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CF7B744-565E-43B5-01F7-4C4FD4FB4BBF}"/>
              </a:ext>
            </a:extLst>
          </p:cNvPr>
          <p:cNvSpPr txBox="1"/>
          <p:nvPr/>
        </p:nvSpPr>
        <p:spPr>
          <a:xfrm>
            <a:off x="425821" y="4496199"/>
            <a:ext cx="2102225" cy="17753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lnSpc>
                <a:spcPct val="115000"/>
              </a:lnSpc>
              <a:spcAft>
                <a:spcPts val="800"/>
              </a:spcAft>
              <a:tabLst>
                <a:tab pos="457200" algn="l"/>
              </a:tabLst>
            </a:pPr>
            <a:r>
              <a:rPr lang="ru-RU" sz="16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Створити</a:t>
            </a:r>
            <a:r>
              <a:rPr lang="ru-RU" sz="16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ru-RU" sz="16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перелік</a:t>
            </a:r>
            <a:r>
              <a:rPr lang="ru-RU" sz="16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ru-RU" sz="16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одиниць</a:t>
            </a:r>
            <a:r>
              <a:rPr lang="ru-RU" sz="16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ru-RU" sz="16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довжини</a:t>
            </a:r>
            <a:r>
              <a:rPr lang="ru-RU" sz="16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та </a:t>
            </a:r>
            <a:r>
              <a:rPr lang="ru-RU" sz="16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функцію</a:t>
            </a:r>
            <a:r>
              <a:rPr lang="ru-RU" sz="16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ru-RU" sz="16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перерахунку</a:t>
            </a:r>
            <a:r>
              <a:rPr lang="ru-RU" sz="16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в </a:t>
            </a:r>
            <a:r>
              <a:rPr lang="ru-RU" sz="16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метри</a:t>
            </a:r>
            <a:r>
              <a:rPr lang="ru-RU" sz="16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, </a:t>
            </a:r>
            <a:r>
              <a:rPr lang="ru-RU" sz="16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використовуючи</a:t>
            </a:r>
            <a:r>
              <a:rPr lang="ru-RU" sz="16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типи </a:t>
            </a:r>
            <a:r>
              <a:rPr lang="ru-RU" sz="16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enum</a:t>
            </a:r>
            <a:r>
              <a:rPr lang="ru-RU" sz="16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/ </a:t>
            </a:r>
            <a:r>
              <a:rPr lang="ru-RU" sz="16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enum</a:t>
            </a:r>
            <a:r>
              <a:rPr lang="ru-RU" sz="16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ru-RU" sz="16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class</a:t>
            </a:r>
            <a:r>
              <a:rPr lang="ru-RU" sz="16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.</a:t>
            </a:r>
            <a:endParaRPr lang="ru-RU" sz="16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1C38D98-E169-97DF-E3CE-E63DCF0E43D6}"/>
              </a:ext>
            </a:extLst>
          </p:cNvPr>
          <p:cNvSpPr txBox="1"/>
          <p:nvPr/>
        </p:nvSpPr>
        <p:spPr>
          <a:xfrm>
            <a:off x="2469774" y="4565713"/>
            <a:ext cx="2102225" cy="2058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lnSpc>
                <a:spcPct val="115000"/>
              </a:lnSpc>
              <a:spcAft>
                <a:spcPts val="800"/>
              </a:spcAft>
              <a:tabLst>
                <a:tab pos="457200" algn="l"/>
              </a:tabLst>
            </a:pPr>
            <a:r>
              <a:rPr lang="ru-RU" sz="16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Реалізувати</a:t>
            </a:r>
            <a:r>
              <a:rPr lang="ru-RU" sz="16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ru-RU" sz="16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відмінювання</a:t>
            </a:r>
            <a:r>
              <a:rPr lang="ru-RU" sz="16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ru-RU" sz="16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українських</a:t>
            </a:r>
            <a:r>
              <a:rPr lang="ru-RU" sz="16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ru-RU" sz="16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слів</a:t>
            </a:r>
            <a:r>
              <a:rPr lang="ru-RU" sz="16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ru-RU" sz="16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відповідно</a:t>
            </a:r>
            <a:r>
              <a:rPr lang="ru-RU" sz="16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до </a:t>
            </a:r>
            <a:r>
              <a:rPr lang="ru-RU" sz="16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значення</a:t>
            </a:r>
            <a:r>
              <a:rPr lang="ru-RU" sz="16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ru-RU" sz="16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перерахування</a:t>
            </a:r>
            <a:r>
              <a:rPr lang="ru-RU" sz="16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“</a:t>
            </a:r>
            <a:r>
              <a:rPr lang="ru-RU" sz="16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Відмінок</a:t>
            </a:r>
            <a:r>
              <a:rPr lang="ru-RU" sz="16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”.</a:t>
            </a:r>
            <a:endParaRPr lang="ru-RU" sz="16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5930551-1BBC-F922-38F8-F8B0C52CCCD2}"/>
              </a:ext>
            </a:extLst>
          </p:cNvPr>
          <p:cNvSpPr txBox="1"/>
          <p:nvPr/>
        </p:nvSpPr>
        <p:spPr>
          <a:xfrm>
            <a:off x="6196858" y="4565713"/>
            <a:ext cx="1875866" cy="17753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lnSpc>
                <a:spcPct val="115000"/>
              </a:lnSpc>
              <a:spcAft>
                <a:spcPts val="800"/>
              </a:spcAft>
              <a:tabLst>
                <a:tab pos="457200" algn="l"/>
              </a:tabLst>
            </a:pPr>
            <a:r>
              <a:rPr lang="ru-RU" sz="16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Використати</a:t>
            </a:r>
            <a:r>
              <a:rPr lang="ru-RU" sz="16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ru-RU" sz="16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перерахування</a:t>
            </a:r>
            <a:r>
              <a:rPr lang="ru-RU" sz="16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ru-RU" sz="16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голосних</a:t>
            </a:r>
            <a:r>
              <a:rPr lang="ru-RU" sz="16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для </a:t>
            </a:r>
            <a:r>
              <a:rPr lang="ru-RU" sz="16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визначення</a:t>
            </a:r>
            <a:r>
              <a:rPr lang="ru-RU" sz="16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ru-RU" sz="16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кількості</a:t>
            </a:r>
            <a:r>
              <a:rPr lang="ru-RU" sz="16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ru-RU" sz="16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складів</a:t>
            </a:r>
            <a:r>
              <a:rPr lang="ru-RU" sz="16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у </a:t>
            </a:r>
            <a:r>
              <a:rPr lang="ru-RU" sz="16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фразі</a:t>
            </a:r>
            <a:r>
              <a:rPr lang="ru-RU" sz="16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.</a:t>
            </a:r>
            <a:endParaRPr lang="ru-RU" sz="16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847D548C-29F8-5D3C-2383-CCA677121BC9}"/>
              </a:ext>
            </a:extLst>
          </p:cNvPr>
          <p:cNvSpPr txBox="1"/>
          <p:nvPr/>
        </p:nvSpPr>
        <p:spPr>
          <a:xfrm>
            <a:off x="8231855" y="4565713"/>
            <a:ext cx="2624404" cy="17753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lnSpc>
                <a:spcPct val="115000"/>
              </a:lnSpc>
              <a:spcAft>
                <a:spcPts val="800"/>
              </a:spcAft>
              <a:tabLst>
                <a:tab pos="457200" algn="l"/>
              </a:tabLst>
            </a:pPr>
            <a:r>
              <a:rPr lang="ru-RU" sz="16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Створити</a:t>
            </a:r>
            <a:r>
              <a:rPr lang="ru-RU" sz="16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ru-RU" sz="16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перерахування</a:t>
            </a:r>
            <a:r>
              <a:rPr lang="ru-RU" sz="16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команд руху корабля та початкового курсу, </a:t>
            </a:r>
            <a:r>
              <a:rPr lang="ru-RU" sz="16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визначити</a:t>
            </a:r>
            <a:r>
              <a:rPr lang="ru-RU" sz="16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ru-RU" sz="16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кінцевий</a:t>
            </a:r>
            <a:r>
              <a:rPr lang="ru-RU" sz="16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ru-RU" sz="16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напрямок</a:t>
            </a:r>
            <a:r>
              <a:rPr lang="ru-RU" sz="16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та </a:t>
            </a:r>
            <a:r>
              <a:rPr lang="ru-RU" sz="16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абсолютне</a:t>
            </a:r>
            <a:r>
              <a:rPr lang="ru-RU" sz="16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ru-RU" sz="16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зміщення</a:t>
            </a:r>
            <a:r>
              <a:rPr lang="ru-RU" sz="16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корабля.</a:t>
            </a:r>
            <a:endParaRPr lang="ru-RU" sz="16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1030" name="Picture 6">
            <a:extLst>
              <a:ext uri="{FF2B5EF4-FFF2-40B4-BE49-F238E27FC236}">
                <a16:creationId xmlns:a16="http://schemas.microsoft.com/office/drawing/2014/main" id="{0F6C0F07-A0F4-AA5C-2644-B0AEC7D40B7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267" b="14742"/>
          <a:stretch/>
        </p:blipFill>
        <p:spPr bwMode="auto">
          <a:xfrm>
            <a:off x="0" y="2073239"/>
            <a:ext cx="12191999" cy="52198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8CD58F1A-BA67-D695-4231-AC537519BC3B}"/>
              </a:ext>
            </a:extLst>
          </p:cNvPr>
          <p:cNvSpPr txBox="1"/>
          <p:nvPr/>
        </p:nvSpPr>
        <p:spPr>
          <a:xfrm>
            <a:off x="4094633" y="4565713"/>
            <a:ext cx="2001367" cy="2058512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lvl="0">
              <a:lnSpc>
                <a:spcPct val="115000"/>
              </a:lnSpc>
              <a:spcAft>
                <a:spcPts val="800"/>
              </a:spcAft>
              <a:tabLst>
                <a:tab pos="457200" algn="l"/>
              </a:tabLst>
            </a:pPr>
            <a:r>
              <a:rPr lang="ru-RU" sz="16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Порівняти</a:t>
            </a:r>
            <a:r>
              <a:rPr lang="ru-RU" sz="16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ru-RU" sz="16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реалізації</a:t>
            </a:r>
            <a:r>
              <a:rPr lang="ru-RU" sz="16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на </a:t>
            </a:r>
            <a:r>
              <a:rPr lang="ru-RU" sz="16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основі</a:t>
            </a:r>
            <a:r>
              <a:rPr lang="ru-RU" sz="16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ru-RU" sz="16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enum</a:t>
            </a:r>
            <a:r>
              <a:rPr lang="ru-RU" sz="16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(C) та </a:t>
            </a:r>
            <a:r>
              <a:rPr lang="ru-RU" sz="16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enum</a:t>
            </a:r>
            <a:r>
              <a:rPr lang="ru-RU" sz="16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ru-RU" sz="16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class</a:t>
            </a:r>
            <a:r>
              <a:rPr lang="ru-RU" sz="16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(C++) за </a:t>
            </a:r>
            <a:r>
              <a:rPr lang="ru-RU" sz="16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безпечністю</a:t>
            </a:r>
            <a:r>
              <a:rPr lang="ru-RU" sz="16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, </a:t>
            </a:r>
            <a:r>
              <a:rPr lang="ru-RU" sz="16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зручністю</a:t>
            </a:r>
            <a:r>
              <a:rPr lang="ru-RU" sz="16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ru-RU" sz="16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використання</a:t>
            </a:r>
            <a:r>
              <a:rPr lang="ru-RU" sz="16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та </a:t>
            </a:r>
            <a:r>
              <a:rPr lang="ru-RU" sz="16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швидкодією</a:t>
            </a:r>
            <a:r>
              <a:rPr lang="ru-RU" sz="16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.</a:t>
            </a:r>
            <a:endParaRPr lang="ru-RU" sz="16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40391873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A6BAE96-77E9-AC35-6E7A-68F67BE38D0A}"/>
              </a:ext>
            </a:extLst>
          </p:cNvPr>
          <p:cNvSpPr txBox="1"/>
          <p:nvPr/>
        </p:nvSpPr>
        <p:spPr>
          <a:xfrm>
            <a:off x="1062317" y="310807"/>
            <a:ext cx="9637059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uk-UA" sz="2400" b="1" dirty="0"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Мета</a:t>
            </a:r>
            <a:r>
              <a:rPr lang="ru-RU" sz="2400" b="1" dirty="0"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:</a:t>
            </a:r>
            <a:r>
              <a:rPr lang="ru-RU" sz="2400" b="1" kern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endParaRPr lang="ru-RU" sz="2400" b="1" kern="18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ctr"/>
            <a:r>
              <a:rPr lang="ru-RU" sz="2400" dirty="0"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Метою </a:t>
            </a:r>
            <a:r>
              <a:rPr lang="ru-RU" sz="24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даної</a:t>
            </a:r>
            <a:r>
              <a:rPr lang="ru-RU" sz="2400" dirty="0"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 </a:t>
            </a:r>
            <a:r>
              <a:rPr lang="ru-RU" sz="24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роботи</a:t>
            </a:r>
            <a:r>
              <a:rPr lang="ru-RU" sz="2400" dirty="0"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 є </a:t>
            </a:r>
            <a:r>
              <a:rPr lang="ru-RU" sz="24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вивчення</a:t>
            </a:r>
            <a:r>
              <a:rPr lang="ru-RU" sz="2400" dirty="0"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, </a:t>
            </a:r>
            <a:r>
              <a:rPr lang="ru-RU" sz="24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закріплення</a:t>
            </a:r>
            <a:r>
              <a:rPr lang="ru-RU" sz="2400" dirty="0"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 та </a:t>
            </a:r>
            <a:r>
              <a:rPr lang="ru-RU" sz="24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практичне</a:t>
            </a:r>
            <a:r>
              <a:rPr lang="ru-RU" sz="2400" dirty="0"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 </a:t>
            </a:r>
            <a:r>
              <a:rPr lang="ru-RU" sz="24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застосування</a:t>
            </a:r>
            <a:r>
              <a:rPr lang="ru-RU" sz="2400" dirty="0"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 </a:t>
            </a:r>
            <a:r>
              <a:rPr lang="ru-RU" sz="24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механізму</a:t>
            </a:r>
            <a:r>
              <a:rPr lang="ru-RU" sz="2400" dirty="0"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 </a:t>
            </a:r>
            <a:r>
              <a:rPr lang="ru-RU" sz="24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перерахувань</a:t>
            </a:r>
            <a:r>
              <a:rPr lang="ru-RU" sz="2400" dirty="0"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 (</a:t>
            </a:r>
            <a:r>
              <a:rPr lang="ru-RU" sz="24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enum</a:t>
            </a:r>
            <a:r>
              <a:rPr lang="ru-RU" sz="2400" dirty="0"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) у мовах </a:t>
            </a:r>
            <a:r>
              <a:rPr lang="ru-RU" sz="24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програмування</a:t>
            </a:r>
            <a:r>
              <a:rPr lang="ru-RU" sz="2400" dirty="0"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 C та C++, а також </a:t>
            </a:r>
            <a:r>
              <a:rPr lang="ru-RU" sz="24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порівняння</a:t>
            </a:r>
            <a:r>
              <a:rPr lang="ru-RU" sz="2400" dirty="0"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 </a:t>
            </a:r>
            <a:r>
              <a:rPr lang="ru-RU" sz="24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їх</a:t>
            </a:r>
            <a:r>
              <a:rPr lang="ru-RU" sz="2400" dirty="0"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 </a:t>
            </a:r>
            <a:r>
              <a:rPr lang="ru-RU" sz="24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можливостей</a:t>
            </a:r>
            <a:r>
              <a:rPr lang="ru-RU" sz="2400" dirty="0"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 та </a:t>
            </a:r>
            <a:r>
              <a:rPr lang="ru-RU" sz="24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продуктивності</a:t>
            </a:r>
            <a:r>
              <a:rPr lang="ru-RU" sz="2400" dirty="0"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.</a:t>
            </a:r>
            <a:endParaRPr lang="ru-RU" sz="2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2407622-5617-F184-F641-668D1E4BFA0A}"/>
              </a:ext>
            </a:extLst>
          </p:cNvPr>
          <p:cNvSpPr txBox="1"/>
          <p:nvPr/>
        </p:nvSpPr>
        <p:spPr>
          <a:xfrm>
            <a:off x="377637" y="2089103"/>
            <a:ext cx="2725271" cy="23416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lnSpc>
                <a:spcPct val="115000"/>
              </a:lnSpc>
              <a:spcAft>
                <a:spcPts val="800"/>
              </a:spcAft>
              <a:tabLst>
                <a:tab pos="457200" algn="l"/>
              </a:tabLst>
            </a:pPr>
            <a:r>
              <a:rPr lang="ru-RU" sz="16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Ознайомитися</a:t>
            </a:r>
            <a:r>
              <a:rPr lang="ru-RU" sz="16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з синтаксисом і принципами </a:t>
            </a:r>
            <a:r>
              <a:rPr lang="ru-RU" sz="16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роботи</a:t>
            </a:r>
            <a:r>
              <a:rPr lang="ru-RU" sz="16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ru-RU" sz="16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перерахувань</a:t>
            </a:r>
            <a:r>
              <a:rPr lang="ru-RU" sz="16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у </a:t>
            </a:r>
            <a:r>
              <a:rPr lang="ru-RU" sz="16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мові</a:t>
            </a:r>
            <a:r>
              <a:rPr lang="ru-RU" sz="16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C, </a:t>
            </a:r>
            <a:r>
              <a:rPr lang="ru-RU" sz="16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їх</a:t>
            </a:r>
            <a:r>
              <a:rPr lang="ru-RU" sz="16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ru-RU" sz="16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використанням</a:t>
            </a:r>
            <a:r>
              <a:rPr lang="ru-RU" sz="16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для </a:t>
            </a:r>
            <a:r>
              <a:rPr lang="ru-RU" sz="16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створення</a:t>
            </a:r>
            <a:r>
              <a:rPr lang="ru-RU" sz="16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ru-RU" sz="16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наборів</a:t>
            </a:r>
            <a:r>
              <a:rPr lang="ru-RU" sz="16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ru-RU" sz="16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цілочислових</a:t>
            </a:r>
            <a:r>
              <a:rPr lang="ru-RU" sz="16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констант та </a:t>
            </a:r>
            <a:r>
              <a:rPr lang="ru-RU" sz="16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організацією</a:t>
            </a:r>
            <a:r>
              <a:rPr lang="ru-RU" sz="16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ru-RU" sz="16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базових</a:t>
            </a:r>
            <a:r>
              <a:rPr lang="ru-RU" sz="16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ru-RU" sz="16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операцій</a:t>
            </a:r>
            <a:r>
              <a:rPr lang="ru-RU" sz="16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вводу-</a:t>
            </a:r>
            <a:r>
              <a:rPr lang="ru-RU" sz="16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виводу</a:t>
            </a:r>
            <a:r>
              <a:rPr lang="ru-RU" sz="16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.</a:t>
            </a:r>
            <a:endParaRPr lang="ru-RU" sz="16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3CE4078-FAF2-37B0-ED78-CC20797F749D}"/>
              </a:ext>
            </a:extLst>
          </p:cNvPr>
          <p:cNvSpPr txBox="1"/>
          <p:nvPr/>
        </p:nvSpPr>
        <p:spPr>
          <a:xfrm>
            <a:off x="3487269" y="2089103"/>
            <a:ext cx="2393576" cy="23416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lnSpc>
                <a:spcPct val="115000"/>
              </a:lnSpc>
              <a:spcAft>
                <a:spcPts val="800"/>
              </a:spcAft>
              <a:tabLst>
                <a:tab pos="457200" algn="l"/>
              </a:tabLst>
            </a:pPr>
            <a:r>
              <a:rPr lang="ru-RU" sz="16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Дослідити</a:t>
            </a:r>
            <a:r>
              <a:rPr lang="ru-RU" sz="16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ru-RU" sz="16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особливості</a:t>
            </a:r>
            <a:r>
              <a:rPr lang="ru-RU" sz="16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нового типу </a:t>
            </a:r>
            <a:r>
              <a:rPr lang="ru-RU" sz="16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перерахувань</a:t>
            </a:r>
            <a:r>
              <a:rPr lang="ru-RU" sz="16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ru-RU" sz="16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enum</a:t>
            </a:r>
            <a:r>
              <a:rPr lang="ru-RU" sz="16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ru-RU" sz="16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class</a:t>
            </a:r>
            <a:r>
              <a:rPr lang="ru-RU" sz="16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у C++11, </a:t>
            </a:r>
            <a:r>
              <a:rPr lang="ru-RU" sz="16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їх</a:t>
            </a:r>
            <a:r>
              <a:rPr lang="ru-RU" sz="16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ru-RU" sz="16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сильну</a:t>
            </a:r>
            <a:r>
              <a:rPr lang="ru-RU" sz="16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ru-RU" sz="16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типізацію</a:t>
            </a:r>
            <a:r>
              <a:rPr lang="ru-RU" sz="16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, </a:t>
            </a:r>
            <a:r>
              <a:rPr lang="ru-RU" sz="16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безпечність</a:t>
            </a:r>
            <a:r>
              <a:rPr lang="ru-RU" sz="16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та </a:t>
            </a:r>
            <a:r>
              <a:rPr lang="ru-RU" sz="16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переваги</a:t>
            </a:r>
            <a:r>
              <a:rPr lang="ru-RU" sz="16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над </a:t>
            </a:r>
            <a:r>
              <a:rPr lang="ru-RU" sz="16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класичними</a:t>
            </a:r>
            <a:r>
              <a:rPr lang="ru-RU" sz="16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ru-RU" sz="16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перерахуваннями</a:t>
            </a:r>
            <a:r>
              <a:rPr lang="ru-RU" sz="16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С.</a:t>
            </a:r>
            <a:endParaRPr lang="ru-RU" sz="16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2D13578-0867-1DF5-B16E-5C870AE55761}"/>
              </a:ext>
            </a:extLst>
          </p:cNvPr>
          <p:cNvSpPr txBox="1"/>
          <p:nvPr/>
        </p:nvSpPr>
        <p:spPr>
          <a:xfrm>
            <a:off x="6265206" y="2089103"/>
            <a:ext cx="2940423" cy="2058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lnSpc>
                <a:spcPct val="115000"/>
              </a:lnSpc>
              <a:spcAft>
                <a:spcPts val="800"/>
              </a:spcAft>
              <a:tabLst>
                <a:tab pos="457200" algn="l"/>
              </a:tabLst>
            </a:pPr>
            <a:r>
              <a:rPr lang="ru-RU" sz="16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Реалізувати</a:t>
            </a:r>
            <a:r>
              <a:rPr lang="ru-RU" sz="16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за </a:t>
            </a:r>
            <a:r>
              <a:rPr lang="ru-RU" sz="16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допомогою</a:t>
            </a:r>
            <a:r>
              <a:rPr lang="ru-RU" sz="16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ru-RU" sz="16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перерахувань</a:t>
            </a:r>
            <a:r>
              <a:rPr lang="ru-RU" sz="16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ru-RU" sz="16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ввід</a:t>
            </a:r>
            <a:r>
              <a:rPr lang="ru-RU" sz="16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/</a:t>
            </a:r>
            <a:r>
              <a:rPr lang="ru-RU" sz="16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вивід</a:t>
            </a:r>
            <a:r>
              <a:rPr lang="ru-RU" sz="16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для таких </a:t>
            </a:r>
            <a:r>
              <a:rPr lang="ru-RU" sz="16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сутностей</a:t>
            </a:r>
            <a:r>
              <a:rPr lang="ru-RU" sz="16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:</a:t>
            </a:r>
            <a:br>
              <a:rPr lang="ru-RU" sz="16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</a:br>
            <a:r>
              <a:rPr lang="ru-RU" sz="16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– </a:t>
            </a:r>
            <a:r>
              <a:rPr lang="ru-RU" sz="16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дні</a:t>
            </a:r>
            <a:r>
              <a:rPr lang="ru-RU" sz="16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ru-RU" sz="16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тижня</a:t>
            </a:r>
            <a:r>
              <a:rPr lang="ru-RU" sz="16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;</a:t>
            </a:r>
            <a:br>
              <a:rPr lang="ru-RU" sz="16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</a:br>
            <a:r>
              <a:rPr lang="ru-RU" sz="16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– </a:t>
            </a:r>
            <a:r>
              <a:rPr lang="ru-RU" sz="16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місяці</a:t>
            </a:r>
            <a:r>
              <a:rPr lang="ru-RU" sz="16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року;</a:t>
            </a:r>
            <a:br>
              <a:rPr lang="ru-RU" sz="16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</a:br>
            <a:r>
              <a:rPr lang="ru-RU" sz="16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– </a:t>
            </a:r>
            <a:r>
              <a:rPr lang="ru-RU" sz="16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кольори</a:t>
            </a:r>
            <a:r>
              <a:rPr lang="ru-RU" sz="16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спектра;</a:t>
            </a:r>
            <a:br>
              <a:rPr lang="ru-RU" sz="16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</a:br>
            <a:r>
              <a:rPr lang="ru-RU" sz="16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– </a:t>
            </a:r>
            <a:r>
              <a:rPr lang="ru-RU" sz="16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шахові</a:t>
            </a:r>
            <a:r>
              <a:rPr lang="ru-RU" sz="16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ru-RU" sz="16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фігури</a:t>
            </a:r>
            <a:r>
              <a:rPr lang="ru-RU" sz="16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.</a:t>
            </a:r>
            <a:endParaRPr lang="ru-RU" sz="16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31068FF-797B-C91D-099C-624156329F4E}"/>
              </a:ext>
            </a:extLst>
          </p:cNvPr>
          <p:cNvSpPr txBox="1"/>
          <p:nvPr/>
        </p:nvSpPr>
        <p:spPr>
          <a:xfrm>
            <a:off x="9205629" y="2073239"/>
            <a:ext cx="2290482" cy="23416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lnSpc>
                <a:spcPct val="115000"/>
              </a:lnSpc>
              <a:spcAft>
                <a:spcPts val="800"/>
              </a:spcAft>
              <a:tabLst>
                <a:tab pos="457200" algn="l"/>
              </a:tabLst>
            </a:pPr>
            <a:r>
              <a:rPr lang="ru-RU" sz="16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Створити</a:t>
            </a:r>
            <a:r>
              <a:rPr lang="ru-RU" sz="16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структуру Card та </a:t>
            </a:r>
            <a:r>
              <a:rPr lang="ru-RU" sz="16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перерахування</a:t>
            </a:r>
            <a:r>
              <a:rPr lang="ru-RU" sz="16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мастей і </a:t>
            </a:r>
            <a:r>
              <a:rPr lang="ru-RU" sz="16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рангів</a:t>
            </a:r>
            <a:r>
              <a:rPr lang="ru-RU" sz="16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, а також </a:t>
            </a:r>
            <a:r>
              <a:rPr lang="ru-RU" sz="16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реалізувати</a:t>
            </a:r>
            <a:r>
              <a:rPr lang="ru-RU" sz="16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ru-RU" sz="16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логічну</a:t>
            </a:r>
            <a:r>
              <a:rPr lang="ru-RU" sz="16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ru-RU" sz="16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функцію</a:t>
            </a:r>
            <a:r>
              <a:rPr lang="ru-RU" sz="16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ru-RU" sz="16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визначення</a:t>
            </a:r>
            <a:r>
              <a:rPr lang="ru-RU" sz="16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“</a:t>
            </a:r>
            <a:r>
              <a:rPr lang="ru-RU" sz="16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биття</a:t>
            </a:r>
            <a:r>
              <a:rPr lang="ru-RU" sz="16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” </a:t>
            </a:r>
            <a:r>
              <a:rPr lang="ru-RU" sz="16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карти</a:t>
            </a:r>
            <a:r>
              <a:rPr lang="ru-RU" sz="16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з </a:t>
            </a:r>
            <a:r>
              <a:rPr lang="ru-RU" sz="16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урахуванням</a:t>
            </a:r>
            <a:r>
              <a:rPr lang="ru-RU" sz="16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ru-RU" sz="16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козирної</a:t>
            </a:r>
            <a:r>
              <a:rPr lang="ru-RU" sz="16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ru-RU" sz="16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масті</a:t>
            </a:r>
            <a:r>
              <a:rPr lang="ru-RU" sz="16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.</a:t>
            </a:r>
            <a:endParaRPr lang="ru-RU" sz="16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CF7B744-565E-43B5-01F7-4C4FD4FB4BBF}"/>
              </a:ext>
            </a:extLst>
          </p:cNvPr>
          <p:cNvSpPr txBox="1"/>
          <p:nvPr/>
        </p:nvSpPr>
        <p:spPr>
          <a:xfrm>
            <a:off x="425821" y="4496199"/>
            <a:ext cx="2102225" cy="17753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lnSpc>
                <a:spcPct val="115000"/>
              </a:lnSpc>
              <a:spcAft>
                <a:spcPts val="800"/>
              </a:spcAft>
              <a:tabLst>
                <a:tab pos="457200" algn="l"/>
              </a:tabLst>
            </a:pPr>
            <a:r>
              <a:rPr lang="ru-RU" sz="16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Створити</a:t>
            </a:r>
            <a:r>
              <a:rPr lang="ru-RU" sz="16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ru-RU" sz="16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перелік</a:t>
            </a:r>
            <a:r>
              <a:rPr lang="ru-RU" sz="16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ru-RU" sz="16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одиниць</a:t>
            </a:r>
            <a:r>
              <a:rPr lang="ru-RU" sz="16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ru-RU" sz="16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довжини</a:t>
            </a:r>
            <a:r>
              <a:rPr lang="ru-RU" sz="16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та </a:t>
            </a:r>
            <a:r>
              <a:rPr lang="ru-RU" sz="16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функцію</a:t>
            </a:r>
            <a:r>
              <a:rPr lang="ru-RU" sz="16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ru-RU" sz="16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перерахунку</a:t>
            </a:r>
            <a:r>
              <a:rPr lang="ru-RU" sz="16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в </a:t>
            </a:r>
            <a:r>
              <a:rPr lang="ru-RU" sz="16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метри</a:t>
            </a:r>
            <a:r>
              <a:rPr lang="ru-RU" sz="16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, </a:t>
            </a:r>
            <a:r>
              <a:rPr lang="ru-RU" sz="16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використовуючи</a:t>
            </a:r>
            <a:r>
              <a:rPr lang="ru-RU" sz="16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типи </a:t>
            </a:r>
            <a:r>
              <a:rPr lang="ru-RU" sz="16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enum</a:t>
            </a:r>
            <a:r>
              <a:rPr lang="ru-RU" sz="16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/ </a:t>
            </a:r>
            <a:r>
              <a:rPr lang="ru-RU" sz="16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enum</a:t>
            </a:r>
            <a:r>
              <a:rPr lang="ru-RU" sz="16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ru-RU" sz="16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class</a:t>
            </a:r>
            <a:r>
              <a:rPr lang="ru-RU" sz="16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.</a:t>
            </a:r>
            <a:endParaRPr lang="ru-RU" sz="16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1C38D98-E169-97DF-E3CE-E63DCF0E43D6}"/>
              </a:ext>
            </a:extLst>
          </p:cNvPr>
          <p:cNvSpPr txBox="1"/>
          <p:nvPr/>
        </p:nvSpPr>
        <p:spPr>
          <a:xfrm>
            <a:off x="2469774" y="4565713"/>
            <a:ext cx="2102225" cy="2058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lnSpc>
                <a:spcPct val="115000"/>
              </a:lnSpc>
              <a:spcAft>
                <a:spcPts val="800"/>
              </a:spcAft>
              <a:tabLst>
                <a:tab pos="457200" algn="l"/>
              </a:tabLst>
            </a:pPr>
            <a:r>
              <a:rPr lang="ru-RU" sz="16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Реалізувати</a:t>
            </a:r>
            <a:r>
              <a:rPr lang="ru-RU" sz="16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ru-RU" sz="16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відмінювання</a:t>
            </a:r>
            <a:r>
              <a:rPr lang="ru-RU" sz="16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ru-RU" sz="16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українських</a:t>
            </a:r>
            <a:r>
              <a:rPr lang="ru-RU" sz="16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ru-RU" sz="16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слів</a:t>
            </a:r>
            <a:r>
              <a:rPr lang="ru-RU" sz="16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ru-RU" sz="16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відповідно</a:t>
            </a:r>
            <a:r>
              <a:rPr lang="ru-RU" sz="16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до </a:t>
            </a:r>
            <a:r>
              <a:rPr lang="ru-RU" sz="16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значення</a:t>
            </a:r>
            <a:r>
              <a:rPr lang="ru-RU" sz="16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ru-RU" sz="16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перерахування</a:t>
            </a:r>
            <a:r>
              <a:rPr lang="ru-RU" sz="16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“</a:t>
            </a:r>
            <a:r>
              <a:rPr lang="ru-RU" sz="16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Відмінок</a:t>
            </a:r>
            <a:r>
              <a:rPr lang="ru-RU" sz="16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”.</a:t>
            </a:r>
            <a:endParaRPr lang="ru-RU" sz="16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847D548C-29F8-5D3C-2383-CCA677121BC9}"/>
              </a:ext>
            </a:extLst>
          </p:cNvPr>
          <p:cNvSpPr txBox="1"/>
          <p:nvPr/>
        </p:nvSpPr>
        <p:spPr>
          <a:xfrm>
            <a:off x="8231855" y="4565713"/>
            <a:ext cx="2624404" cy="17753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lnSpc>
                <a:spcPct val="115000"/>
              </a:lnSpc>
              <a:spcAft>
                <a:spcPts val="800"/>
              </a:spcAft>
              <a:tabLst>
                <a:tab pos="457200" algn="l"/>
              </a:tabLst>
            </a:pPr>
            <a:r>
              <a:rPr lang="ru-RU" sz="16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Створити</a:t>
            </a:r>
            <a:r>
              <a:rPr lang="ru-RU" sz="16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ru-RU" sz="16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перерахування</a:t>
            </a:r>
            <a:r>
              <a:rPr lang="ru-RU" sz="16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команд руху корабля та початкового курсу, </a:t>
            </a:r>
            <a:r>
              <a:rPr lang="ru-RU" sz="16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визначити</a:t>
            </a:r>
            <a:r>
              <a:rPr lang="ru-RU" sz="16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ru-RU" sz="16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кінцевий</a:t>
            </a:r>
            <a:r>
              <a:rPr lang="ru-RU" sz="16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ru-RU" sz="16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напрямок</a:t>
            </a:r>
            <a:r>
              <a:rPr lang="ru-RU" sz="16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та </a:t>
            </a:r>
            <a:r>
              <a:rPr lang="ru-RU" sz="16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абсолютне</a:t>
            </a:r>
            <a:r>
              <a:rPr lang="ru-RU" sz="16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ru-RU" sz="16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зміщення</a:t>
            </a:r>
            <a:r>
              <a:rPr lang="ru-RU" sz="16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корабля.</a:t>
            </a:r>
            <a:endParaRPr lang="ru-RU" sz="16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8CD58F1A-BA67-D695-4231-AC537519BC3B}"/>
              </a:ext>
            </a:extLst>
          </p:cNvPr>
          <p:cNvSpPr txBox="1"/>
          <p:nvPr/>
        </p:nvSpPr>
        <p:spPr>
          <a:xfrm>
            <a:off x="4094633" y="4565713"/>
            <a:ext cx="2001367" cy="2058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lnSpc>
                <a:spcPct val="115000"/>
              </a:lnSpc>
              <a:spcAft>
                <a:spcPts val="800"/>
              </a:spcAft>
              <a:tabLst>
                <a:tab pos="457200" algn="l"/>
              </a:tabLst>
            </a:pPr>
            <a:r>
              <a:rPr lang="ru-RU" sz="16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Порівняти</a:t>
            </a:r>
            <a:r>
              <a:rPr lang="ru-RU" sz="16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ru-RU" sz="16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реалізації</a:t>
            </a:r>
            <a:r>
              <a:rPr lang="ru-RU" sz="16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на </a:t>
            </a:r>
            <a:r>
              <a:rPr lang="ru-RU" sz="16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основі</a:t>
            </a:r>
            <a:r>
              <a:rPr lang="ru-RU" sz="16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ru-RU" sz="16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enum</a:t>
            </a:r>
            <a:r>
              <a:rPr lang="ru-RU" sz="16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(C) та </a:t>
            </a:r>
            <a:r>
              <a:rPr lang="ru-RU" sz="16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enum</a:t>
            </a:r>
            <a:r>
              <a:rPr lang="ru-RU" sz="16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ru-RU" sz="16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class</a:t>
            </a:r>
            <a:r>
              <a:rPr lang="ru-RU" sz="16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(C++) за </a:t>
            </a:r>
            <a:r>
              <a:rPr lang="ru-RU" sz="16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безпечністю</a:t>
            </a:r>
            <a:r>
              <a:rPr lang="ru-RU" sz="16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, </a:t>
            </a:r>
            <a:r>
              <a:rPr lang="ru-RU" sz="16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зручністю</a:t>
            </a:r>
            <a:r>
              <a:rPr lang="ru-RU" sz="16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ru-RU" sz="16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використання</a:t>
            </a:r>
            <a:r>
              <a:rPr lang="ru-RU" sz="16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та </a:t>
            </a:r>
            <a:r>
              <a:rPr lang="ru-RU" sz="16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швидкодією</a:t>
            </a:r>
            <a:r>
              <a:rPr lang="ru-RU" sz="16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.</a:t>
            </a:r>
            <a:endParaRPr lang="ru-RU" sz="16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1030" name="Picture 6">
            <a:extLst>
              <a:ext uri="{FF2B5EF4-FFF2-40B4-BE49-F238E27FC236}">
                <a16:creationId xmlns:a16="http://schemas.microsoft.com/office/drawing/2014/main" id="{0F6C0F07-A0F4-AA5C-2644-B0AEC7D40B7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267" b="14742"/>
          <a:stretch/>
        </p:blipFill>
        <p:spPr bwMode="auto">
          <a:xfrm>
            <a:off x="0" y="2073239"/>
            <a:ext cx="12192000" cy="52198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95930551-1BBC-F922-38F8-F8B0C52CCCD2}"/>
              </a:ext>
            </a:extLst>
          </p:cNvPr>
          <p:cNvSpPr txBox="1"/>
          <p:nvPr/>
        </p:nvSpPr>
        <p:spPr>
          <a:xfrm>
            <a:off x="6196858" y="4565713"/>
            <a:ext cx="1875866" cy="1775358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lvl="0">
              <a:lnSpc>
                <a:spcPct val="115000"/>
              </a:lnSpc>
              <a:spcAft>
                <a:spcPts val="800"/>
              </a:spcAft>
              <a:tabLst>
                <a:tab pos="457200" algn="l"/>
              </a:tabLst>
            </a:pPr>
            <a:r>
              <a:rPr lang="ru-RU" sz="16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Використати</a:t>
            </a:r>
            <a:r>
              <a:rPr lang="ru-RU" sz="16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ru-RU" sz="16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перерахування</a:t>
            </a:r>
            <a:r>
              <a:rPr lang="ru-RU" sz="16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ru-RU" sz="16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голосних</a:t>
            </a:r>
            <a:r>
              <a:rPr lang="ru-RU" sz="16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для </a:t>
            </a:r>
            <a:r>
              <a:rPr lang="ru-RU" sz="16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визначення</a:t>
            </a:r>
            <a:r>
              <a:rPr lang="ru-RU" sz="16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ru-RU" sz="16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кількості</a:t>
            </a:r>
            <a:r>
              <a:rPr lang="ru-RU" sz="16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ru-RU" sz="16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складів</a:t>
            </a:r>
            <a:r>
              <a:rPr lang="ru-RU" sz="16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у </a:t>
            </a:r>
            <a:r>
              <a:rPr lang="ru-RU" sz="16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фразі</a:t>
            </a:r>
            <a:r>
              <a:rPr lang="ru-RU" sz="16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.</a:t>
            </a:r>
            <a:endParaRPr lang="ru-RU" sz="16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85463179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A6BAE96-77E9-AC35-6E7A-68F67BE38D0A}"/>
              </a:ext>
            </a:extLst>
          </p:cNvPr>
          <p:cNvSpPr txBox="1"/>
          <p:nvPr/>
        </p:nvSpPr>
        <p:spPr>
          <a:xfrm>
            <a:off x="1062317" y="310807"/>
            <a:ext cx="9637059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uk-UA" sz="2400" b="1" dirty="0"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Мета</a:t>
            </a:r>
            <a:r>
              <a:rPr lang="ru-RU" sz="2400" b="1" dirty="0"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:</a:t>
            </a:r>
            <a:r>
              <a:rPr lang="ru-RU" sz="2400" b="1" kern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endParaRPr lang="ru-RU" sz="2400" b="1" kern="18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ctr"/>
            <a:r>
              <a:rPr lang="ru-RU" sz="2400" dirty="0"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Метою </a:t>
            </a:r>
            <a:r>
              <a:rPr lang="ru-RU" sz="24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даної</a:t>
            </a:r>
            <a:r>
              <a:rPr lang="ru-RU" sz="2400" dirty="0"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 </a:t>
            </a:r>
            <a:r>
              <a:rPr lang="ru-RU" sz="24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роботи</a:t>
            </a:r>
            <a:r>
              <a:rPr lang="ru-RU" sz="2400" dirty="0"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 є </a:t>
            </a:r>
            <a:r>
              <a:rPr lang="ru-RU" sz="24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вивчення</a:t>
            </a:r>
            <a:r>
              <a:rPr lang="ru-RU" sz="2400" dirty="0"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, </a:t>
            </a:r>
            <a:r>
              <a:rPr lang="ru-RU" sz="24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закріплення</a:t>
            </a:r>
            <a:r>
              <a:rPr lang="ru-RU" sz="2400" dirty="0"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 та </a:t>
            </a:r>
            <a:r>
              <a:rPr lang="ru-RU" sz="24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практичне</a:t>
            </a:r>
            <a:r>
              <a:rPr lang="ru-RU" sz="2400" dirty="0"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 </a:t>
            </a:r>
            <a:r>
              <a:rPr lang="ru-RU" sz="24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застосування</a:t>
            </a:r>
            <a:r>
              <a:rPr lang="ru-RU" sz="2400" dirty="0"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 </a:t>
            </a:r>
            <a:r>
              <a:rPr lang="ru-RU" sz="24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механізму</a:t>
            </a:r>
            <a:r>
              <a:rPr lang="ru-RU" sz="2400" dirty="0"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 </a:t>
            </a:r>
            <a:r>
              <a:rPr lang="ru-RU" sz="24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перерахувань</a:t>
            </a:r>
            <a:r>
              <a:rPr lang="ru-RU" sz="2400" dirty="0"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 (</a:t>
            </a:r>
            <a:r>
              <a:rPr lang="ru-RU" sz="24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enum</a:t>
            </a:r>
            <a:r>
              <a:rPr lang="ru-RU" sz="2400" dirty="0"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) у мовах </a:t>
            </a:r>
            <a:r>
              <a:rPr lang="ru-RU" sz="24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програмування</a:t>
            </a:r>
            <a:r>
              <a:rPr lang="ru-RU" sz="2400" dirty="0"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 C та C++, а також </a:t>
            </a:r>
            <a:r>
              <a:rPr lang="ru-RU" sz="24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порівняння</a:t>
            </a:r>
            <a:r>
              <a:rPr lang="ru-RU" sz="2400" dirty="0"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 </a:t>
            </a:r>
            <a:r>
              <a:rPr lang="ru-RU" sz="24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їх</a:t>
            </a:r>
            <a:r>
              <a:rPr lang="ru-RU" sz="2400" dirty="0"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 </a:t>
            </a:r>
            <a:r>
              <a:rPr lang="ru-RU" sz="24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можливостей</a:t>
            </a:r>
            <a:r>
              <a:rPr lang="ru-RU" sz="2400" dirty="0"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 та </a:t>
            </a:r>
            <a:r>
              <a:rPr lang="ru-RU" sz="24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продуктивності</a:t>
            </a:r>
            <a:r>
              <a:rPr lang="ru-RU" sz="2400" dirty="0"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.</a:t>
            </a:r>
            <a:endParaRPr lang="ru-RU" sz="2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2407622-5617-F184-F641-668D1E4BFA0A}"/>
              </a:ext>
            </a:extLst>
          </p:cNvPr>
          <p:cNvSpPr txBox="1"/>
          <p:nvPr/>
        </p:nvSpPr>
        <p:spPr>
          <a:xfrm>
            <a:off x="377637" y="2089103"/>
            <a:ext cx="2725271" cy="23416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lnSpc>
                <a:spcPct val="115000"/>
              </a:lnSpc>
              <a:spcAft>
                <a:spcPts val="800"/>
              </a:spcAft>
              <a:tabLst>
                <a:tab pos="457200" algn="l"/>
              </a:tabLst>
            </a:pPr>
            <a:r>
              <a:rPr lang="ru-RU" sz="16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Ознайомитися</a:t>
            </a:r>
            <a:r>
              <a:rPr lang="ru-RU" sz="16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з синтаксисом і принципами </a:t>
            </a:r>
            <a:r>
              <a:rPr lang="ru-RU" sz="16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роботи</a:t>
            </a:r>
            <a:r>
              <a:rPr lang="ru-RU" sz="16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ru-RU" sz="16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перерахувань</a:t>
            </a:r>
            <a:r>
              <a:rPr lang="ru-RU" sz="16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у </a:t>
            </a:r>
            <a:r>
              <a:rPr lang="ru-RU" sz="16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мові</a:t>
            </a:r>
            <a:r>
              <a:rPr lang="ru-RU" sz="16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C, </a:t>
            </a:r>
            <a:r>
              <a:rPr lang="ru-RU" sz="16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їх</a:t>
            </a:r>
            <a:r>
              <a:rPr lang="ru-RU" sz="16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ru-RU" sz="16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використанням</a:t>
            </a:r>
            <a:r>
              <a:rPr lang="ru-RU" sz="16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для </a:t>
            </a:r>
            <a:r>
              <a:rPr lang="ru-RU" sz="16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створення</a:t>
            </a:r>
            <a:r>
              <a:rPr lang="ru-RU" sz="16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ru-RU" sz="16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наборів</a:t>
            </a:r>
            <a:r>
              <a:rPr lang="ru-RU" sz="16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ru-RU" sz="16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цілочислових</a:t>
            </a:r>
            <a:r>
              <a:rPr lang="ru-RU" sz="16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констант та </a:t>
            </a:r>
            <a:r>
              <a:rPr lang="ru-RU" sz="16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організацією</a:t>
            </a:r>
            <a:r>
              <a:rPr lang="ru-RU" sz="16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ru-RU" sz="16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базових</a:t>
            </a:r>
            <a:r>
              <a:rPr lang="ru-RU" sz="16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ru-RU" sz="16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операцій</a:t>
            </a:r>
            <a:r>
              <a:rPr lang="ru-RU" sz="16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вводу-</a:t>
            </a:r>
            <a:r>
              <a:rPr lang="ru-RU" sz="16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виводу</a:t>
            </a:r>
            <a:r>
              <a:rPr lang="ru-RU" sz="16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.</a:t>
            </a:r>
            <a:endParaRPr lang="ru-RU" sz="16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3CE4078-FAF2-37B0-ED78-CC20797F749D}"/>
              </a:ext>
            </a:extLst>
          </p:cNvPr>
          <p:cNvSpPr txBox="1"/>
          <p:nvPr/>
        </p:nvSpPr>
        <p:spPr>
          <a:xfrm>
            <a:off x="3487269" y="2089103"/>
            <a:ext cx="2393576" cy="23416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lnSpc>
                <a:spcPct val="115000"/>
              </a:lnSpc>
              <a:spcAft>
                <a:spcPts val="800"/>
              </a:spcAft>
              <a:tabLst>
                <a:tab pos="457200" algn="l"/>
              </a:tabLst>
            </a:pPr>
            <a:r>
              <a:rPr lang="ru-RU" sz="16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Дослідити</a:t>
            </a:r>
            <a:r>
              <a:rPr lang="ru-RU" sz="16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ru-RU" sz="16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особливості</a:t>
            </a:r>
            <a:r>
              <a:rPr lang="ru-RU" sz="16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нового типу </a:t>
            </a:r>
            <a:r>
              <a:rPr lang="ru-RU" sz="16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перерахувань</a:t>
            </a:r>
            <a:r>
              <a:rPr lang="ru-RU" sz="16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ru-RU" sz="16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enum</a:t>
            </a:r>
            <a:r>
              <a:rPr lang="ru-RU" sz="16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ru-RU" sz="16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class</a:t>
            </a:r>
            <a:r>
              <a:rPr lang="ru-RU" sz="16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у C++11, </a:t>
            </a:r>
            <a:r>
              <a:rPr lang="ru-RU" sz="16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їх</a:t>
            </a:r>
            <a:r>
              <a:rPr lang="ru-RU" sz="16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ru-RU" sz="16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сильну</a:t>
            </a:r>
            <a:r>
              <a:rPr lang="ru-RU" sz="16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ru-RU" sz="16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типізацію</a:t>
            </a:r>
            <a:r>
              <a:rPr lang="ru-RU" sz="16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, </a:t>
            </a:r>
            <a:r>
              <a:rPr lang="ru-RU" sz="16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безпечність</a:t>
            </a:r>
            <a:r>
              <a:rPr lang="ru-RU" sz="16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та </a:t>
            </a:r>
            <a:r>
              <a:rPr lang="ru-RU" sz="16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переваги</a:t>
            </a:r>
            <a:r>
              <a:rPr lang="ru-RU" sz="16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над </a:t>
            </a:r>
            <a:r>
              <a:rPr lang="ru-RU" sz="16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класичними</a:t>
            </a:r>
            <a:r>
              <a:rPr lang="ru-RU" sz="16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ru-RU" sz="16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перерахуваннями</a:t>
            </a:r>
            <a:r>
              <a:rPr lang="ru-RU" sz="16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С.</a:t>
            </a:r>
            <a:endParaRPr lang="ru-RU" sz="16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2D13578-0867-1DF5-B16E-5C870AE55761}"/>
              </a:ext>
            </a:extLst>
          </p:cNvPr>
          <p:cNvSpPr txBox="1"/>
          <p:nvPr/>
        </p:nvSpPr>
        <p:spPr>
          <a:xfrm>
            <a:off x="6265206" y="2089103"/>
            <a:ext cx="2940423" cy="2058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lnSpc>
                <a:spcPct val="115000"/>
              </a:lnSpc>
              <a:spcAft>
                <a:spcPts val="800"/>
              </a:spcAft>
              <a:tabLst>
                <a:tab pos="457200" algn="l"/>
              </a:tabLst>
            </a:pPr>
            <a:r>
              <a:rPr lang="ru-RU" sz="16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Реалізувати</a:t>
            </a:r>
            <a:r>
              <a:rPr lang="ru-RU" sz="16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за </a:t>
            </a:r>
            <a:r>
              <a:rPr lang="ru-RU" sz="16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допомогою</a:t>
            </a:r>
            <a:r>
              <a:rPr lang="ru-RU" sz="16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ru-RU" sz="16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перерахувань</a:t>
            </a:r>
            <a:r>
              <a:rPr lang="ru-RU" sz="16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ru-RU" sz="16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ввід</a:t>
            </a:r>
            <a:r>
              <a:rPr lang="ru-RU" sz="16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/</a:t>
            </a:r>
            <a:r>
              <a:rPr lang="ru-RU" sz="16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вивід</a:t>
            </a:r>
            <a:r>
              <a:rPr lang="ru-RU" sz="16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для таких </a:t>
            </a:r>
            <a:r>
              <a:rPr lang="ru-RU" sz="16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сутностей</a:t>
            </a:r>
            <a:r>
              <a:rPr lang="ru-RU" sz="16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:</a:t>
            </a:r>
            <a:br>
              <a:rPr lang="ru-RU" sz="16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</a:br>
            <a:r>
              <a:rPr lang="ru-RU" sz="16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– </a:t>
            </a:r>
            <a:r>
              <a:rPr lang="ru-RU" sz="16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дні</a:t>
            </a:r>
            <a:r>
              <a:rPr lang="ru-RU" sz="16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ru-RU" sz="16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тижня</a:t>
            </a:r>
            <a:r>
              <a:rPr lang="ru-RU" sz="16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;</a:t>
            </a:r>
            <a:br>
              <a:rPr lang="ru-RU" sz="16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</a:br>
            <a:r>
              <a:rPr lang="ru-RU" sz="16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– </a:t>
            </a:r>
            <a:r>
              <a:rPr lang="ru-RU" sz="16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місяці</a:t>
            </a:r>
            <a:r>
              <a:rPr lang="ru-RU" sz="16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року;</a:t>
            </a:r>
            <a:br>
              <a:rPr lang="ru-RU" sz="16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</a:br>
            <a:r>
              <a:rPr lang="ru-RU" sz="16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– </a:t>
            </a:r>
            <a:r>
              <a:rPr lang="ru-RU" sz="16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кольори</a:t>
            </a:r>
            <a:r>
              <a:rPr lang="ru-RU" sz="16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спектра;</a:t>
            </a:r>
            <a:br>
              <a:rPr lang="ru-RU" sz="16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</a:br>
            <a:r>
              <a:rPr lang="ru-RU" sz="16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– </a:t>
            </a:r>
            <a:r>
              <a:rPr lang="ru-RU" sz="16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шахові</a:t>
            </a:r>
            <a:r>
              <a:rPr lang="ru-RU" sz="16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ru-RU" sz="16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фігури</a:t>
            </a:r>
            <a:r>
              <a:rPr lang="ru-RU" sz="16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.</a:t>
            </a:r>
            <a:endParaRPr lang="ru-RU" sz="16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31068FF-797B-C91D-099C-624156329F4E}"/>
              </a:ext>
            </a:extLst>
          </p:cNvPr>
          <p:cNvSpPr txBox="1"/>
          <p:nvPr/>
        </p:nvSpPr>
        <p:spPr>
          <a:xfrm>
            <a:off x="9205629" y="2073239"/>
            <a:ext cx="2290482" cy="23416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lnSpc>
                <a:spcPct val="115000"/>
              </a:lnSpc>
              <a:spcAft>
                <a:spcPts val="800"/>
              </a:spcAft>
              <a:tabLst>
                <a:tab pos="457200" algn="l"/>
              </a:tabLst>
            </a:pPr>
            <a:r>
              <a:rPr lang="ru-RU" sz="16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Створити</a:t>
            </a:r>
            <a:r>
              <a:rPr lang="ru-RU" sz="16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структуру Card та </a:t>
            </a:r>
            <a:r>
              <a:rPr lang="ru-RU" sz="16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перерахування</a:t>
            </a:r>
            <a:r>
              <a:rPr lang="ru-RU" sz="16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мастей і </a:t>
            </a:r>
            <a:r>
              <a:rPr lang="ru-RU" sz="16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рангів</a:t>
            </a:r>
            <a:r>
              <a:rPr lang="ru-RU" sz="16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, а також </a:t>
            </a:r>
            <a:r>
              <a:rPr lang="ru-RU" sz="16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реалізувати</a:t>
            </a:r>
            <a:r>
              <a:rPr lang="ru-RU" sz="16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ru-RU" sz="16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логічну</a:t>
            </a:r>
            <a:r>
              <a:rPr lang="ru-RU" sz="16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ru-RU" sz="16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функцію</a:t>
            </a:r>
            <a:r>
              <a:rPr lang="ru-RU" sz="16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ru-RU" sz="16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визначення</a:t>
            </a:r>
            <a:r>
              <a:rPr lang="ru-RU" sz="16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“</a:t>
            </a:r>
            <a:r>
              <a:rPr lang="ru-RU" sz="16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биття</a:t>
            </a:r>
            <a:r>
              <a:rPr lang="ru-RU" sz="16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” </a:t>
            </a:r>
            <a:r>
              <a:rPr lang="ru-RU" sz="16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карти</a:t>
            </a:r>
            <a:r>
              <a:rPr lang="ru-RU" sz="16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з </a:t>
            </a:r>
            <a:r>
              <a:rPr lang="ru-RU" sz="16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урахуванням</a:t>
            </a:r>
            <a:r>
              <a:rPr lang="ru-RU" sz="16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ru-RU" sz="16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козирної</a:t>
            </a:r>
            <a:r>
              <a:rPr lang="ru-RU" sz="16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ru-RU" sz="16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масті</a:t>
            </a:r>
            <a:r>
              <a:rPr lang="ru-RU" sz="16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.</a:t>
            </a:r>
            <a:endParaRPr lang="ru-RU" sz="16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CF7B744-565E-43B5-01F7-4C4FD4FB4BBF}"/>
              </a:ext>
            </a:extLst>
          </p:cNvPr>
          <p:cNvSpPr txBox="1"/>
          <p:nvPr/>
        </p:nvSpPr>
        <p:spPr>
          <a:xfrm>
            <a:off x="425821" y="4496199"/>
            <a:ext cx="2102225" cy="17753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lnSpc>
                <a:spcPct val="115000"/>
              </a:lnSpc>
              <a:spcAft>
                <a:spcPts val="800"/>
              </a:spcAft>
              <a:tabLst>
                <a:tab pos="457200" algn="l"/>
              </a:tabLst>
            </a:pPr>
            <a:r>
              <a:rPr lang="ru-RU" sz="16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Створити</a:t>
            </a:r>
            <a:r>
              <a:rPr lang="ru-RU" sz="16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ru-RU" sz="16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перелік</a:t>
            </a:r>
            <a:r>
              <a:rPr lang="ru-RU" sz="16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ru-RU" sz="16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одиниць</a:t>
            </a:r>
            <a:r>
              <a:rPr lang="ru-RU" sz="16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ru-RU" sz="16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довжини</a:t>
            </a:r>
            <a:r>
              <a:rPr lang="ru-RU" sz="16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та </a:t>
            </a:r>
            <a:r>
              <a:rPr lang="ru-RU" sz="16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функцію</a:t>
            </a:r>
            <a:r>
              <a:rPr lang="ru-RU" sz="16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ru-RU" sz="16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перерахунку</a:t>
            </a:r>
            <a:r>
              <a:rPr lang="ru-RU" sz="16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в </a:t>
            </a:r>
            <a:r>
              <a:rPr lang="ru-RU" sz="16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метри</a:t>
            </a:r>
            <a:r>
              <a:rPr lang="ru-RU" sz="16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, </a:t>
            </a:r>
            <a:r>
              <a:rPr lang="ru-RU" sz="16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використовуючи</a:t>
            </a:r>
            <a:r>
              <a:rPr lang="ru-RU" sz="16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типи </a:t>
            </a:r>
            <a:r>
              <a:rPr lang="ru-RU" sz="16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enum</a:t>
            </a:r>
            <a:r>
              <a:rPr lang="ru-RU" sz="16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/ </a:t>
            </a:r>
            <a:r>
              <a:rPr lang="ru-RU" sz="16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enum</a:t>
            </a:r>
            <a:r>
              <a:rPr lang="ru-RU" sz="16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ru-RU" sz="16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class</a:t>
            </a:r>
            <a:r>
              <a:rPr lang="ru-RU" sz="16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.</a:t>
            </a:r>
            <a:endParaRPr lang="ru-RU" sz="16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1C38D98-E169-97DF-E3CE-E63DCF0E43D6}"/>
              </a:ext>
            </a:extLst>
          </p:cNvPr>
          <p:cNvSpPr txBox="1"/>
          <p:nvPr/>
        </p:nvSpPr>
        <p:spPr>
          <a:xfrm>
            <a:off x="2469774" y="4565713"/>
            <a:ext cx="2102225" cy="2058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lnSpc>
                <a:spcPct val="115000"/>
              </a:lnSpc>
              <a:spcAft>
                <a:spcPts val="800"/>
              </a:spcAft>
              <a:tabLst>
                <a:tab pos="457200" algn="l"/>
              </a:tabLst>
            </a:pPr>
            <a:r>
              <a:rPr lang="ru-RU" sz="16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Реалізувати</a:t>
            </a:r>
            <a:r>
              <a:rPr lang="ru-RU" sz="16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ru-RU" sz="16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відмінювання</a:t>
            </a:r>
            <a:r>
              <a:rPr lang="ru-RU" sz="16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ru-RU" sz="16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українських</a:t>
            </a:r>
            <a:r>
              <a:rPr lang="ru-RU" sz="16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ru-RU" sz="16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слів</a:t>
            </a:r>
            <a:r>
              <a:rPr lang="ru-RU" sz="16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ru-RU" sz="16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відповідно</a:t>
            </a:r>
            <a:r>
              <a:rPr lang="ru-RU" sz="16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до </a:t>
            </a:r>
            <a:r>
              <a:rPr lang="ru-RU" sz="16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значення</a:t>
            </a:r>
            <a:r>
              <a:rPr lang="ru-RU" sz="16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ru-RU" sz="16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перерахування</a:t>
            </a:r>
            <a:r>
              <a:rPr lang="ru-RU" sz="16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“</a:t>
            </a:r>
            <a:r>
              <a:rPr lang="ru-RU" sz="16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Відмінок</a:t>
            </a:r>
            <a:r>
              <a:rPr lang="ru-RU" sz="16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”.</a:t>
            </a:r>
            <a:endParaRPr lang="ru-RU" sz="16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5930551-1BBC-F922-38F8-F8B0C52CCCD2}"/>
              </a:ext>
            </a:extLst>
          </p:cNvPr>
          <p:cNvSpPr txBox="1"/>
          <p:nvPr/>
        </p:nvSpPr>
        <p:spPr>
          <a:xfrm>
            <a:off x="6196858" y="4565713"/>
            <a:ext cx="1875866" cy="17753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lnSpc>
                <a:spcPct val="115000"/>
              </a:lnSpc>
              <a:spcAft>
                <a:spcPts val="800"/>
              </a:spcAft>
              <a:tabLst>
                <a:tab pos="457200" algn="l"/>
              </a:tabLst>
            </a:pPr>
            <a:r>
              <a:rPr lang="ru-RU" sz="16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Використати</a:t>
            </a:r>
            <a:r>
              <a:rPr lang="ru-RU" sz="16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ru-RU" sz="16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перерахування</a:t>
            </a:r>
            <a:r>
              <a:rPr lang="ru-RU" sz="16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ru-RU" sz="16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голосних</a:t>
            </a:r>
            <a:r>
              <a:rPr lang="ru-RU" sz="16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для </a:t>
            </a:r>
            <a:r>
              <a:rPr lang="ru-RU" sz="16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визначення</a:t>
            </a:r>
            <a:r>
              <a:rPr lang="ru-RU" sz="16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ru-RU" sz="16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кількості</a:t>
            </a:r>
            <a:r>
              <a:rPr lang="ru-RU" sz="16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ru-RU" sz="16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складів</a:t>
            </a:r>
            <a:r>
              <a:rPr lang="ru-RU" sz="16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у </a:t>
            </a:r>
            <a:r>
              <a:rPr lang="ru-RU" sz="16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фразі</a:t>
            </a:r>
            <a:r>
              <a:rPr lang="ru-RU" sz="16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.</a:t>
            </a:r>
            <a:endParaRPr lang="ru-RU" sz="16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8CD58F1A-BA67-D695-4231-AC537519BC3B}"/>
              </a:ext>
            </a:extLst>
          </p:cNvPr>
          <p:cNvSpPr txBox="1"/>
          <p:nvPr/>
        </p:nvSpPr>
        <p:spPr>
          <a:xfrm>
            <a:off x="4094633" y="4565713"/>
            <a:ext cx="2001367" cy="2058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lnSpc>
                <a:spcPct val="115000"/>
              </a:lnSpc>
              <a:spcAft>
                <a:spcPts val="800"/>
              </a:spcAft>
              <a:tabLst>
                <a:tab pos="457200" algn="l"/>
              </a:tabLst>
            </a:pPr>
            <a:r>
              <a:rPr lang="ru-RU" sz="16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Порівняти</a:t>
            </a:r>
            <a:r>
              <a:rPr lang="ru-RU" sz="16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ru-RU" sz="16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реалізації</a:t>
            </a:r>
            <a:r>
              <a:rPr lang="ru-RU" sz="16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на </a:t>
            </a:r>
            <a:r>
              <a:rPr lang="ru-RU" sz="16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основі</a:t>
            </a:r>
            <a:r>
              <a:rPr lang="ru-RU" sz="16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ru-RU" sz="16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enum</a:t>
            </a:r>
            <a:r>
              <a:rPr lang="ru-RU" sz="16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(C) та </a:t>
            </a:r>
            <a:r>
              <a:rPr lang="ru-RU" sz="16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enum</a:t>
            </a:r>
            <a:r>
              <a:rPr lang="ru-RU" sz="16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ru-RU" sz="16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class</a:t>
            </a:r>
            <a:r>
              <a:rPr lang="ru-RU" sz="16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(C++) за </a:t>
            </a:r>
            <a:r>
              <a:rPr lang="ru-RU" sz="16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безпечністю</a:t>
            </a:r>
            <a:r>
              <a:rPr lang="ru-RU" sz="16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, </a:t>
            </a:r>
            <a:r>
              <a:rPr lang="ru-RU" sz="16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зручністю</a:t>
            </a:r>
            <a:r>
              <a:rPr lang="ru-RU" sz="16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ru-RU" sz="16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використання</a:t>
            </a:r>
            <a:r>
              <a:rPr lang="ru-RU" sz="16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та </a:t>
            </a:r>
            <a:r>
              <a:rPr lang="ru-RU" sz="16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швидкодією</a:t>
            </a:r>
            <a:r>
              <a:rPr lang="ru-RU" sz="16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.</a:t>
            </a:r>
            <a:endParaRPr lang="ru-RU" sz="16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1030" name="Picture 6">
            <a:extLst>
              <a:ext uri="{FF2B5EF4-FFF2-40B4-BE49-F238E27FC236}">
                <a16:creationId xmlns:a16="http://schemas.microsoft.com/office/drawing/2014/main" id="{0F6C0F07-A0F4-AA5C-2644-B0AEC7D40B7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267" b="14742"/>
          <a:stretch/>
        </p:blipFill>
        <p:spPr bwMode="auto">
          <a:xfrm>
            <a:off x="0" y="2073239"/>
            <a:ext cx="12192000" cy="52198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847D548C-29F8-5D3C-2383-CCA677121BC9}"/>
              </a:ext>
            </a:extLst>
          </p:cNvPr>
          <p:cNvSpPr txBox="1"/>
          <p:nvPr/>
        </p:nvSpPr>
        <p:spPr>
          <a:xfrm>
            <a:off x="8231855" y="4565713"/>
            <a:ext cx="2624404" cy="1775358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lvl="0">
              <a:lnSpc>
                <a:spcPct val="115000"/>
              </a:lnSpc>
              <a:spcAft>
                <a:spcPts val="800"/>
              </a:spcAft>
              <a:tabLst>
                <a:tab pos="457200" algn="l"/>
              </a:tabLst>
            </a:pPr>
            <a:r>
              <a:rPr lang="ru-RU" sz="16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Створити</a:t>
            </a:r>
            <a:r>
              <a:rPr lang="ru-RU" sz="16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ru-RU" sz="16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перерахування</a:t>
            </a:r>
            <a:r>
              <a:rPr lang="ru-RU" sz="16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команд руху корабля та початкового курсу, </a:t>
            </a:r>
            <a:r>
              <a:rPr lang="ru-RU" sz="16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визначити</a:t>
            </a:r>
            <a:r>
              <a:rPr lang="ru-RU" sz="16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ru-RU" sz="16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кінцевий</a:t>
            </a:r>
            <a:r>
              <a:rPr lang="ru-RU" sz="16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ru-RU" sz="16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напрямок</a:t>
            </a:r>
            <a:r>
              <a:rPr lang="ru-RU" sz="16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та </a:t>
            </a:r>
            <a:r>
              <a:rPr lang="ru-RU" sz="16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абсолютне</a:t>
            </a:r>
            <a:r>
              <a:rPr lang="ru-RU" sz="16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ru-RU" sz="16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зміщення</a:t>
            </a:r>
            <a:r>
              <a:rPr lang="ru-RU" sz="16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корабля.</a:t>
            </a:r>
            <a:endParaRPr lang="ru-RU" sz="16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88151579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A6BAE96-77E9-AC35-6E7A-68F67BE38D0A}"/>
              </a:ext>
            </a:extLst>
          </p:cNvPr>
          <p:cNvSpPr txBox="1"/>
          <p:nvPr/>
        </p:nvSpPr>
        <p:spPr>
          <a:xfrm>
            <a:off x="1062317" y="310807"/>
            <a:ext cx="9637059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uk-UA" sz="2400" b="1" dirty="0"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Мета</a:t>
            </a:r>
            <a:r>
              <a:rPr lang="ru-RU" sz="2400" b="1" dirty="0"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:</a:t>
            </a:r>
            <a:r>
              <a:rPr lang="ru-RU" sz="2400" b="1" kern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endParaRPr lang="ru-RU" sz="2400" b="1" kern="18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ctr"/>
            <a:r>
              <a:rPr lang="ru-RU" sz="2400" dirty="0"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Метою </a:t>
            </a:r>
            <a:r>
              <a:rPr lang="ru-RU" sz="24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даної</a:t>
            </a:r>
            <a:r>
              <a:rPr lang="ru-RU" sz="2400" dirty="0"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 </a:t>
            </a:r>
            <a:r>
              <a:rPr lang="ru-RU" sz="24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роботи</a:t>
            </a:r>
            <a:r>
              <a:rPr lang="ru-RU" sz="2400" dirty="0"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 є </a:t>
            </a:r>
            <a:r>
              <a:rPr lang="ru-RU" sz="24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вивчення</a:t>
            </a:r>
            <a:r>
              <a:rPr lang="ru-RU" sz="2400" dirty="0"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, </a:t>
            </a:r>
            <a:r>
              <a:rPr lang="ru-RU" sz="24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закріплення</a:t>
            </a:r>
            <a:r>
              <a:rPr lang="ru-RU" sz="2400" dirty="0"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 та </a:t>
            </a:r>
            <a:r>
              <a:rPr lang="ru-RU" sz="24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практичне</a:t>
            </a:r>
            <a:r>
              <a:rPr lang="ru-RU" sz="2400" dirty="0"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 </a:t>
            </a:r>
            <a:r>
              <a:rPr lang="ru-RU" sz="24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застосування</a:t>
            </a:r>
            <a:r>
              <a:rPr lang="ru-RU" sz="2400" dirty="0"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 </a:t>
            </a:r>
            <a:r>
              <a:rPr lang="ru-RU" sz="24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механізму</a:t>
            </a:r>
            <a:r>
              <a:rPr lang="ru-RU" sz="2400" dirty="0"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 </a:t>
            </a:r>
            <a:r>
              <a:rPr lang="ru-RU" sz="24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перерахувань</a:t>
            </a:r>
            <a:r>
              <a:rPr lang="ru-RU" sz="2400" dirty="0"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 (</a:t>
            </a:r>
            <a:r>
              <a:rPr lang="ru-RU" sz="24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enum</a:t>
            </a:r>
            <a:r>
              <a:rPr lang="ru-RU" sz="2400" dirty="0"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) у мовах </a:t>
            </a:r>
            <a:r>
              <a:rPr lang="ru-RU" sz="24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програмування</a:t>
            </a:r>
            <a:r>
              <a:rPr lang="ru-RU" sz="2400" dirty="0"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 C та C++, а також </a:t>
            </a:r>
            <a:r>
              <a:rPr lang="ru-RU" sz="24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порівняння</a:t>
            </a:r>
            <a:r>
              <a:rPr lang="ru-RU" sz="2400" dirty="0"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 </a:t>
            </a:r>
            <a:r>
              <a:rPr lang="ru-RU" sz="24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їх</a:t>
            </a:r>
            <a:r>
              <a:rPr lang="ru-RU" sz="2400" dirty="0"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 </a:t>
            </a:r>
            <a:r>
              <a:rPr lang="ru-RU" sz="24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можливостей</a:t>
            </a:r>
            <a:r>
              <a:rPr lang="ru-RU" sz="2400" dirty="0"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 та </a:t>
            </a:r>
            <a:r>
              <a:rPr lang="ru-RU" sz="24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продуктивності</a:t>
            </a:r>
            <a:r>
              <a:rPr lang="ru-RU" sz="2400" dirty="0"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.</a:t>
            </a:r>
            <a:endParaRPr lang="ru-RU" sz="2400" dirty="0"/>
          </a:p>
        </p:txBody>
      </p:sp>
      <p:pic>
        <p:nvPicPr>
          <p:cNvPr id="1030" name="Picture 6">
            <a:extLst>
              <a:ext uri="{FF2B5EF4-FFF2-40B4-BE49-F238E27FC236}">
                <a16:creationId xmlns:a16="http://schemas.microsoft.com/office/drawing/2014/main" id="{0F6C0F07-A0F4-AA5C-2644-B0AEC7D40B7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267" b="14742"/>
          <a:stretch/>
        </p:blipFill>
        <p:spPr bwMode="auto">
          <a:xfrm>
            <a:off x="0" y="2073239"/>
            <a:ext cx="12192000" cy="52198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C2407622-5617-F184-F641-668D1E4BFA0A}"/>
              </a:ext>
            </a:extLst>
          </p:cNvPr>
          <p:cNvSpPr txBox="1"/>
          <p:nvPr/>
        </p:nvSpPr>
        <p:spPr>
          <a:xfrm>
            <a:off x="377637" y="2089103"/>
            <a:ext cx="2725271" cy="2341667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lvl="0" algn="ctr">
              <a:lnSpc>
                <a:spcPct val="115000"/>
              </a:lnSpc>
              <a:spcAft>
                <a:spcPts val="800"/>
              </a:spcAft>
              <a:tabLst>
                <a:tab pos="457200" algn="l"/>
              </a:tabLst>
            </a:pPr>
            <a:r>
              <a:rPr lang="ru-RU" sz="16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Ознайомитися</a:t>
            </a:r>
            <a:r>
              <a:rPr lang="ru-RU" sz="16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з синтаксисом і принципами </a:t>
            </a:r>
            <a:r>
              <a:rPr lang="ru-RU" sz="16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роботи</a:t>
            </a:r>
            <a:r>
              <a:rPr lang="ru-RU" sz="16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ru-RU" sz="16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перерахувань</a:t>
            </a:r>
            <a:r>
              <a:rPr lang="ru-RU" sz="16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у </a:t>
            </a:r>
            <a:r>
              <a:rPr lang="ru-RU" sz="16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мові</a:t>
            </a:r>
            <a:r>
              <a:rPr lang="ru-RU" sz="16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C, </a:t>
            </a:r>
            <a:r>
              <a:rPr lang="ru-RU" sz="16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їх</a:t>
            </a:r>
            <a:r>
              <a:rPr lang="ru-RU" sz="16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ru-RU" sz="16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використанням</a:t>
            </a:r>
            <a:r>
              <a:rPr lang="ru-RU" sz="16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для </a:t>
            </a:r>
            <a:r>
              <a:rPr lang="ru-RU" sz="16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створення</a:t>
            </a:r>
            <a:r>
              <a:rPr lang="ru-RU" sz="16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ru-RU" sz="16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наборів</a:t>
            </a:r>
            <a:r>
              <a:rPr lang="ru-RU" sz="16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ru-RU" sz="16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цілочислових</a:t>
            </a:r>
            <a:r>
              <a:rPr lang="ru-RU" sz="16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констант та </a:t>
            </a:r>
            <a:r>
              <a:rPr lang="ru-RU" sz="16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організацією</a:t>
            </a:r>
            <a:r>
              <a:rPr lang="ru-RU" sz="16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ru-RU" sz="16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базових</a:t>
            </a:r>
            <a:r>
              <a:rPr lang="ru-RU" sz="16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ru-RU" sz="16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операцій</a:t>
            </a:r>
            <a:r>
              <a:rPr lang="ru-RU" sz="16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вводу-</a:t>
            </a:r>
            <a:r>
              <a:rPr lang="ru-RU" sz="16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виводу</a:t>
            </a:r>
            <a:r>
              <a:rPr lang="ru-RU" sz="16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.</a:t>
            </a:r>
            <a:endParaRPr lang="ru-RU" sz="16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3CE4078-FAF2-37B0-ED78-CC20797F749D}"/>
              </a:ext>
            </a:extLst>
          </p:cNvPr>
          <p:cNvSpPr txBox="1"/>
          <p:nvPr/>
        </p:nvSpPr>
        <p:spPr>
          <a:xfrm>
            <a:off x="3487269" y="2089103"/>
            <a:ext cx="2393576" cy="2341667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lvl="0" algn="ctr">
              <a:lnSpc>
                <a:spcPct val="115000"/>
              </a:lnSpc>
              <a:spcAft>
                <a:spcPts val="800"/>
              </a:spcAft>
              <a:tabLst>
                <a:tab pos="457200" algn="l"/>
              </a:tabLst>
            </a:pPr>
            <a:r>
              <a:rPr lang="ru-RU" sz="16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Дослідити</a:t>
            </a:r>
            <a:r>
              <a:rPr lang="ru-RU" sz="16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ru-RU" sz="16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особливості</a:t>
            </a:r>
            <a:r>
              <a:rPr lang="ru-RU" sz="16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нового типу </a:t>
            </a:r>
            <a:r>
              <a:rPr lang="ru-RU" sz="16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перерахувань</a:t>
            </a:r>
            <a:r>
              <a:rPr lang="ru-RU" sz="16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ru-RU" sz="16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enum</a:t>
            </a:r>
            <a:r>
              <a:rPr lang="ru-RU" sz="16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ru-RU" sz="16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class</a:t>
            </a:r>
            <a:r>
              <a:rPr lang="ru-RU" sz="16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у C++11, </a:t>
            </a:r>
            <a:r>
              <a:rPr lang="ru-RU" sz="16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їх</a:t>
            </a:r>
            <a:r>
              <a:rPr lang="ru-RU" sz="16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ru-RU" sz="16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сильну</a:t>
            </a:r>
            <a:r>
              <a:rPr lang="ru-RU" sz="16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ru-RU" sz="16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типізацію</a:t>
            </a:r>
            <a:r>
              <a:rPr lang="ru-RU" sz="16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, </a:t>
            </a:r>
            <a:r>
              <a:rPr lang="ru-RU" sz="16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безпечність</a:t>
            </a:r>
            <a:r>
              <a:rPr lang="ru-RU" sz="16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та </a:t>
            </a:r>
            <a:r>
              <a:rPr lang="ru-RU" sz="16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переваги</a:t>
            </a:r>
            <a:r>
              <a:rPr lang="ru-RU" sz="16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над </a:t>
            </a:r>
            <a:r>
              <a:rPr lang="ru-RU" sz="16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класичними</a:t>
            </a:r>
            <a:r>
              <a:rPr lang="ru-RU" sz="16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ru-RU" sz="16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перерахуваннями</a:t>
            </a:r>
            <a:r>
              <a:rPr lang="ru-RU" sz="16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С.</a:t>
            </a:r>
            <a:endParaRPr lang="ru-RU" sz="16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2D13578-0867-1DF5-B16E-5C870AE55761}"/>
              </a:ext>
            </a:extLst>
          </p:cNvPr>
          <p:cNvSpPr txBox="1"/>
          <p:nvPr/>
        </p:nvSpPr>
        <p:spPr>
          <a:xfrm>
            <a:off x="6265206" y="2089103"/>
            <a:ext cx="2940423" cy="2058512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lvl="0">
              <a:lnSpc>
                <a:spcPct val="115000"/>
              </a:lnSpc>
              <a:spcAft>
                <a:spcPts val="800"/>
              </a:spcAft>
              <a:tabLst>
                <a:tab pos="457200" algn="l"/>
              </a:tabLst>
            </a:pPr>
            <a:r>
              <a:rPr lang="ru-RU" sz="16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Реалізувати</a:t>
            </a:r>
            <a:r>
              <a:rPr lang="ru-RU" sz="16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за </a:t>
            </a:r>
            <a:r>
              <a:rPr lang="ru-RU" sz="16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допомогою</a:t>
            </a:r>
            <a:r>
              <a:rPr lang="ru-RU" sz="16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ru-RU" sz="16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перерахувань</a:t>
            </a:r>
            <a:r>
              <a:rPr lang="ru-RU" sz="16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ru-RU" sz="16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ввід</a:t>
            </a:r>
            <a:r>
              <a:rPr lang="ru-RU" sz="16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/</a:t>
            </a:r>
            <a:r>
              <a:rPr lang="ru-RU" sz="16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вивід</a:t>
            </a:r>
            <a:r>
              <a:rPr lang="ru-RU" sz="16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для таких </a:t>
            </a:r>
            <a:r>
              <a:rPr lang="ru-RU" sz="16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сутностей</a:t>
            </a:r>
            <a:r>
              <a:rPr lang="ru-RU" sz="16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:</a:t>
            </a:r>
            <a:br>
              <a:rPr lang="ru-RU" sz="16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</a:br>
            <a:r>
              <a:rPr lang="ru-RU" sz="16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– </a:t>
            </a:r>
            <a:r>
              <a:rPr lang="ru-RU" sz="16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дні</a:t>
            </a:r>
            <a:r>
              <a:rPr lang="ru-RU" sz="16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ru-RU" sz="16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тижня</a:t>
            </a:r>
            <a:r>
              <a:rPr lang="ru-RU" sz="16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;</a:t>
            </a:r>
            <a:br>
              <a:rPr lang="ru-RU" sz="16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</a:br>
            <a:r>
              <a:rPr lang="ru-RU" sz="16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– </a:t>
            </a:r>
            <a:r>
              <a:rPr lang="ru-RU" sz="16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місяці</a:t>
            </a:r>
            <a:r>
              <a:rPr lang="ru-RU" sz="16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року;</a:t>
            </a:r>
            <a:br>
              <a:rPr lang="ru-RU" sz="16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</a:br>
            <a:r>
              <a:rPr lang="ru-RU" sz="16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– </a:t>
            </a:r>
            <a:r>
              <a:rPr lang="ru-RU" sz="16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кольори</a:t>
            </a:r>
            <a:r>
              <a:rPr lang="ru-RU" sz="16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спектра;</a:t>
            </a:r>
            <a:br>
              <a:rPr lang="ru-RU" sz="16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</a:br>
            <a:r>
              <a:rPr lang="ru-RU" sz="16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– </a:t>
            </a:r>
            <a:r>
              <a:rPr lang="ru-RU" sz="16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шахові</a:t>
            </a:r>
            <a:r>
              <a:rPr lang="ru-RU" sz="16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ru-RU" sz="16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фігури</a:t>
            </a:r>
            <a:r>
              <a:rPr lang="ru-RU" sz="16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.</a:t>
            </a:r>
            <a:endParaRPr lang="ru-RU" sz="16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31068FF-797B-C91D-099C-624156329F4E}"/>
              </a:ext>
            </a:extLst>
          </p:cNvPr>
          <p:cNvSpPr txBox="1"/>
          <p:nvPr/>
        </p:nvSpPr>
        <p:spPr>
          <a:xfrm>
            <a:off x="9554135" y="2073239"/>
            <a:ext cx="2290482" cy="2341667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lvl="0">
              <a:lnSpc>
                <a:spcPct val="115000"/>
              </a:lnSpc>
              <a:spcAft>
                <a:spcPts val="800"/>
              </a:spcAft>
              <a:tabLst>
                <a:tab pos="457200" algn="l"/>
              </a:tabLst>
            </a:pPr>
            <a:r>
              <a:rPr lang="ru-RU" sz="16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Створити</a:t>
            </a:r>
            <a:r>
              <a:rPr lang="ru-RU" sz="16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структуру Card та </a:t>
            </a:r>
            <a:r>
              <a:rPr lang="ru-RU" sz="16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перерахування</a:t>
            </a:r>
            <a:r>
              <a:rPr lang="ru-RU" sz="16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мастей і </a:t>
            </a:r>
            <a:r>
              <a:rPr lang="ru-RU" sz="16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рангів</a:t>
            </a:r>
            <a:r>
              <a:rPr lang="ru-RU" sz="16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, а також </a:t>
            </a:r>
            <a:r>
              <a:rPr lang="ru-RU" sz="16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реалізувати</a:t>
            </a:r>
            <a:r>
              <a:rPr lang="ru-RU" sz="16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ru-RU" sz="16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логічну</a:t>
            </a:r>
            <a:r>
              <a:rPr lang="ru-RU" sz="16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ru-RU" sz="16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функцію</a:t>
            </a:r>
            <a:r>
              <a:rPr lang="ru-RU" sz="16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ru-RU" sz="16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визначення</a:t>
            </a:r>
            <a:r>
              <a:rPr lang="ru-RU" sz="16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“</a:t>
            </a:r>
            <a:r>
              <a:rPr lang="ru-RU" sz="16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биття</a:t>
            </a:r>
            <a:r>
              <a:rPr lang="ru-RU" sz="16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” </a:t>
            </a:r>
            <a:r>
              <a:rPr lang="ru-RU" sz="16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карти</a:t>
            </a:r>
            <a:r>
              <a:rPr lang="ru-RU" sz="16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з </a:t>
            </a:r>
            <a:r>
              <a:rPr lang="ru-RU" sz="16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урахуванням</a:t>
            </a:r>
            <a:r>
              <a:rPr lang="ru-RU" sz="16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ru-RU" sz="16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козирної</a:t>
            </a:r>
            <a:r>
              <a:rPr lang="ru-RU" sz="16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ru-RU" sz="16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масті</a:t>
            </a:r>
            <a:r>
              <a:rPr lang="ru-RU" sz="16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.</a:t>
            </a:r>
            <a:endParaRPr lang="ru-RU" sz="16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CF7B744-565E-43B5-01F7-4C4FD4FB4BBF}"/>
              </a:ext>
            </a:extLst>
          </p:cNvPr>
          <p:cNvSpPr txBox="1"/>
          <p:nvPr/>
        </p:nvSpPr>
        <p:spPr>
          <a:xfrm>
            <a:off x="391081" y="4604207"/>
            <a:ext cx="2102225" cy="1775358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lvl="0">
              <a:lnSpc>
                <a:spcPct val="115000"/>
              </a:lnSpc>
              <a:spcAft>
                <a:spcPts val="800"/>
              </a:spcAft>
              <a:tabLst>
                <a:tab pos="457200" algn="l"/>
              </a:tabLst>
            </a:pPr>
            <a:r>
              <a:rPr lang="ru-RU" sz="16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Створити</a:t>
            </a:r>
            <a:r>
              <a:rPr lang="ru-RU" sz="16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ru-RU" sz="16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перелік</a:t>
            </a:r>
            <a:r>
              <a:rPr lang="ru-RU" sz="16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ru-RU" sz="16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одиниць</a:t>
            </a:r>
            <a:r>
              <a:rPr lang="ru-RU" sz="16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ru-RU" sz="16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довжини</a:t>
            </a:r>
            <a:r>
              <a:rPr lang="ru-RU" sz="16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та </a:t>
            </a:r>
            <a:r>
              <a:rPr lang="ru-RU" sz="16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функцію</a:t>
            </a:r>
            <a:r>
              <a:rPr lang="ru-RU" sz="16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ru-RU" sz="16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перерахунку</a:t>
            </a:r>
            <a:r>
              <a:rPr lang="ru-RU" sz="16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в </a:t>
            </a:r>
            <a:r>
              <a:rPr lang="ru-RU" sz="16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метри</a:t>
            </a:r>
            <a:r>
              <a:rPr lang="ru-RU" sz="16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, </a:t>
            </a:r>
            <a:r>
              <a:rPr lang="ru-RU" sz="16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використовуючи</a:t>
            </a:r>
            <a:r>
              <a:rPr lang="ru-RU" sz="16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типи </a:t>
            </a:r>
            <a:r>
              <a:rPr lang="ru-RU" sz="16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enum</a:t>
            </a:r>
            <a:r>
              <a:rPr lang="ru-RU" sz="16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/ </a:t>
            </a:r>
            <a:r>
              <a:rPr lang="ru-RU" sz="16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enum</a:t>
            </a:r>
            <a:r>
              <a:rPr lang="ru-RU" sz="16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ru-RU" sz="16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class</a:t>
            </a:r>
            <a:r>
              <a:rPr lang="ru-RU" sz="16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.</a:t>
            </a:r>
            <a:endParaRPr lang="ru-RU" sz="16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1C38D98-E169-97DF-E3CE-E63DCF0E43D6}"/>
              </a:ext>
            </a:extLst>
          </p:cNvPr>
          <p:cNvSpPr txBox="1"/>
          <p:nvPr/>
        </p:nvSpPr>
        <p:spPr>
          <a:xfrm>
            <a:off x="2633945" y="4604207"/>
            <a:ext cx="1816469" cy="2058512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lvl="0">
              <a:lnSpc>
                <a:spcPct val="115000"/>
              </a:lnSpc>
              <a:spcAft>
                <a:spcPts val="800"/>
              </a:spcAft>
              <a:tabLst>
                <a:tab pos="457200" algn="l"/>
              </a:tabLst>
            </a:pPr>
            <a:r>
              <a:rPr lang="ru-RU" sz="16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Реалізувати</a:t>
            </a:r>
            <a:r>
              <a:rPr lang="ru-RU" sz="16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ru-RU" sz="16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відмінювання</a:t>
            </a:r>
            <a:r>
              <a:rPr lang="ru-RU" sz="16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ru-RU" sz="16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українських</a:t>
            </a:r>
            <a:r>
              <a:rPr lang="ru-RU" sz="16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ru-RU" sz="16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слів</a:t>
            </a:r>
            <a:r>
              <a:rPr lang="ru-RU" sz="16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ru-RU" sz="16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відповідно</a:t>
            </a:r>
            <a:r>
              <a:rPr lang="ru-RU" sz="16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до </a:t>
            </a:r>
            <a:r>
              <a:rPr lang="ru-RU" sz="16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значення</a:t>
            </a:r>
            <a:r>
              <a:rPr lang="ru-RU" sz="16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ru-RU" sz="16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перерахування</a:t>
            </a:r>
            <a:r>
              <a:rPr lang="ru-RU" sz="16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“</a:t>
            </a:r>
            <a:r>
              <a:rPr lang="ru-RU" sz="16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Відмінок</a:t>
            </a:r>
            <a:r>
              <a:rPr lang="ru-RU" sz="16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”.</a:t>
            </a:r>
            <a:endParaRPr lang="ru-RU" sz="16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5930551-1BBC-F922-38F8-F8B0C52CCCD2}"/>
              </a:ext>
            </a:extLst>
          </p:cNvPr>
          <p:cNvSpPr txBox="1"/>
          <p:nvPr/>
        </p:nvSpPr>
        <p:spPr>
          <a:xfrm>
            <a:off x="6818791" y="4617255"/>
            <a:ext cx="1875866" cy="1775358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lvl="0">
              <a:lnSpc>
                <a:spcPct val="115000"/>
              </a:lnSpc>
              <a:spcAft>
                <a:spcPts val="800"/>
              </a:spcAft>
              <a:tabLst>
                <a:tab pos="457200" algn="l"/>
              </a:tabLst>
            </a:pPr>
            <a:r>
              <a:rPr lang="ru-RU" sz="16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Використати</a:t>
            </a:r>
            <a:r>
              <a:rPr lang="ru-RU" sz="16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ru-RU" sz="16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перерахування</a:t>
            </a:r>
            <a:r>
              <a:rPr lang="ru-RU" sz="16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ru-RU" sz="16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голосних</a:t>
            </a:r>
            <a:r>
              <a:rPr lang="ru-RU" sz="16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для </a:t>
            </a:r>
            <a:r>
              <a:rPr lang="ru-RU" sz="16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визначення</a:t>
            </a:r>
            <a:r>
              <a:rPr lang="ru-RU" sz="16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ru-RU" sz="16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кількості</a:t>
            </a:r>
            <a:r>
              <a:rPr lang="ru-RU" sz="16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ru-RU" sz="16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складів</a:t>
            </a:r>
            <a:r>
              <a:rPr lang="ru-RU" sz="16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у </a:t>
            </a:r>
            <a:r>
              <a:rPr lang="ru-RU" sz="16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фразі</a:t>
            </a:r>
            <a:r>
              <a:rPr lang="ru-RU" sz="16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.</a:t>
            </a:r>
            <a:endParaRPr lang="ru-RU" sz="16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8CD58F1A-BA67-D695-4231-AC537519BC3B}"/>
              </a:ext>
            </a:extLst>
          </p:cNvPr>
          <p:cNvSpPr txBox="1"/>
          <p:nvPr/>
        </p:nvSpPr>
        <p:spPr>
          <a:xfrm>
            <a:off x="4633919" y="4617255"/>
            <a:ext cx="2001367" cy="2058512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lvl="0">
              <a:lnSpc>
                <a:spcPct val="115000"/>
              </a:lnSpc>
              <a:spcAft>
                <a:spcPts val="800"/>
              </a:spcAft>
              <a:tabLst>
                <a:tab pos="457200" algn="l"/>
              </a:tabLst>
            </a:pPr>
            <a:r>
              <a:rPr lang="ru-RU" sz="16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Порівняти</a:t>
            </a:r>
            <a:r>
              <a:rPr lang="ru-RU" sz="16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ru-RU" sz="16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реалізації</a:t>
            </a:r>
            <a:r>
              <a:rPr lang="ru-RU" sz="16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на </a:t>
            </a:r>
            <a:r>
              <a:rPr lang="ru-RU" sz="16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основі</a:t>
            </a:r>
            <a:r>
              <a:rPr lang="ru-RU" sz="16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ru-RU" sz="16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enum</a:t>
            </a:r>
            <a:r>
              <a:rPr lang="ru-RU" sz="16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(C) та </a:t>
            </a:r>
            <a:r>
              <a:rPr lang="ru-RU" sz="16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enum</a:t>
            </a:r>
            <a:r>
              <a:rPr lang="ru-RU" sz="16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ru-RU" sz="16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class</a:t>
            </a:r>
            <a:r>
              <a:rPr lang="ru-RU" sz="16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(C++) за </a:t>
            </a:r>
            <a:r>
              <a:rPr lang="ru-RU" sz="16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безпечністю</a:t>
            </a:r>
            <a:r>
              <a:rPr lang="ru-RU" sz="16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, </a:t>
            </a:r>
            <a:r>
              <a:rPr lang="ru-RU" sz="16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зручністю</a:t>
            </a:r>
            <a:r>
              <a:rPr lang="ru-RU" sz="16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ru-RU" sz="16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використання</a:t>
            </a:r>
            <a:r>
              <a:rPr lang="ru-RU" sz="16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та </a:t>
            </a:r>
            <a:r>
              <a:rPr lang="ru-RU" sz="16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швидкодією</a:t>
            </a:r>
            <a:r>
              <a:rPr lang="ru-RU" sz="16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.</a:t>
            </a:r>
            <a:endParaRPr lang="ru-RU" sz="16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847D548C-29F8-5D3C-2383-CCA677121BC9}"/>
              </a:ext>
            </a:extLst>
          </p:cNvPr>
          <p:cNvSpPr txBox="1"/>
          <p:nvPr/>
        </p:nvSpPr>
        <p:spPr>
          <a:xfrm>
            <a:off x="8878162" y="4617255"/>
            <a:ext cx="2624404" cy="1775358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lvl="0">
              <a:lnSpc>
                <a:spcPct val="115000"/>
              </a:lnSpc>
              <a:spcAft>
                <a:spcPts val="800"/>
              </a:spcAft>
              <a:tabLst>
                <a:tab pos="457200" algn="l"/>
              </a:tabLst>
            </a:pPr>
            <a:r>
              <a:rPr lang="ru-RU" sz="16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Створити</a:t>
            </a:r>
            <a:r>
              <a:rPr lang="ru-RU" sz="16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ru-RU" sz="16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перерахування</a:t>
            </a:r>
            <a:r>
              <a:rPr lang="ru-RU" sz="16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команд руху корабля та початкового курсу, </a:t>
            </a:r>
            <a:r>
              <a:rPr lang="ru-RU" sz="16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визначити</a:t>
            </a:r>
            <a:r>
              <a:rPr lang="ru-RU" sz="16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ru-RU" sz="16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кінцевий</a:t>
            </a:r>
            <a:r>
              <a:rPr lang="ru-RU" sz="16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ru-RU" sz="16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напрямок</a:t>
            </a:r>
            <a:r>
              <a:rPr lang="ru-RU" sz="16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та </a:t>
            </a:r>
            <a:r>
              <a:rPr lang="ru-RU" sz="16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абсолютне</a:t>
            </a:r>
            <a:r>
              <a:rPr lang="ru-RU" sz="16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ru-RU" sz="16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зміщення</a:t>
            </a:r>
            <a:r>
              <a:rPr lang="ru-RU" sz="16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корабля.</a:t>
            </a:r>
            <a:endParaRPr lang="ru-RU" sz="16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47052150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>
            <a:extLst>
              <a:ext uri="{FF2B5EF4-FFF2-40B4-BE49-F238E27FC236}">
                <a16:creationId xmlns:a16="http://schemas.microsoft.com/office/drawing/2014/main" id="{5E45DB35-F1E5-C6F1-8E86-69BA9CB41D9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alphaModFix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-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15216" b="15982"/>
          <a:stretch/>
        </p:blipFill>
        <p:spPr bwMode="auto">
          <a:xfrm>
            <a:off x="0" y="25245"/>
            <a:ext cx="12413673" cy="68327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B3D6798-F456-7D8F-9083-8236991A7BB7}"/>
              </a:ext>
            </a:extLst>
          </p:cNvPr>
          <p:cNvSpPr txBox="1"/>
          <p:nvPr/>
        </p:nvSpPr>
        <p:spPr>
          <a:xfrm>
            <a:off x="1479176" y="1814672"/>
            <a:ext cx="9233647" cy="2717795"/>
          </a:xfrm>
          <a:prstGeom prst="rect">
            <a:avLst/>
          </a:prstGeom>
          <a:solidFill>
            <a:schemeClr val="tx1">
              <a:alpha val="55000"/>
            </a:schemeClr>
          </a:solidFill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</a:pPr>
            <a:r>
              <a:rPr lang="ru-RU" kern="100" dirty="0" err="1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Перерахування</a:t>
            </a:r>
            <a:r>
              <a:rPr lang="ru-RU" kern="1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(</a:t>
            </a:r>
            <a:r>
              <a:rPr lang="ru-RU" kern="100" dirty="0" err="1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enum</a:t>
            </a:r>
            <a:r>
              <a:rPr lang="ru-RU" kern="1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) — </a:t>
            </a:r>
            <a:r>
              <a:rPr lang="ru-RU" kern="100" dirty="0" err="1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це</a:t>
            </a:r>
            <a:r>
              <a:rPr lang="ru-RU" kern="1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ru-RU" kern="100" dirty="0" err="1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спеціальний</a:t>
            </a:r>
            <a:r>
              <a:rPr lang="ru-RU" kern="1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тип </a:t>
            </a:r>
            <a:r>
              <a:rPr lang="ru-RU" kern="100" dirty="0" err="1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даних</a:t>
            </a:r>
            <a:r>
              <a:rPr lang="ru-RU" kern="1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у мовах </a:t>
            </a:r>
            <a:r>
              <a:rPr lang="ru-RU" kern="100" dirty="0" err="1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програмування</a:t>
            </a:r>
            <a:r>
              <a:rPr lang="ru-RU" kern="1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C і C++, </a:t>
            </a:r>
            <a:r>
              <a:rPr lang="ru-RU" kern="100" dirty="0" err="1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який</a:t>
            </a:r>
            <a:r>
              <a:rPr lang="ru-RU" kern="1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ru-RU" kern="100" dirty="0" err="1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дозволяє</a:t>
            </a:r>
            <a:r>
              <a:rPr lang="ru-RU" kern="1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ru-RU" kern="100" dirty="0" err="1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задавати</a:t>
            </a:r>
            <a:r>
              <a:rPr lang="ru-RU" kern="1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ru-RU" kern="100" dirty="0" err="1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набір</a:t>
            </a:r>
            <a:r>
              <a:rPr lang="ru-RU" kern="1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ru-RU" kern="100" dirty="0" err="1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логічно</a:t>
            </a:r>
            <a:r>
              <a:rPr lang="ru-RU" kern="1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ru-RU" kern="100" dirty="0" err="1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пов’язаних</a:t>
            </a:r>
            <a:r>
              <a:rPr lang="ru-RU" kern="1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ru-RU" kern="100" dirty="0" err="1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значень</a:t>
            </a:r>
            <a:r>
              <a:rPr lang="ru-RU" kern="1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з </a:t>
            </a:r>
            <a:r>
              <a:rPr lang="ru-RU" kern="100" dirty="0" err="1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іменами</a:t>
            </a:r>
            <a:r>
              <a:rPr lang="ru-RU" kern="1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. </a:t>
            </a:r>
            <a:r>
              <a:rPr lang="ru-RU" kern="100" dirty="0" err="1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Це</a:t>
            </a:r>
            <a:r>
              <a:rPr lang="ru-RU" kern="1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ru-RU" kern="100" dirty="0" err="1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зручно</a:t>
            </a:r>
            <a:r>
              <a:rPr lang="ru-RU" kern="1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, </a:t>
            </a:r>
            <a:r>
              <a:rPr lang="ru-RU" kern="100" dirty="0" err="1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бо</a:t>
            </a:r>
            <a:r>
              <a:rPr lang="ru-RU" kern="1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ru-RU" kern="100" dirty="0" err="1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замість</a:t>
            </a:r>
            <a:r>
              <a:rPr lang="ru-RU" kern="1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ru-RU" kern="100" dirty="0" err="1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використання</a:t>
            </a:r>
            <a:r>
              <a:rPr lang="ru-RU" kern="1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«</a:t>
            </a:r>
            <a:r>
              <a:rPr lang="ru-RU" kern="100" dirty="0" err="1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магічних</a:t>
            </a:r>
            <a:r>
              <a:rPr lang="ru-RU" kern="1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чисел» у </a:t>
            </a:r>
            <a:r>
              <a:rPr lang="ru-RU" kern="100" dirty="0" err="1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коді</a:t>
            </a:r>
            <a:r>
              <a:rPr lang="ru-RU" kern="1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ru-RU" kern="100" dirty="0" err="1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можна</a:t>
            </a:r>
            <a:r>
              <a:rPr lang="ru-RU" kern="1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ru-RU" kern="100" dirty="0" err="1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працювати</a:t>
            </a:r>
            <a:r>
              <a:rPr lang="ru-RU" kern="1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з </a:t>
            </a:r>
            <a:r>
              <a:rPr lang="ru-RU" kern="100" dirty="0" err="1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читабельними</a:t>
            </a:r>
            <a:r>
              <a:rPr lang="ru-RU" kern="1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ru-RU" kern="100" dirty="0" err="1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назвами</a:t>
            </a:r>
            <a:r>
              <a:rPr lang="ru-RU" kern="1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. </a:t>
            </a:r>
            <a:r>
              <a:rPr lang="ru-RU" kern="100" dirty="0" err="1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Наприклад</a:t>
            </a:r>
            <a:r>
              <a:rPr lang="ru-RU" kern="1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, </a:t>
            </a:r>
            <a:r>
              <a:rPr lang="ru-RU" kern="100" dirty="0" err="1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дні</a:t>
            </a:r>
            <a:r>
              <a:rPr lang="ru-RU" kern="1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ru-RU" kern="100" dirty="0" err="1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тижня</a:t>
            </a:r>
            <a:r>
              <a:rPr lang="ru-RU" kern="1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ru-RU" kern="100" dirty="0" err="1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або</a:t>
            </a:r>
            <a:r>
              <a:rPr lang="ru-RU" kern="1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ru-RU" kern="100" dirty="0" err="1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кольори</a:t>
            </a:r>
            <a:r>
              <a:rPr lang="ru-RU" kern="1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спектра </a:t>
            </a:r>
            <a:r>
              <a:rPr lang="ru-RU" kern="100" dirty="0" err="1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можна</a:t>
            </a:r>
            <a:r>
              <a:rPr lang="ru-RU" kern="1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ru-RU" kern="100" dirty="0" err="1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представити</a:t>
            </a:r>
            <a:r>
              <a:rPr lang="ru-RU" kern="1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як </a:t>
            </a:r>
            <a:r>
              <a:rPr lang="ru-RU" kern="100" dirty="0" err="1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enum</a:t>
            </a:r>
            <a:r>
              <a:rPr lang="ru-RU" kern="1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.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lang="ru-RU" kern="1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У </a:t>
            </a:r>
            <a:r>
              <a:rPr lang="ru-RU" kern="100" dirty="0" err="1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мові</a:t>
            </a:r>
            <a:r>
              <a:rPr lang="ru-RU" kern="1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C </a:t>
            </a:r>
            <a:r>
              <a:rPr lang="ru-RU" kern="100" dirty="0" err="1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enum</a:t>
            </a:r>
            <a:r>
              <a:rPr lang="ru-RU" kern="1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є простим набором </a:t>
            </a:r>
            <a:r>
              <a:rPr lang="ru-RU" kern="100" dirty="0" err="1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цілочислових</a:t>
            </a:r>
            <a:r>
              <a:rPr lang="ru-RU" kern="1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констант. Кожному </a:t>
            </a:r>
            <a:r>
              <a:rPr lang="ru-RU" kern="100" dirty="0" err="1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значенню</a:t>
            </a:r>
            <a:r>
              <a:rPr lang="ru-RU" kern="1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автоматично </a:t>
            </a:r>
            <a:r>
              <a:rPr lang="ru-RU" kern="100" dirty="0" err="1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присвоюється</a:t>
            </a:r>
            <a:r>
              <a:rPr lang="ru-RU" kern="1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число (</a:t>
            </a:r>
            <a:r>
              <a:rPr lang="ru-RU" kern="100" dirty="0" err="1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починаючи</a:t>
            </a:r>
            <a:r>
              <a:rPr lang="ru-RU" kern="1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з 0), </a:t>
            </a:r>
            <a:r>
              <a:rPr lang="ru-RU" kern="100" dirty="0" err="1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але</a:t>
            </a:r>
            <a:r>
              <a:rPr lang="ru-RU" kern="1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ru-RU" kern="100" dirty="0" err="1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можна</a:t>
            </a:r>
            <a:r>
              <a:rPr lang="ru-RU" kern="1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ru-RU" kern="100" dirty="0" err="1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задати</a:t>
            </a:r>
            <a:r>
              <a:rPr lang="ru-RU" kern="1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ru-RU" kern="100" dirty="0" err="1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його</a:t>
            </a:r>
            <a:r>
              <a:rPr lang="ru-RU" kern="1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ru-RU" kern="100" dirty="0" err="1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вручну</a:t>
            </a:r>
            <a:r>
              <a:rPr lang="ru-RU" kern="1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. </a:t>
            </a:r>
            <a:r>
              <a:rPr lang="ru-RU" kern="100" dirty="0" err="1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Основна</a:t>
            </a:r>
            <a:r>
              <a:rPr lang="ru-RU" kern="1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проблема </a:t>
            </a:r>
            <a:r>
              <a:rPr lang="ru-RU" kern="100" dirty="0" err="1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enum</a:t>
            </a:r>
            <a:r>
              <a:rPr lang="ru-RU" kern="1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у C — </a:t>
            </a:r>
            <a:r>
              <a:rPr lang="ru-RU" kern="100" dirty="0" err="1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слабка</a:t>
            </a:r>
            <a:r>
              <a:rPr lang="ru-RU" kern="1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ru-RU" kern="100" dirty="0" err="1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типізація</a:t>
            </a:r>
            <a:r>
              <a:rPr lang="ru-RU" kern="1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: </a:t>
            </a:r>
            <a:r>
              <a:rPr lang="ru-RU" kern="100" dirty="0" err="1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значення</a:t>
            </a:r>
            <a:r>
              <a:rPr lang="ru-RU" kern="1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ru-RU" kern="100" dirty="0" err="1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enum</a:t>
            </a:r>
            <a:r>
              <a:rPr lang="ru-RU" kern="1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ru-RU" kern="100" dirty="0" err="1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можна</a:t>
            </a:r>
            <a:r>
              <a:rPr lang="ru-RU" kern="1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без проблем </a:t>
            </a:r>
            <a:r>
              <a:rPr lang="ru-RU" kern="100" dirty="0" err="1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перетворювати</a:t>
            </a:r>
            <a:r>
              <a:rPr lang="ru-RU" kern="1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на </a:t>
            </a:r>
            <a:r>
              <a:rPr lang="ru-RU" kern="100" dirty="0" err="1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int</a:t>
            </a:r>
            <a:r>
              <a:rPr lang="ru-RU" kern="1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і </a:t>
            </a:r>
            <a:r>
              <a:rPr lang="ru-RU" kern="100" dirty="0" err="1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навпаки</a:t>
            </a:r>
            <a:r>
              <a:rPr lang="ru-RU" kern="1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, </a:t>
            </a:r>
            <a:r>
              <a:rPr lang="ru-RU" kern="100" dirty="0" err="1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що</a:t>
            </a:r>
            <a:r>
              <a:rPr lang="ru-RU" kern="1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ru-RU" kern="100" dirty="0" err="1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іноді</a:t>
            </a:r>
            <a:r>
              <a:rPr lang="ru-RU" kern="1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ru-RU" kern="100" dirty="0" err="1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призводить</a:t>
            </a:r>
            <a:r>
              <a:rPr lang="ru-RU" kern="1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до </a:t>
            </a:r>
            <a:r>
              <a:rPr lang="ru-RU" kern="100" dirty="0" err="1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помилок</a:t>
            </a:r>
            <a:r>
              <a:rPr lang="ru-RU" kern="1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573630558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extLst>
              <a:ext uri="{FF2B5EF4-FFF2-40B4-BE49-F238E27FC236}">
                <a16:creationId xmlns:a16="http://schemas.microsoft.com/office/drawing/2014/main" id="{104B533F-1E72-2C25-4E16-348343D2122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alphaModFix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-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15216" b="15982"/>
          <a:stretch/>
        </p:blipFill>
        <p:spPr bwMode="auto">
          <a:xfrm>
            <a:off x="0" y="25245"/>
            <a:ext cx="12413673" cy="68327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C6DF7F9-3D1B-BB73-E878-DAA3E92F46E9}"/>
              </a:ext>
            </a:extLst>
          </p:cNvPr>
          <p:cNvSpPr txBox="1"/>
          <p:nvPr/>
        </p:nvSpPr>
        <p:spPr>
          <a:xfrm>
            <a:off x="1447800" y="704936"/>
            <a:ext cx="9296400" cy="5039456"/>
          </a:xfrm>
          <a:prstGeom prst="rect">
            <a:avLst/>
          </a:prstGeom>
          <a:solidFill>
            <a:schemeClr val="tx1">
              <a:alpha val="53000"/>
            </a:schemeClr>
          </a:solidFill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</a:pPr>
            <a:r>
              <a:rPr lang="ru-RU" kern="1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У C++11 </a:t>
            </a:r>
            <a:r>
              <a:rPr lang="ru-RU" kern="100" dirty="0" err="1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з’явився</a:t>
            </a:r>
            <a:r>
              <a:rPr lang="ru-RU" kern="1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тип </a:t>
            </a:r>
            <a:r>
              <a:rPr lang="ru-RU" b="1" kern="100" dirty="0" err="1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enum</a:t>
            </a:r>
            <a:r>
              <a:rPr lang="ru-RU" b="1" kern="1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ru-RU" b="1" kern="100" dirty="0" err="1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class</a:t>
            </a:r>
            <a:r>
              <a:rPr lang="ru-RU" kern="1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, </a:t>
            </a:r>
            <a:r>
              <a:rPr lang="ru-RU" kern="100" dirty="0" err="1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який</a:t>
            </a:r>
            <a:r>
              <a:rPr lang="ru-RU" kern="1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ru-RU" kern="100" dirty="0" err="1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вирішує</a:t>
            </a:r>
            <a:r>
              <a:rPr lang="ru-RU" kern="1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ru-RU" kern="100" dirty="0" err="1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ці</a:t>
            </a:r>
            <a:r>
              <a:rPr lang="ru-RU" kern="1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ru-RU" kern="100" dirty="0" err="1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проблеми</a:t>
            </a:r>
            <a:r>
              <a:rPr lang="ru-RU" kern="1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. </a:t>
            </a:r>
            <a:r>
              <a:rPr lang="ru-RU" kern="100" dirty="0" err="1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Він</a:t>
            </a:r>
            <a:r>
              <a:rPr lang="ru-RU" kern="1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сильно </a:t>
            </a:r>
            <a:r>
              <a:rPr lang="ru-RU" kern="100" dirty="0" err="1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типізований</a:t>
            </a:r>
            <a:r>
              <a:rPr lang="ru-RU" kern="1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, </a:t>
            </a:r>
            <a:r>
              <a:rPr lang="ru-RU" kern="100" dirty="0" err="1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тобто</a:t>
            </a:r>
            <a:r>
              <a:rPr lang="ru-RU" kern="1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ru-RU" kern="100" dirty="0" err="1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значення</a:t>
            </a:r>
            <a:r>
              <a:rPr lang="ru-RU" kern="1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не </a:t>
            </a:r>
            <a:r>
              <a:rPr lang="ru-RU" kern="100" dirty="0" err="1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перетворюються</a:t>
            </a:r>
            <a:r>
              <a:rPr lang="ru-RU" kern="1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на </a:t>
            </a:r>
            <a:r>
              <a:rPr lang="ru-RU" kern="100" dirty="0" err="1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int</a:t>
            </a:r>
            <a:r>
              <a:rPr lang="ru-RU" kern="1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автоматично, а </a:t>
            </a:r>
            <a:r>
              <a:rPr lang="ru-RU" kern="100" dirty="0" err="1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імена</a:t>
            </a:r>
            <a:r>
              <a:rPr lang="ru-RU" kern="1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ru-RU" kern="100" dirty="0" err="1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елементів</a:t>
            </a:r>
            <a:r>
              <a:rPr lang="ru-RU" kern="1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ru-RU" kern="100" dirty="0" err="1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знаходяться</a:t>
            </a:r>
            <a:r>
              <a:rPr lang="ru-RU" kern="1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ru-RU" kern="100" dirty="0" err="1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всередині</a:t>
            </a:r>
            <a:r>
              <a:rPr lang="ru-RU" kern="1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ru-RU" kern="100" dirty="0" err="1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enum</a:t>
            </a:r>
            <a:r>
              <a:rPr lang="ru-RU" kern="1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і не </a:t>
            </a:r>
            <a:r>
              <a:rPr lang="ru-RU" kern="100" dirty="0" err="1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конфліктують</a:t>
            </a:r>
            <a:r>
              <a:rPr lang="ru-RU" kern="1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з </a:t>
            </a:r>
            <a:r>
              <a:rPr lang="ru-RU" kern="100" dirty="0" err="1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іншими</a:t>
            </a:r>
            <a:r>
              <a:rPr lang="ru-RU" kern="1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. Також </a:t>
            </a:r>
            <a:r>
              <a:rPr lang="ru-RU" kern="100" dirty="0" err="1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можна</a:t>
            </a:r>
            <a:r>
              <a:rPr lang="ru-RU" kern="1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ru-RU" kern="100" dirty="0" err="1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вказати</a:t>
            </a:r>
            <a:r>
              <a:rPr lang="ru-RU" kern="1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ru-RU" kern="100" dirty="0" err="1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розмір</a:t>
            </a:r>
            <a:r>
              <a:rPr lang="ru-RU" kern="1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для </a:t>
            </a:r>
            <a:r>
              <a:rPr lang="ru-RU" kern="100" dirty="0" err="1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економії</a:t>
            </a:r>
            <a:r>
              <a:rPr lang="ru-RU" kern="1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ru-RU" kern="100" dirty="0" err="1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пам’яті</a:t>
            </a:r>
            <a:r>
              <a:rPr lang="ru-RU" kern="1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.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lang="ru-RU" kern="100" dirty="0" err="1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Основні</a:t>
            </a:r>
            <a:r>
              <a:rPr lang="ru-RU" kern="1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ru-RU" kern="100" dirty="0" err="1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відмінності</a:t>
            </a:r>
            <a:r>
              <a:rPr lang="ru-RU" kern="1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ru-RU" kern="100" dirty="0" err="1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між</a:t>
            </a:r>
            <a:r>
              <a:rPr lang="ru-RU" kern="1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ru-RU" kern="100" dirty="0" err="1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enum</a:t>
            </a:r>
            <a:r>
              <a:rPr lang="ru-RU" kern="1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і </a:t>
            </a:r>
            <a:r>
              <a:rPr lang="ru-RU" kern="100" dirty="0" err="1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enum</a:t>
            </a:r>
            <a:r>
              <a:rPr lang="ru-RU" kern="1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ru-RU" kern="100" dirty="0" err="1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class</a:t>
            </a:r>
            <a:r>
              <a:rPr lang="ru-RU" kern="1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:</a:t>
            </a:r>
          </a:p>
          <a:p>
            <a:pPr marL="34290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ru-RU" kern="100" dirty="0" err="1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enum</a:t>
            </a:r>
            <a:r>
              <a:rPr lang="ru-RU" kern="1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— </a:t>
            </a:r>
            <a:r>
              <a:rPr lang="ru-RU" kern="100" dirty="0" err="1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слабка</a:t>
            </a:r>
            <a:r>
              <a:rPr lang="ru-RU" kern="1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ru-RU" kern="100" dirty="0" err="1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типізація</a:t>
            </a:r>
            <a:r>
              <a:rPr lang="ru-RU" kern="1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, </a:t>
            </a:r>
            <a:r>
              <a:rPr lang="ru-RU" kern="100" dirty="0" err="1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глобальні</a:t>
            </a:r>
            <a:r>
              <a:rPr lang="ru-RU" kern="1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ru-RU" kern="100" dirty="0" err="1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імена</a:t>
            </a:r>
            <a:r>
              <a:rPr lang="ru-RU" kern="1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;</a:t>
            </a:r>
          </a:p>
          <a:p>
            <a:pPr marL="34290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ru-RU" kern="100" dirty="0" err="1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enum</a:t>
            </a:r>
            <a:r>
              <a:rPr lang="ru-RU" kern="1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ru-RU" kern="100" dirty="0" err="1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class</a:t>
            </a:r>
            <a:r>
              <a:rPr lang="ru-RU" kern="1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— сильна </a:t>
            </a:r>
            <a:r>
              <a:rPr lang="ru-RU" kern="100" dirty="0" err="1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типізація</a:t>
            </a:r>
            <a:r>
              <a:rPr lang="ru-RU" kern="1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, </a:t>
            </a:r>
            <a:r>
              <a:rPr lang="ru-RU" kern="100" dirty="0" err="1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імена</a:t>
            </a:r>
            <a:r>
              <a:rPr lang="ru-RU" kern="1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ru-RU" kern="100" dirty="0" err="1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локальні</a:t>
            </a:r>
            <a:r>
              <a:rPr lang="ru-RU" kern="1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, </a:t>
            </a:r>
            <a:r>
              <a:rPr lang="ru-RU" kern="100" dirty="0" err="1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безпечніше</a:t>
            </a:r>
            <a:r>
              <a:rPr lang="ru-RU" kern="1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та </a:t>
            </a:r>
            <a:r>
              <a:rPr lang="ru-RU" kern="100" dirty="0" err="1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гнучкіше</a:t>
            </a:r>
            <a:r>
              <a:rPr lang="ru-RU" kern="1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.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lang="ru-RU" kern="100" dirty="0" err="1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Перерахування</a:t>
            </a:r>
            <a:r>
              <a:rPr lang="ru-RU" kern="1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ru-RU" kern="100" dirty="0" err="1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застосовуються</a:t>
            </a:r>
            <a:r>
              <a:rPr lang="ru-RU" kern="1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для </a:t>
            </a:r>
            <a:r>
              <a:rPr lang="ru-RU" kern="100" dirty="0" err="1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моделювання</a:t>
            </a:r>
            <a:r>
              <a:rPr lang="ru-RU" kern="1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ru-RU" kern="100" dirty="0" err="1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різних</a:t>
            </a:r>
            <a:r>
              <a:rPr lang="ru-RU" kern="1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ru-RU" kern="100" dirty="0" err="1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об’єктів</a:t>
            </a:r>
            <a:r>
              <a:rPr lang="ru-RU" kern="1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та </a:t>
            </a:r>
            <a:r>
              <a:rPr lang="ru-RU" kern="100" dirty="0" err="1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станів</a:t>
            </a:r>
            <a:r>
              <a:rPr lang="ru-RU" kern="1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: </a:t>
            </a:r>
            <a:r>
              <a:rPr lang="ru-RU" kern="100" dirty="0" err="1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дні</a:t>
            </a:r>
            <a:r>
              <a:rPr lang="ru-RU" kern="1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ru-RU" kern="100" dirty="0" err="1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тижня</a:t>
            </a:r>
            <a:r>
              <a:rPr lang="ru-RU" kern="1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, </a:t>
            </a:r>
            <a:r>
              <a:rPr lang="ru-RU" kern="100" dirty="0" err="1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місяці</a:t>
            </a:r>
            <a:r>
              <a:rPr lang="ru-RU" kern="1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, </a:t>
            </a:r>
            <a:r>
              <a:rPr lang="ru-RU" kern="100" dirty="0" err="1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кольори</a:t>
            </a:r>
            <a:r>
              <a:rPr lang="ru-RU" kern="1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, </a:t>
            </a:r>
            <a:r>
              <a:rPr lang="ru-RU" kern="100" dirty="0" err="1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шахові</a:t>
            </a:r>
            <a:r>
              <a:rPr lang="ru-RU" kern="1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ru-RU" kern="100" dirty="0" err="1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фігури</a:t>
            </a:r>
            <a:r>
              <a:rPr lang="ru-RU" kern="1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, </a:t>
            </a:r>
            <a:r>
              <a:rPr lang="ru-RU" kern="100" dirty="0" err="1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масті</a:t>
            </a:r>
            <a:r>
              <a:rPr lang="ru-RU" kern="1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карт, </a:t>
            </a:r>
            <a:r>
              <a:rPr lang="ru-RU" kern="100" dirty="0" err="1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одиниці</a:t>
            </a:r>
            <a:r>
              <a:rPr lang="ru-RU" kern="1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ru-RU" kern="100" dirty="0" err="1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довжини</a:t>
            </a:r>
            <a:r>
              <a:rPr lang="ru-RU" kern="1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, напрямки руху </a:t>
            </a:r>
            <a:r>
              <a:rPr lang="ru-RU" kern="100" dirty="0" err="1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тощо</a:t>
            </a:r>
            <a:r>
              <a:rPr lang="ru-RU" kern="1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. Вони </a:t>
            </a:r>
            <a:r>
              <a:rPr lang="ru-RU" kern="100" dirty="0" err="1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спрощують</a:t>
            </a:r>
            <a:r>
              <a:rPr lang="ru-RU" kern="1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код, </a:t>
            </a:r>
            <a:r>
              <a:rPr lang="ru-RU" kern="100" dirty="0" err="1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роблять</a:t>
            </a:r>
            <a:r>
              <a:rPr lang="ru-RU" kern="1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ru-RU" kern="100" dirty="0" err="1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його</a:t>
            </a:r>
            <a:r>
              <a:rPr lang="ru-RU" kern="1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ru-RU" kern="100" dirty="0" err="1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зрозумілішим</a:t>
            </a:r>
            <a:r>
              <a:rPr lang="ru-RU" kern="1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і </a:t>
            </a:r>
            <a:r>
              <a:rPr lang="ru-RU" kern="100" dirty="0" err="1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дозволяють</a:t>
            </a:r>
            <a:r>
              <a:rPr lang="ru-RU" kern="1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ru-RU" kern="100" dirty="0" err="1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створювати</a:t>
            </a:r>
            <a:r>
              <a:rPr lang="ru-RU" kern="1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ru-RU" kern="100" dirty="0" err="1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логіку</a:t>
            </a:r>
            <a:r>
              <a:rPr lang="ru-RU" kern="1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на </a:t>
            </a:r>
            <a:r>
              <a:rPr lang="ru-RU" kern="100" dirty="0" err="1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основі</a:t>
            </a:r>
            <a:r>
              <a:rPr lang="ru-RU" kern="1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ru-RU" kern="100" dirty="0" err="1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дискретних</a:t>
            </a:r>
            <a:r>
              <a:rPr lang="ru-RU" kern="1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ru-RU" kern="100" dirty="0" err="1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значень</a:t>
            </a:r>
            <a:r>
              <a:rPr lang="ru-RU" kern="1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.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lang="ru-RU" kern="1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У </a:t>
            </a:r>
            <a:r>
              <a:rPr lang="ru-RU" kern="100" dirty="0" err="1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цій</a:t>
            </a:r>
            <a:r>
              <a:rPr lang="ru-RU" kern="1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ru-RU" kern="100" dirty="0" err="1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роботі</a:t>
            </a:r>
            <a:r>
              <a:rPr lang="ru-RU" kern="1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ru-RU" kern="100" dirty="0" err="1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перерахування</a:t>
            </a:r>
            <a:r>
              <a:rPr lang="ru-RU" kern="1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ru-RU" kern="100" dirty="0" err="1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використовуються</a:t>
            </a:r>
            <a:r>
              <a:rPr lang="ru-RU" kern="1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для </a:t>
            </a:r>
            <a:r>
              <a:rPr lang="ru-RU" kern="100" dirty="0" err="1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реалізації</a:t>
            </a:r>
            <a:r>
              <a:rPr lang="ru-RU" kern="1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вводу/</a:t>
            </a:r>
            <a:r>
              <a:rPr lang="ru-RU" kern="100" dirty="0" err="1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виводу</a:t>
            </a:r>
            <a:r>
              <a:rPr lang="ru-RU" kern="1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ru-RU" kern="100" dirty="0" err="1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днів</a:t>
            </a:r>
            <a:r>
              <a:rPr lang="ru-RU" kern="1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, </a:t>
            </a:r>
            <a:r>
              <a:rPr lang="ru-RU" kern="100" dirty="0" err="1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місяців</a:t>
            </a:r>
            <a:r>
              <a:rPr lang="ru-RU" kern="1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, </a:t>
            </a:r>
            <a:r>
              <a:rPr lang="ru-RU" kern="100" dirty="0" err="1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кольорів</a:t>
            </a:r>
            <a:r>
              <a:rPr lang="ru-RU" kern="1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, </a:t>
            </a:r>
            <a:r>
              <a:rPr lang="ru-RU" kern="100" dirty="0" err="1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шахових</a:t>
            </a:r>
            <a:r>
              <a:rPr lang="ru-RU" kern="1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ru-RU" kern="100" dirty="0" err="1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фігур</a:t>
            </a:r>
            <a:r>
              <a:rPr lang="ru-RU" kern="1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; </a:t>
            </a:r>
            <a:r>
              <a:rPr lang="ru-RU" kern="100" dirty="0" err="1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моделювання</a:t>
            </a:r>
            <a:r>
              <a:rPr lang="ru-RU" kern="1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карт для </a:t>
            </a:r>
            <a:r>
              <a:rPr lang="ru-RU" kern="100" dirty="0" err="1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гри</a:t>
            </a:r>
            <a:r>
              <a:rPr lang="ru-RU" kern="1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; </a:t>
            </a:r>
            <a:r>
              <a:rPr lang="ru-RU" kern="100" dirty="0" err="1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перерахунку</a:t>
            </a:r>
            <a:r>
              <a:rPr lang="ru-RU" kern="1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ru-RU" kern="100" dirty="0" err="1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одиниць</a:t>
            </a:r>
            <a:r>
              <a:rPr lang="ru-RU" kern="1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ru-RU" kern="100" dirty="0" err="1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довжини</a:t>
            </a:r>
            <a:r>
              <a:rPr lang="ru-RU" kern="1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; </a:t>
            </a:r>
            <a:r>
              <a:rPr lang="ru-RU" kern="100" dirty="0" err="1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визначення</a:t>
            </a:r>
            <a:r>
              <a:rPr lang="ru-RU" kern="1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ru-RU" kern="100" dirty="0" err="1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складів</a:t>
            </a:r>
            <a:r>
              <a:rPr lang="ru-RU" kern="1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у </a:t>
            </a:r>
            <a:r>
              <a:rPr lang="ru-RU" kern="100" dirty="0" err="1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реченні</a:t>
            </a:r>
            <a:r>
              <a:rPr lang="ru-RU" kern="1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; та </a:t>
            </a:r>
            <a:r>
              <a:rPr lang="ru-RU" kern="100" dirty="0" err="1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обчислення</a:t>
            </a:r>
            <a:r>
              <a:rPr lang="ru-RU" kern="1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руху корабля. Також ми </a:t>
            </a:r>
            <a:r>
              <a:rPr lang="ru-RU" kern="100" dirty="0" err="1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порівняємо</a:t>
            </a:r>
            <a:r>
              <a:rPr lang="ru-RU" kern="1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ru-RU" kern="100" dirty="0" err="1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швидкодію</a:t>
            </a:r>
            <a:r>
              <a:rPr lang="ru-RU" kern="1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та </a:t>
            </a:r>
            <a:r>
              <a:rPr lang="ru-RU" kern="100" dirty="0" err="1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безпечність</a:t>
            </a:r>
            <a:r>
              <a:rPr lang="ru-RU" kern="1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ru-RU" kern="100" dirty="0" err="1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enum</a:t>
            </a:r>
            <a:r>
              <a:rPr lang="ru-RU" kern="1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у C і </a:t>
            </a:r>
            <a:r>
              <a:rPr lang="ru-RU" kern="100" dirty="0" err="1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enum</a:t>
            </a:r>
            <a:r>
              <a:rPr lang="ru-RU" kern="1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ru-RU" kern="100" dirty="0" err="1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class</a:t>
            </a:r>
            <a:r>
              <a:rPr lang="ru-RU" kern="1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у C++.</a:t>
            </a:r>
          </a:p>
        </p:txBody>
      </p:sp>
    </p:spTree>
    <p:extLst>
      <p:ext uri="{BB962C8B-B14F-4D97-AF65-F5344CB8AC3E}">
        <p14:creationId xmlns:p14="http://schemas.microsoft.com/office/powerpoint/2010/main" val="2252375857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Picture 2">
            <a:extLst>
              <a:ext uri="{FF2B5EF4-FFF2-40B4-BE49-F238E27FC236}">
                <a16:creationId xmlns:a16="http://schemas.microsoft.com/office/drawing/2014/main" id="{F67C99EF-F30E-2A8F-555C-38D0C215EC9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-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5730" b="19936"/>
          <a:stretch/>
        </p:blipFill>
        <p:spPr bwMode="auto">
          <a:xfrm>
            <a:off x="0" y="-388651"/>
            <a:ext cx="12192000" cy="72466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EB1AF405-77A1-118F-6FD6-334D6175D917}"/>
              </a:ext>
            </a:extLst>
          </p:cNvPr>
          <p:cNvSpPr txBox="1"/>
          <p:nvPr/>
        </p:nvSpPr>
        <p:spPr>
          <a:xfrm>
            <a:off x="661012" y="212147"/>
            <a:ext cx="10869976" cy="6045053"/>
          </a:xfrm>
          <a:prstGeom prst="rect">
            <a:avLst/>
          </a:prstGeom>
          <a:solidFill>
            <a:schemeClr val="tx1">
              <a:alpha val="53000"/>
            </a:schemeClr>
          </a:solidFill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spcAft>
                <a:spcPts val="800"/>
              </a:spcAft>
            </a:pPr>
            <a:r>
              <a:rPr lang="uk-UA" sz="2000" b="1" kern="1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Код (без класів, С) </a:t>
            </a:r>
            <a:endParaRPr lang="ru-RU" sz="2000" kern="100" dirty="0">
              <a:solidFill>
                <a:schemeClr val="bg1"/>
              </a:solidFill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lang="ru-RU" sz="2000" kern="100" dirty="0" err="1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Логіка</a:t>
            </a:r>
            <a:r>
              <a:rPr lang="ru-RU" sz="2000" kern="1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ru-RU" sz="2000" kern="100" dirty="0" err="1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виконання</a:t>
            </a:r>
            <a:r>
              <a:rPr lang="ru-RU" sz="2000" kern="1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(</a:t>
            </a:r>
            <a:r>
              <a:rPr lang="ru-RU" sz="2000" kern="100" dirty="0" err="1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Функція</a:t>
            </a:r>
            <a:r>
              <a:rPr lang="ru-RU" sz="2000" kern="1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1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main</a:t>
            </a:r>
            <a:r>
              <a:rPr lang="ru-RU" sz="2000" kern="1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)</a:t>
            </a:r>
            <a:r>
              <a:rPr lang="en-US" sz="2000" kern="100" dirty="0">
                <a:solidFill>
                  <a:schemeClr val="bg1"/>
                </a:solidFill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ru-RU" sz="2000" kern="1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Коли </a:t>
            </a:r>
            <a:r>
              <a:rPr lang="ru-RU" sz="2000" kern="100" dirty="0" err="1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ви</a:t>
            </a:r>
            <a:r>
              <a:rPr lang="ru-RU" sz="2000" kern="1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ru-RU" sz="2000" kern="100" dirty="0" err="1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запускаєте</a:t>
            </a:r>
            <a:r>
              <a:rPr lang="ru-RU" sz="2000" kern="1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ru-RU" sz="2000" kern="100" dirty="0" err="1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програму</a:t>
            </a:r>
            <a:r>
              <a:rPr lang="ru-RU" sz="2000" kern="1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, </a:t>
            </a:r>
            <a:r>
              <a:rPr lang="ru-RU" sz="2000" kern="100" dirty="0" err="1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відбувається</a:t>
            </a:r>
            <a:r>
              <a:rPr lang="ru-RU" sz="2000" kern="1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ru-RU" sz="2000" kern="100" dirty="0" err="1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наступне</a:t>
            </a:r>
            <a:r>
              <a:rPr lang="ru-RU" sz="2000" kern="1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: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lang="ru-RU" sz="2000" kern="100" dirty="0" err="1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Дні</a:t>
            </a:r>
            <a:r>
              <a:rPr lang="ru-RU" sz="2000" kern="1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ru-RU" sz="2000" kern="100" dirty="0" err="1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тижня</a:t>
            </a:r>
            <a:r>
              <a:rPr lang="ru-RU" sz="2000" kern="1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: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lang="ru-RU" sz="2000" kern="100" dirty="0" err="1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Програма</a:t>
            </a:r>
            <a:r>
              <a:rPr lang="ru-RU" sz="2000" kern="1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просить ввести число (0-6).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lang="ru-RU" sz="2000" kern="1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Ви вводите, </a:t>
            </a:r>
            <a:r>
              <a:rPr lang="ru-RU" sz="2000" kern="100" dirty="0" err="1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наприклад</a:t>
            </a:r>
            <a:r>
              <a:rPr lang="ru-RU" sz="2000" kern="1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, 1.</a:t>
            </a:r>
            <a:r>
              <a:rPr lang="en-US" sz="2000" kern="100" dirty="0">
                <a:solidFill>
                  <a:schemeClr val="bg1"/>
                </a:solidFill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ru-RU" sz="2000" kern="100" dirty="0" err="1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Функція</a:t>
            </a:r>
            <a:r>
              <a:rPr lang="ru-RU" sz="2000" kern="1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100" dirty="0" err="1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printDay</a:t>
            </a:r>
            <a:r>
              <a:rPr lang="ru-RU" sz="2000" kern="1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ru-RU" sz="2000" kern="100" dirty="0" err="1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бере</a:t>
            </a:r>
            <a:r>
              <a:rPr lang="ru-RU" sz="2000" kern="1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ru-RU" sz="2000" kern="100" dirty="0" err="1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масив</a:t>
            </a:r>
            <a:r>
              <a:rPr lang="ru-RU" sz="2000" kern="1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100" dirty="0" err="1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dayNames</a:t>
            </a:r>
            <a:r>
              <a:rPr lang="ru-RU" sz="2000" kern="1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, </a:t>
            </a:r>
            <a:r>
              <a:rPr lang="ru-RU" sz="2000" kern="100" dirty="0" err="1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знаходить</a:t>
            </a:r>
            <a:r>
              <a:rPr lang="ru-RU" sz="2000" kern="1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ru-RU" sz="2000" kern="100" dirty="0" err="1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елемент</a:t>
            </a:r>
            <a:r>
              <a:rPr lang="ru-RU" sz="2000" kern="1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ru-RU" sz="2000" kern="100" dirty="0" err="1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під</a:t>
            </a:r>
            <a:r>
              <a:rPr lang="ru-RU" sz="2000" kern="1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ru-RU" sz="2000" kern="100" dirty="0" err="1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індексом</a:t>
            </a:r>
            <a:r>
              <a:rPr lang="ru-RU" sz="2000" kern="1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1 ("</a:t>
            </a:r>
            <a:r>
              <a:rPr lang="en-US" sz="2000" kern="1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Tuesday</a:t>
            </a:r>
            <a:r>
              <a:rPr lang="ru-RU" sz="2000" kern="1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") і </a:t>
            </a:r>
            <a:r>
              <a:rPr lang="ru-RU" sz="2000" kern="100" dirty="0" err="1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друкує</a:t>
            </a:r>
            <a:r>
              <a:rPr lang="ru-RU" sz="2000" kern="1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ru-RU" sz="2000" kern="100" dirty="0" err="1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його</a:t>
            </a:r>
            <a:r>
              <a:rPr lang="ru-RU" sz="2000" kern="1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.</a:t>
            </a:r>
            <a:r>
              <a:rPr lang="en-US" sz="2000" kern="100" dirty="0">
                <a:solidFill>
                  <a:schemeClr val="bg1"/>
                </a:solidFill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ru-RU" sz="2000" kern="100" dirty="0" err="1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Місяці</a:t>
            </a:r>
            <a:r>
              <a:rPr lang="ru-RU" sz="2000" kern="1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:</a:t>
            </a:r>
            <a:r>
              <a:rPr lang="en-US" sz="2000" kern="100" dirty="0">
                <a:solidFill>
                  <a:schemeClr val="bg1"/>
                </a:solidFill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ru-RU" sz="2000" kern="100" dirty="0" err="1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Програма</a:t>
            </a:r>
            <a:r>
              <a:rPr lang="ru-RU" sz="2000" kern="1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просить число (1-12).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lang="ru-RU" sz="2000" kern="1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Ви вводите 1.</a:t>
            </a:r>
            <a:r>
              <a:rPr lang="en-US" sz="2000" kern="100" dirty="0">
                <a:solidFill>
                  <a:schemeClr val="bg1"/>
                </a:solidFill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100" dirty="0" err="1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Функція</a:t>
            </a:r>
            <a:r>
              <a:rPr lang="en-US" sz="2000" kern="1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100" dirty="0" err="1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printMonth</a:t>
            </a:r>
            <a:r>
              <a:rPr lang="en-US" sz="2000" kern="1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100" dirty="0" err="1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бере</a:t>
            </a:r>
            <a:r>
              <a:rPr lang="en-US" sz="2000" kern="1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100" dirty="0" err="1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monthNames</a:t>
            </a:r>
            <a:r>
              <a:rPr lang="en-US" sz="2000" kern="1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[1] ("January") і </a:t>
            </a:r>
            <a:r>
              <a:rPr lang="en-US" sz="2000" kern="100" dirty="0" err="1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друкує</a:t>
            </a:r>
            <a:r>
              <a:rPr lang="en-US" sz="2000" kern="1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100" dirty="0" err="1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його</a:t>
            </a:r>
            <a:r>
              <a:rPr lang="en-US" sz="2000" kern="1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.</a:t>
            </a:r>
            <a:r>
              <a:rPr lang="en-US" sz="2000" kern="100" dirty="0">
                <a:solidFill>
                  <a:schemeClr val="bg1"/>
                </a:solidFill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ru-RU" sz="2000" kern="100" dirty="0" err="1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Кольори</a:t>
            </a:r>
            <a:r>
              <a:rPr lang="ru-RU" sz="2000" kern="1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та Шахи: </a:t>
            </a:r>
            <a:r>
              <a:rPr lang="ru-RU" sz="2000" kern="100" dirty="0" err="1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Аналогічно</a:t>
            </a:r>
            <a:r>
              <a:rPr lang="ru-RU" sz="2000" kern="1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.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lang="uk-UA" sz="2000" b="1" kern="1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!!!</a:t>
            </a:r>
            <a:r>
              <a:rPr lang="ru-RU" sz="2000" b="1" kern="100" dirty="0" err="1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Важливий</a:t>
            </a:r>
            <a:r>
              <a:rPr lang="ru-RU" sz="2000" b="1" kern="1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нюанс (</a:t>
            </a:r>
            <a:r>
              <a:rPr lang="ru-RU" sz="2000" b="1" kern="100" dirty="0" err="1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Безпека</a:t>
            </a:r>
            <a:r>
              <a:rPr lang="ru-RU" sz="2000" b="1" kern="1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)</a:t>
            </a:r>
            <a:r>
              <a:rPr lang="uk-UA" sz="2000" b="1" kern="1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!!!</a:t>
            </a:r>
            <a:endParaRPr lang="ru-RU" sz="2000" kern="100" dirty="0">
              <a:solidFill>
                <a:schemeClr val="bg1"/>
              </a:solidFill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lang="ru-RU" sz="2000" kern="1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У </a:t>
            </a:r>
            <a:r>
              <a:rPr lang="ru-RU" sz="2000" kern="100" dirty="0" err="1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цьому</a:t>
            </a:r>
            <a:r>
              <a:rPr lang="ru-RU" sz="2000" kern="1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ru-RU" sz="2000" kern="100" dirty="0" err="1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коді</a:t>
            </a:r>
            <a:r>
              <a:rPr lang="ru-RU" sz="2000" kern="1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ru-RU" sz="2000" kern="100" dirty="0" err="1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відсутня</a:t>
            </a:r>
            <a:r>
              <a:rPr lang="ru-RU" sz="2000" kern="1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ru-RU" sz="2000" kern="100" dirty="0" err="1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перевірка</a:t>
            </a:r>
            <a:r>
              <a:rPr lang="ru-RU" sz="2000" kern="1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ru-RU" sz="2000" kern="100" dirty="0" err="1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введених</a:t>
            </a:r>
            <a:r>
              <a:rPr lang="ru-RU" sz="2000" kern="1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ru-RU" sz="2000" kern="100" dirty="0" err="1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даних</a:t>
            </a:r>
            <a:r>
              <a:rPr lang="ru-RU" sz="2000" kern="1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.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lang="ru-RU" sz="2000" kern="100" dirty="0" err="1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Якщо</a:t>
            </a:r>
            <a:r>
              <a:rPr lang="ru-RU" sz="2000" kern="1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в </a:t>
            </a:r>
            <a:r>
              <a:rPr lang="en-US" sz="2000" kern="100" dirty="0" err="1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inputDay</a:t>
            </a:r>
            <a:r>
              <a:rPr lang="ru-RU" sz="2000" kern="1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ru-RU" sz="2000" kern="100" dirty="0" err="1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користувач</a:t>
            </a:r>
            <a:r>
              <a:rPr lang="ru-RU" sz="2000" kern="1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ru-RU" sz="2000" kern="100" dirty="0" err="1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введе</a:t>
            </a:r>
            <a:r>
              <a:rPr lang="ru-RU" sz="2000" kern="1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число 100, </a:t>
            </a:r>
            <a:r>
              <a:rPr lang="ru-RU" sz="2000" kern="100" dirty="0" err="1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програма</a:t>
            </a:r>
            <a:r>
              <a:rPr lang="ru-RU" sz="2000" kern="1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ru-RU" sz="2000" kern="100" dirty="0" err="1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спробує</a:t>
            </a:r>
            <a:r>
              <a:rPr lang="ru-RU" sz="2000" kern="1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ru-RU" sz="2000" kern="100" dirty="0" err="1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звернутися</a:t>
            </a:r>
            <a:r>
              <a:rPr lang="ru-RU" sz="2000" kern="1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до </a:t>
            </a:r>
            <a:r>
              <a:rPr lang="en-US" sz="2000" kern="100" dirty="0" err="1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dayNames</a:t>
            </a:r>
            <a:r>
              <a:rPr lang="ru-RU" sz="2000" kern="1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[100].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lang="ru-RU" sz="2000" kern="100" dirty="0" err="1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Масив</a:t>
            </a:r>
            <a:r>
              <a:rPr lang="ru-RU" sz="2000" kern="1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100" dirty="0" err="1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dayNames</a:t>
            </a:r>
            <a:r>
              <a:rPr lang="ru-RU" sz="2000" kern="1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ru-RU" sz="2000" kern="100" dirty="0" err="1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має</a:t>
            </a:r>
            <a:r>
              <a:rPr lang="ru-RU" sz="2000" kern="1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ru-RU" sz="2000" kern="100" dirty="0" err="1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лише</a:t>
            </a:r>
            <a:r>
              <a:rPr lang="ru-RU" sz="2000" kern="1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7 </a:t>
            </a:r>
            <a:r>
              <a:rPr lang="ru-RU" sz="2000" kern="100" dirty="0" err="1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елементів</a:t>
            </a:r>
            <a:r>
              <a:rPr lang="ru-RU" sz="2000" kern="1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.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lang="ru-RU" sz="2000" kern="100" dirty="0" err="1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Це</a:t>
            </a:r>
            <a:r>
              <a:rPr lang="ru-RU" sz="2000" kern="1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ru-RU" sz="2000" kern="100" dirty="0" err="1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призведе</a:t>
            </a:r>
            <a:r>
              <a:rPr lang="ru-RU" sz="2000" kern="1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до </a:t>
            </a:r>
            <a:r>
              <a:rPr lang="ru-RU" sz="2000" kern="100" dirty="0" err="1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звернення</a:t>
            </a:r>
            <a:r>
              <a:rPr lang="ru-RU" sz="2000" kern="1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до </a:t>
            </a:r>
            <a:r>
              <a:rPr lang="ru-RU" sz="2000" kern="100" dirty="0" err="1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пам'яті</a:t>
            </a:r>
            <a:r>
              <a:rPr lang="ru-RU" sz="2000" kern="1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за межами </a:t>
            </a:r>
            <a:r>
              <a:rPr lang="ru-RU" sz="2000" kern="100" dirty="0" err="1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масиву</a:t>
            </a:r>
            <a:r>
              <a:rPr lang="ru-RU" sz="2000" kern="1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(</a:t>
            </a:r>
            <a:r>
              <a:rPr lang="en-US" sz="2000" kern="1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buffer overflow read</a:t>
            </a:r>
            <a:r>
              <a:rPr lang="ru-RU" sz="2000" kern="1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), </a:t>
            </a:r>
            <a:r>
              <a:rPr lang="ru-RU" sz="2000" kern="100" dirty="0" err="1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що</a:t>
            </a:r>
            <a:r>
              <a:rPr lang="ru-RU" sz="2000" kern="1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ru-RU" sz="2000" kern="100" dirty="0" err="1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виведе</a:t>
            </a:r>
            <a:r>
              <a:rPr lang="ru-RU" sz="2000" kern="1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"</a:t>
            </a:r>
            <a:r>
              <a:rPr lang="ru-RU" sz="2000" kern="100" dirty="0" err="1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сміття</a:t>
            </a:r>
            <a:r>
              <a:rPr lang="ru-RU" sz="2000" kern="1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" </a:t>
            </a:r>
            <a:r>
              <a:rPr lang="ru-RU" sz="2000" kern="100" dirty="0" err="1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або</a:t>
            </a:r>
            <a:r>
              <a:rPr lang="ru-RU" sz="2000" kern="1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ru-RU" sz="2000" kern="100" dirty="0" err="1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призведе</a:t>
            </a:r>
            <a:r>
              <a:rPr lang="ru-RU" sz="2000" kern="1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до </a:t>
            </a:r>
            <a:r>
              <a:rPr lang="ru-RU" sz="2000" kern="100" dirty="0" err="1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аварійного</a:t>
            </a:r>
            <a:r>
              <a:rPr lang="ru-RU" sz="2000" kern="1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ru-RU" sz="2000" kern="100" dirty="0" err="1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завершення</a:t>
            </a:r>
            <a:r>
              <a:rPr lang="ru-RU" sz="2000" kern="1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ru-RU" sz="2000" kern="100" dirty="0" err="1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програми</a:t>
            </a:r>
            <a:r>
              <a:rPr lang="ru-RU" sz="2000" kern="1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(</a:t>
            </a:r>
            <a:r>
              <a:rPr lang="en-US" sz="2000" kern="100" dirty="0" err="1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segfault</a:t>
            </a:r>
            <a:r>
              <a:rPr lang="ru-RU" sz="2000" kern="1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).</a:t>
            </a:r>
          </a:p>
        </p:txBody>
      </p:sp>
    </p:spTree>
    <p:extLst>
      <p:ext uri="{BB962C8B-B14F-4D97-AF65-F5344CB8AC3E}">
        <p14:creationId xmlns:p14="http://schemas.microsoft.com/office/powerpoint/2010/main" val="2612580734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>
            <a:extLst>
              <a:ext uri="{FF2B5EF4-FFF2-40B4-BE49-F238E27FC236}">
                <a16:creationId xmlns:a16="http://schemas.microsoft.com/office/drawing/2014/main" id="{1EF1B688-D888-E69C-D5C7-54548E3F22E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-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5730" b="19936"/>
          <a:stretch/>
        </p:blipFill>
        <p:spPr bwMode="auto">
          <a:xfrm>
            <a:off x="0" y="-388651"/>
            <a:ext cx="12192000" cy="72466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22C9854F-1087-6F91-7EC2-FA3DC0AB4B9F}"/>
              </a:ext>
            </a:extLst>
          </p:cNvPr>
          <p:cNvSpPr txBox="1"/>
          <p:nvPr/>
        </p:nvSpPr>
        <p:spPr>
          <a:xfrm>
            <a:off x="990302" y="-136666"/>
            <a:ext cx="10211396" cy="6742680"/>
          </a:xfrm>
          <a:prstGeom prst="rect">
            <a:avLst/>
          </a:prstGeom>
          <a:solidFill>
            <a:schemeClr val="tx1">
              <a:alpha val="53000"/>
            </a:schemeClr>
          </a:solidFill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spcAft>
                <a:spcPts val="800"/>
              </a:spcAft>
            </a:pPr>
            <a:r>
              <a:rPr lang="uk-UA" sz="2000" b="1" kern="1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Код з класами( тобто вже ООП і С++ )</a:t>
            </a:r>
            <a:endParaRPr lang="ru-RU" sz="2000" kern="100" dirty="0">
              <a:solidFill>
                <a:schemeClr val="bg1"/>
              </a:solidFill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algn="ctr">
              <a:lnSpc>
                <a:spcPct val="115000"/>
              </a:lnSpc>
              <a:spcAft>
                <a:spcPts val="800"/>
              </a:spcAft>
            </a:pPr>
            <a:r>
              <a:rPr lang="ru-RU" sz="2000" kern="100" dirty="0" err="1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Цей</a:t>
            </a:r>
            <a:r>
              <a:rPr lang="ru-RU" sz="2000" kern="1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код є </a:t>
            </a:r>
            <a:r>
              <a:rPr lang="ru-RU" sz="2000" kern="100" dirty="0" err="1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переписаною</a:t>
            </a:r>
            <a:r>
              <a:rPr lang="ru-RU" sz="2000" kern="1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ru-RU" sz="2000" kern="100" dirty="0" err="1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версією</a:t>
            </a:r>
            <a:r>
              <a:rPr lang="ru-RU" sz="2000" kern="1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ru-RU" sz="2000" kern="100" dirty="0" err="1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попередньої</a:t>
            </a:r>
            <a:r>
              <a:rPr lang="ru-RU" sz="2000" kern="1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ru-RU" sz="2000" kern="100" dirty="0" err="1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програми</a:t>
            </a:r>
            <a:r>
              <a:rPr lang="ru-RU" sz="2000" kern="1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мовою C++ з </a:t>
            </a:r>
            <a:r>
              <a:rPr lang="ru-RU" sz="2000" kern="100" dirty="0" err="1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використанням</a:t>
            </a:r>
            <a:r>
              <a:rPr lang="ru-RU" sz="2000" kern="1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ru-RU" sz="2000" kern="100" dirty="0" err="1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об'єктно-орієнтованого</a:t>
            </a:r>
            <a:r>
              <a:rPr lang="ru-RU" sz="2000" kern="1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ru-RU" sz="2000" kern="100" dirty="0" err="1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підходу</a:t>
            </a:r>
            <a:r>
              <a:rPr lang="ru-RU" sz="2000" kern="1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, де </a:t>
            </a:r>
            <a:r>
              <a:rPr lang="ru-RU" sz="2000" kern="100" dirty="0" err="1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замість</a:t>
            </a:r>
            <a:r>
              <a:rPr lang="ru-RU" sz="2000" kern="1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ru-RU" sz="2000" kern="100" dirty="0" err="1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розрізнених</a:t>
            </a:r>
            <a:r>
              <a:rPr lang="ru-RU" sz="2000" kern="1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ru-RU" sz="2000" kern="100" dirty="0" err="1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функцій</a:t>
            </a:r>
            <a:r>
              <a:rPr lang="ru-RU" sz="2000" kern="1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та </a:t>
            </a:r>
            <a:r>
              <a:rPr lang="ru-RU" sz="2000" kern="100" dirty="0" err="1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змінних</a:t>
            </a:r>
            <a:r>
              <a:rPr lang="ru-RU" sz="2000" kern="1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ru-RU" sz="2000" kern="100" dirty="0" err="1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використовуються</a:t>
            </a:r>
            <a:r>
              <a:rPr lang="ru-RU" sz="2000" kern="1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ru-RU" sz="2000" kern="100" dirty="0" err="1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класи</a:t>
            </a:r>
            <a:r>
              <a:rPr lang="ru-RU" sz="2000" kern="1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(Day, </a:t>
            </a:r>
            <a:r>
              <a:rPr lang="ru-RU" sz="2000" kern="100" dirty="0" err="1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Month</a:t>
            </a:r>
            <a:r>
              <a:rPr lang="ru-RU" sz="2000" kern="1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, Color, </a:t>
            </a:r>
            <a:r>
              <a:rPr lang="ru-RU" sz="2000" kern="100" dirty="0" err="1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ChessPiece</a:t>
            </a:r>
            <a:r>
              <a:rPr lang="ru-RU" sz="2000" kern="1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), </a:t>
            </a:r>
            <a:r>
              <a:rPr lang="ru-RU" sz="2000" kern="100" dirty="0" err="1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які</a:t>
            </a:r>
            <a:r>
              <a:rPr lang="ru-RU" sz="2000" kern="1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ru-RU" sz="2000" kern="100" dirty="0" err="1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об'єднують</a:t>
            </a:r>
            <a:r>
              <a:rPr lang="ru-RU" sz="2000" kern="1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ru-RU" sz="2000" kern="100" dirty="0" err="1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дані</a:t>
            </a:r>
            <a:r>
              <a:rPr lang="ru-RU" sz="2000" kern="1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та </a:t>
            </a:r>
            <a:r>
              <a:rPr lang="ru-RU" sz="2000" kern="100" dirty="0" err="1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дії</a:t>
            </a:r>
            <a:r>
              <a:rPr lang="ru-RU" sz="2000" kern="1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над ними в </a:t>
            </a:r>
            <a:r>
              <a:rPr lang="ru-RU" sz="2000" kern="100" dirty="0" err="1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єдине</a:t>
            </a:r>
            <a:r>
              <a:rPr lang="ru-RU" sz="2000" kern="1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ru-RU" sz="2000" kern="100" dirty="0" err="1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ціле</a:t>
            </a:r>
            <a:r>
              <a:rPr lang="ru-RU" sz="2000" kern="1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.</a:t>
            </a:r>
          </a:p>
          <a:p>
            <a:pPr algn="ctr">
              <a:lnSpc>
                <a:spcPct val="115000"/>
              </a:lnSpc>
              <a:spcAft>
                <a:spcPts val="800"/>
              </a:spcAft>
            </a:pPr>
            <a:r>
              <a:rPr lang="ru-RU" sz="2000" kern="1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На початку коду </a:t>
            </a:r>
            <a:r>
              <a:rPr lang="ru-RU" sz="2000" kern="100" dirty="0" err="1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підключаються</a:t>
            </a:r>
            <a:r>
              <a:rPr lang="ru-RU" sz="2000" kern="1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ru-RU" sz="2000" kern="100" dirty="0" err="1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бібліотеки</a:t>
            </a:r>
            <a:r>
              <a:rPr lang="ru-RU" sz="2000" kern="1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&lt;</a:t>
            </a:r>
            <a:r>
              <a:rPr lang="ru-RU" sz="2000" kern="100" dirty="0" err="1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iostream</a:t>
            </a:r>
            <a:r>
              <a:rPr lang="ru-RU" sz="2000" kern="1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&gt; для </a:t>
            </a:r>
            <a:r>
              <a:rPr lang="ru-RU" sz="2000" kern="100" dirty="0" err="1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нових</a:t>
            </a:r>
            <a:r>
              <a:rPr lang="ru-RU" sz="2000" kern="1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команд </a:t>
            </a:r>
            <a:r>
              <a:rPr lang="ru-RU" sz="2000" kern="100" dirty="0" err="1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введення-виведення</a:t>
            </a:r>
            <a:r>
              <a:rPr lang="ru-RU" sz="2000" kern="1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(</a:t>
            </a:r>
            <a:r>
              <a:rPr lang="ru-RU" sz="2000" kern="100" dirty="0" err="1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cin</a:t>
            </a:r>
            <a:r>
              <a:rPr lang="ru-RU" sz="2000" kern="1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, </a:t>
            </a:r>
            <a:r>
              <a:rPr lang="ru-RU" sz="2000" kern="100" dirty="0" err="1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cout</a:t>
            </a:r>
            <a:r>
              <a:rPr lang="ru-RU" sz="2000" kern="1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) та &lt;</a:t>
            </a:r>
            <a:r>
              <a:rPr lang="ru-RU" sz="2000" kern="100" dirty="0" err="1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string</a:t>
            </a:r>
            <a:r>
              <a:rPr lang="ru-RU" sz="2000" kern="1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&gt; для </a:t>
            </a:r>
            <a:r>
              <a:rPr lang="ru-RU" sz="2000" kern="100" dirty="0" err="1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зручної</a:t>
            </a:r>
            <a:r>
              <a:rPr lang="ru-RU" sz="2000" kern="1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ru-RU" sz="2000" kern="100" dirty="0" err="1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роботи</a:t>
            </a:r>
            <a:r>
              <a:rPr lang="ru-RU" sz="2000" kern="1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з текстом, а </a:t>
            </a:r>
            <a:r>
              <a:rPr lang="ru-RU" sz="2000" kern="100" dirty="0" err="1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простір</a:t>
            </a:r>
            <a:r>
              <a:rPr lang="ru-RU" sz="2000" kern="1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ru-RU" sz="2000" kern="100" dirty="0" err="1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імен</a:t>
            </a:r>
            <a:r>
              <a:rPr lang="ru-RU" sz="2000" kern="1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ru-RU" sz="2000" kern="100" dirty="0" err="1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std</a:t>
            </a:r>
            <a:r>
              <a:rPr lang="ru-RU" sz="2000" kern="1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ru-RU" sz="2000" kern="100" dirty="0" err="1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дозволяє</a:t>
            </a:r>
            <a:r>
              <a:rPr lang="ru-RU" sz="2000" kern="1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ru-RU" sz="2000" kern="100" dirty="0" err="1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писати</a:t>
            </a:r>
            <a:r>
              <a:rPr lang="ru-RU" sz="2000" kern="1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код </a:t>
            </a:r>
            <a:r>
              <a:rPr lang="ru-RU" sz="2000" kern="100" dirty="0" err="1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коротше</a:t>
            </a:r>
            <a:r>
              <a:rPr lang="ru-RU" sz="2000" kern="1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. </a:t>
            </a:r>
            <a:r>
              <a:rPr lang="ru-RU" sz="2000" kern="100" dirty="0" err="1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Кожен</a:t>
            </a:r>
            <a:r>
              <a:rPr lang="ru-RU" sz="2000" kern="1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ru-RU" sz="2000" kern="100" dirty="0" err="1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клас</a:t>
            </a:r>
            <a:r>
              <a:rPr lang="ru-RU" sz="2000" kern="1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(</a:t>
            </a:r>
            <a:r>
              <a:rPr lang="ru-RU" sz="2000" kern="100" dirty="0" err="1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наприклад</a:t>
            </a:r>
            <a:r>
              <a:rPr lang="ru-RU" sz="2000" kern="1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, Day) </a:t>
            </a:r>
            <a:r>
              <a:rPr lang="ru-RU" sz="2000" kern="100" dirty="0" err="1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побудований</a:t>
            </a:r>
            <a:r>
              <a:rPr lang="ru-RU" sz="2000" kern="1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за принципом </a:t>
            </a:r>
            <a:r>
              <a:rPr lang="ru-RU" sz="2000" kern="100" dirty="0" err="1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інкапсуляції</a:t>
            </a:r>
            <a:r>
              <a:rPr lang="ru-RU" sz="2000" kern="1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: </a:t>
            </a:r>
            <a:r>
              <a:rPr lang="ru-RU" sz="2000" kern="100" dirty="0" err="1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він</a:t>
            </a:r>
            <a:r>
              <a:rPr lang="ru-RU" sz="2000" kern="1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ru-RU" sz="2000" kern="100" dirty="0" err="1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має</a:t>
            </a:r>
            <a:r>
              <a:rPr lang="ru-RU" sz="2000" kern="1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ru-RU" sz="2000" kern="100" dirty="0" err="1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приватну</a:t>
            </a:r>
            <a:r>
              <a:rPr lang="ru-RU" sz="2000" kern="1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ru-RU" sz="2000" kern="100" dirty="0" err="1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частину</a:t>
            </a:r>
            <a:r>
              <a:rPr lang="ru-RU" sz="2000" kern="1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(</a:t>
            </a:r>
            <a:r>
              <a:rPr lang="ru-RU" sz="2000" kern="100" dirty="0" err="1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private</a:t>
            </a:r>
            <a:r>
              <a:rPr lang="ru-RU" sz="2000" kern="1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), де </a:t>
            </a:r>
            <a:r>
              <a:rPr lang="ru-RU" sz="2000" kern="100" dirty="0" err="1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сховані</a:t>
            </a:r>
            <a:r>
              <a:rPr lang="ru-RU" sz="2000" kern="1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ru-RU" sz="2000" kern="100" dirty="0" err="1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внутрішні</a:t>
            </a:r>
            <a:r>
              <a:rPr lang="ru-RU" sz="2000" kern="1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ru-RU" sz="2000" kern="100" dirty="0" err="1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дані</a:t>
            </a:r>
            <a:r>
              <a:rPr lang="ru-RU" sz="2000" kern="1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(сама </a:t>
            </a:r>
            <a:r>
              <a:rPr lang="ru-RU" sz="2000" kern="100" dirty="0" err="1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змінна</a:t>
            </a:r>
            <a:r>
              <a:rPr lang="ru-RU" sz="2000" kern="1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ru-RU" sz="2000" kern="100" dirty="0" err="1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вибору</a:t>
            </a:r>
            <a:r>
              <a:rPr lang="ru-RU" sz="2000" kern="1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ru-RU" sz="2000" kern="100" dirty="0" err="1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day</a:t>
            </a:r>
            <a:r>
              <a:rPr lang="ru-RU" sz="2000" kern="1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та </a:t>
            </a:r>
            <a:r>
              <a:rPr lang="ru-RU" sz="2000" kern="100" dirty="0" err="1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масив</a:t>
            </a:r>
            <a:r>
              <a:rPr lang="ru-RU" sz="2000" kern="1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ru-RU" sz="2000" kern="100" dirty="0" err="1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назв</a:t>
            </a:r>
            <a:r>
              <a:rPr lang="ru-RU" sz="2000" kern="1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ru-RU" sz="2000" kern="100" dirty="0" err="1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dayNames</a:t>
            </a:r>
            <a:r>
              <a:rPr lang="ru-RU" sz="2000" kern="1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), до </a:t>
            </a:r>
            <a:r>
              <a:rPr lang="ru-RU" sz="2000" kern="100" dirty="0" err="1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яких</a:t>
            </a:r>
            <a:r>
              <a:rPr lang="ru-RU" sz="2000" kern="1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не </a:t>
            </a:r>
            <a:r>
              <a:rPr lang="ru-RU" sz="2000" kern="100" dirty="0" err="1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можна</a:t>
            </a:r>
            <a:r>
              <a:rPr lang="ru-RU" sz="2000" kern="1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ru-RU" sz="2000" kern="100" dirty="0" err="1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доступитися</a:t>
            </a:r>
            <a:r>
              <a:rPr lang="ru-RU" sz="2000" kern="1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ru-RU" sz="2000" kern="100" dirty="0" err="1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напряму</a:t>
            </a:r>
            <a:r>
              <a:rPr lang="ru-RU" sz="2000" kern="1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ru-RU" sz="2000" kern="100" dirty="0" err="1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ззовні</a:t>
            </a:r>
            <a:r>
              <a:rPr lang="ru-RU" sz="2000" kern="1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, та </a:t>
            </a:r>
            <a:r>
              <a:rPr lang="ru-RU" sz="2000" kern="100" dirty="0" err="1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публічну</a:t>
            </a:r>
            <a:r>
              <a:rPr lang="ru-RU" sz="2000" kern="1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ru-RU" sz="2000" kern="100" dirty="0" err="1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частину</a:t>
            </a:r>
            <a:r>
              <a:rPr lang="ru-RU" sz="2000" kern="1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(</a:t>
            </a:r>
            <a:r>
              <a:rPr lang="ru-RU" sz="2000" kern="100" dirty="0" err="1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public</a:t>
            </a:r>
            <a:r>
              <a:rPr lang="ru-RU" sz="2000" kern="1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), яка </a:t>
            </a:r>
            <a:r>
              <a:rPr lang="ru-RU" sz="2000" kern="100" dirty="0" err="1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надає</a:t>
            </a:r>
            <a:r>
              <a:rPr lang="ru-RU" sz="2000" kern="1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ru-RU" sz="2000" kern="100" dirty="0" err="1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доступні</a:t>
            </a:r>
            <a:r>
              <a:rPr lang="ru-RU" sz="2000" kern="1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ru-RU" sz="2000" kern="100" dirty="0" err="1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методи</a:t>
            </a:r>
            <a:r>
              <a:rPr lang="ru-RU" sz="2000" kern="1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для </a:t>
            </a:r>
            <a:r>
              <a:rPr lang="ru-RU" sz="2000" kern="100" dirty="0" err="1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роботи</a:t>
            </a:r>
            <a:r>
              <a:rPr lang="ru-RU" sz="2000" kern="1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з </a:t>
            </a:r>
            <a:r>
              <a:rPr lang="ru-RU" sz="2000" kern="100" dirty="0" err="1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об'єктом</a:t>
            </a:r>
            <a:r>
              <a:rPr lang="ru-RU" sz="2000" kern="1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. </a:t>
            </a:r>
            <a:r>
              <a:rPr lang="ru-RU" sz="2000" kern="100" dirty="0" err="1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Усередині</a:t>
            </a:r>
            <a:r>
              <a:rPr lang="ru-RU" sz="2000" kern="1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ru-RU" sz="2000" kern="100" dirty="0" err="1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методів</a:t>
            </a:r>
            <a:r>
              <a:rPr lang="ru-RU" sz="2000" kern="1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ru-RU" sz="2000" kern="100" dirty="0" err="1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використовується</a:t>
            </a:r>
            <a:r>
              <a:rPr lang="ru-RU" sz="2000" kern="1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ru-RU" sz="2000" kern="100" dirty="0" err="1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cout</a:t>
            </a:r>
            <a:r>
              <a:rPr lang="ru-RU" sz="2000" kern="1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для </a:t>
            </a:r>
            <a:r>
              <a:rPr lang="ru-RU" sz="2000" kern="100" dirty="0" err="1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виведення</a:t>
            </a:r>
            <a:r>
              <a:rPr lang="ru-RU" sz="2000" kern="1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тексту на </a:t>
            </a:r>
            <a:r>
              <a:rPr lang="ru-RU" sz="2000" kern="100" dirty="0" err="1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екран</a:t>
            </a:r>
            <a:r>
              <a:rPr lang="ru-RU" sz="2000" kern="1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та </a:t>
            </a:r>
            <a:r>
              <a:rPr lang="ru-RU" sz="2000" kern="100" dirty="0" err="1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cin</a:t>
            </a:r>
            <a:r>
              <a:rPr lang="ru-RU" sz="2000" kern="1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для </a:t>
            </a:r>
            <a:r>
              <a:rPr lang="ru-RU" sz="2000" kern="100" dirty="0" err="1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зчитування</a:t>
            </a:r>
            <a:r>
              <a:rPr lang="ru-RU" sz="2000" kern="1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числа з </a:t>
            </a:r>
            <a:r>
              <a:rPr lang="ru-RU" sz="2000" kern="100" dirty="0" err="1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клавіатури</a:t>
            </a:r>
            <a:r>
              <a:rPr lang="ru-RU" sz="2000" kern="1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, </a:t>
            </a:r>
            <a:r>
              <a:rPr lang="ru-RU" sz="2000" kern="100" dirty="0" err="1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причому</a:t>
            </a:r>
            <a:r>
              <a:rPr lang="ru-RU" sz="2000" kern="1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ru-RU" sz="2000" kern="100" dirty="0" err="1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отримане</a:t>
            </a:r>
            <a:r>
              <a:rPr lang="ru-RU" sz="2000" kern="1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число </a:t>
            </a:r>
            <a:r>
              <a:rPr lang="ru-RU" sz="2000" kern="100" dirty="0" err="1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безпечно</a:t>
            </a:r>
            <a:r>
              <a:rPr lang="ru-RU" sz="2000" kern="1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ru-RU" sz="2000" kern="100" dirty="0" err="1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перетворюється</a:t>
            </a:r>
            <a:r>
              <a:rPr lang="ru-RU" sz="2000" kern="1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на тип </a:t>
            </a:r>
            <a:r>
              <a:rPr lang="ru-RU" sz="2000" kern="100" dirty="0" err="1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enum</a:t>
            </a:r>
            <a:r>
              <a:rPr lang="ru-RU" sz="2000" kern="1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за </a:t>
            </a:r>
            <a:r>
              <a:rPr lang="ru-RU" sz="2000" kern="100" dirty="0" err="1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допомогою</a:t>
            </a:r>
            <a:r>
              <a:rPr lang="ru-RU" sz="2000" kern="1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ru-RU" sz="2000" kern="100" dirty="0" err="1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команди</a:t>
            </a:r>
            <a:r>
              <a:rPr lang="ru-RU" sz="2000" kern="1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ru-RU" sz="2000" kern="100" dirty="0" err="1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static_cast</a:t>
            </a:r>
            <a:r>
              <a:rPr lang="ru-RU" sz="2000" kern="1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. </a:t>
            </a:r>
            <a:r>
              <a:rPr lang="ru-RU" sz="2000" kern="100" dirty="0" err="1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Функція</a:t>
            </a:r>
            <a:r>
              <a:rPr lang="ru-RU" sz="2000" kern="1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ru-RU" sz="2000" kern="100" dirty="0" err="1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main</a:t>
            </a:r>
            <a:r>
              <a:rPr lang="ru-RU" sz="2000" kern="1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ru-RU" sz="2000" kern="100" dirty="0" err="1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тепер</a:t>
            </a:r>
            <a:r>
              <a:rPr lang="ru-RU" sz="2000" kern="1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ru-RU" sz="2000" kern="100" dirty="0" err="1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виглядає</a:t>
            </a:r>
            <a:r>
              <a:rPr lang="ru-RU" sz="2000" kern="1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ru-RU" sz="2000" kern="100" dirty="0" err="1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значно</a:t>
            </a:r>
            <a:r>
              <a:rPr lang="ru-RU" sz="2000" kern="1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ru-RU" sz="2000" kern="100" dirty="0" err="1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чистіше</a:t>
            </a:r>
            <a:r>
              <a:rPr lang="ru-RU" sz="2000" kern="1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: вона просто </a:t>
            </a:r>
            <a:r>
              <a:rPr lang="ru-RU" sz="2000" kern="100" dirty="0" err="1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створює</a:t>
            </a:r>
            <a:r>
              <a:rPr lang="ru-RU" sz="2000" kern="1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ru-RU" sz="2000" kern="100" dirty="0" err="1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конкретні</a:t>
            </a:r>
            <a:r>
              <a:rPr lang="ru-RU" sz="2000" kern="1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ru-RU" sz="2000" kern="100" dirty="0" err="1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об'єкти</a:t>
            </a:r>
            <a:r>
              <a:rPr lang="ru-RU" sz="2000" kern="1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(</a:t>
            </a:r>
            <a:r>
              <a:rPr lang="ru-RU" sz="2000" kern="100" dirty="0" err="1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екземпляри</a:t>
            </a:r>
            <a:r>
              <a:rPr lang="ru-RU" sz="2000" kern="1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ru-RU" sz="2000" kern="100" dirty="0" err="1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класів</a:t>
            </a:r>
            <a:r>
              <a:rPr lang="ru-RU" sz="2000" kern="1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), </a:t>
            </a:r>
            <a:r>
              <a:rPr lang="ru-RU" sz="2000" kern="100" dirty="0" err="1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наприклад</a:t>
            </a:r>
            <a:r>
              <a:rPr lang="ru-RU" sz="2000" kern="1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Day d, і </a:t>
            </a:r>
            <a:r>
              <a:rPr lang="ru-RU" sz="2000" kern="100" dirty="0" err="1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послідовно</a:t>
            </a:r>
            <a:r>
              <a:rPr lang="ru-RU" sz="2000" kern="1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ru-RU" sz="2000" kern="100" dirty="0" err="1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викликає</a:t>
            </a:r>
            <a:r>
              <a:rPr lang="ru-RU" sz="2000" kern="1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ru-RU" sz="2000" kern="100" dirty="0" err="1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їхні</a:t>
            </a:r>
            <a:r>
              <a:rPr lang="ru-RU" sz="2000" kern="1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ru-RU" sz="2000" kern="100" dirty="0" err="1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внутрішні</a:t>
            </a:r>
            <a:r>
              <a:rPr lang="ru-RU" sz="2000" kern="1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ru-RU" sz="2000" kern="100" dirty="0" err="1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команди</a:t>
            </a:r>
            <a:r>
              <a:rPr lang="ru-RU" sz="2000" kern="1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ru-RU" sz="2000" kern="100" dirty="0" err="1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d.input</a:t>
            </a:r>
            <a:r>
              <a:rPr lang="ru-RU" sz="2000" kern="1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() для </a:t>
            </a:r>
            <a:r>
              <a:rPr lang="ru-RU" sz="2000" kern="100" dirty="0" err="1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введення</a:t>
            </a:r>
            <a:r>
              <a:rPr lang="ru-RU" sz="2000" kern="1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ru-RU" sz="2000" kern="100" dirty="0" err="1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даних</a:t>
            </a:r>
            <a:r>
              <a:rPr lang="ru-RU" sz="2000" kern="1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та </a:t>
            </a:r>
            <a:r>
              <a:rPr lang="ru-RU" sz="2000" kern="100" dirty="0" err="1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d.print</a:t>
            </a:r>
            <a:r>
              <a:rPr lang="ru-RU" sz="2000" kern="1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() для показу результату, </a:t>
            </a:r>
            <a:r>
              <a:rPr lang="ru-RU" sz="2000" kern="100" dirty="0" err="1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що</a:t>
            </a:r>
            <a:r>
              <a:rPr lang="ru-RU" sz="2000" kern="1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робить структуру </a:t>
            </a:r>
            <a:r>
              <a:rPr lang="ru-RU" sz="2000" kern="100" dirty="0" err="1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програми</a:t>
            </a:r>
            <a:r>
              <a:rPr lang="ru-RU" sz="2000" kern="1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ru-RU" sz="2000" kern="100" dirty="0" err="1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логічною</a:t>
            </a:r>
            <a:r>
              <a:rPr lang="ru-RU" sz="2000" kern="1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, </a:t>
            </a:r>
            <a:r>
              <a:rPr lang="ru-RU" sz="2000" kern="100" dirty="0" err="1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захищеною</a:t>
            </a:r>
            <a:r>
              <a:rPr lang="ru-RU" sz="2000" kern="1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та </a:t>
            </a:r>
            <a:r>
              <a:rPr lang="ru-RU" sz="2000" kern="100" dirty="0" err="1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організованою</a:t>
            </a:r>
            <a:r>
              <a:rPr lang="ru-RU" sz="2000" kern="1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.</a:t>
            </a:r>
          </a:p>
          <a:p>
            <a:pPr algn="ctr">
              <a:lnSpc>
                <a:spcPct val="115000"/>
              </a:lnSpc>
              <a:spcAft>
                <a:spcPts val="800"/>
              </a:spcAft>
            </a:pPr>
            <a:r>
              <a:rPr lang="uk-UA" sz="2000" kern="1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 </a:t>
            </a:r>
            <a:endParaRPr lang="ru-RU" sz="2000" kern="100" dirty="0">
              <a:solidFill>
                <a:schemeClr val="bg1"/>
              </a:solidFill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05073244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18" name="Picture 2">
            <a:extLst>
              <a:ext uri="{FF2B5EF4-FFF2-40B4-BE49-F238E27FC236}">
                <a16:creationId xmlns:a16="http://schemas.microsoft.com/office/drawing/2014/main" id="{130B4F32-0D0C-13B2-FEE5-27F7A6A71AB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-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7277" b="8901"/>
          <a:stretch/>
        </p:blipFill>
        <p:spPr bwMode="auto">
          <a:xfrm>
            <a:off x="0" y="-566920"/>
            <a:ext cx="12192000" cy="74249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22D52A-46C8-8F9B-23E3-F6513E36E8D7}"/>
              </a:ext>
            </a:extLst>
          </p:cNvPr>
          <p:cNvSpPr txBox="1"/>
          <p:nvPr/>
        </p:nvSpPr>
        <p:spPr>
          <a:xfrm>
            <a:off x="1869671" y="284177"/>
            <a:ext cx="8452657" cy="4632294"/>
          </a:xfrm>
          <a:prstGeom prst="rect">
            <a:avLst/>
          </a:prstGeom>
          <a:solidFill>
            <a:schemeClr val="tx1">
              <a:alpha val="51000"/>
            </a:schemeClr>
          </a:solidFill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</a:pPr>
            <a:r>
              <a:rPr lang="ru-RU" sz="2800" kern="100" dirty="0" err="1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Програма</a:t>
            </a:r>
            <a:r>
              <a:rPr lang="ru-RU" sz="2800" kern="1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ru-RU" sz="2800" kern="100" dirty="0" err="1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складається</a:t>
            </a:r>
            <a:r>
              <a:rPr lang="ru-RU" sz="2800" kern="1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з меню, яке </a:t>
            </a:r>
            <a:r>
              <a:rPr lang="ru-RU" sz="2800" kern="100" dirty="0" err="1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запускає</a:t>
            </a:r>
            <a:r>
              <a:rPr lang="ru-RU" sz="2800" kern="1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ru-RU" sz="2800" kern="100" dirty="0" err="1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різні</a:t>
            </a:r>
            <a:r>
              <a:rPr lang="ru-RU" sz="2800" kern="1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ru-RU" sz="2800" kern="100" dirty="0" err="1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завдання</a:t>
            </a:r>
            <a:r>
              <a:rPr lang="ru-RU" sz="2800" kern="1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:</a:t>
            </a:r>
          </a:p>
          <a:p>
            <a:pPr marL="342900" lvl="0" indent="-342900">
              <a:lnSpc>
                <a:spcPct val="115000"/>
              </a:lnSpc>
              <a:spcAft>
                <a:spcPts val="8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ru-RU" sz="2800" kern="1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Робота з </a:t>
            </a:r>
            <a:r>
              <a:rPr lang="ru-RU" sz="2800" kern="100" dirty="0" err="1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enum</a:t>
            </a:r>
            <a:r>
              <a:rPr lang="ru-RU" sz="2800" kern="1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(день, </a:t>
            </a:r>
            <a:r>
              <a:rPr lang="ru-RU" sz="2800" kern="100" dirty="0" err="1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місяць</a:t>
            </a:r>
            <a:r>
              <a:rPr lang="ru-RU" sz="2800" kern="1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, </a:t>
            </a:r>
            <a:r>
              <a:rPr lang="ru-RU" sz="2800" kern="100" dirty="0" err="1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колір</a:t>
            </a:r>
            <a:r>
              <a:rPr lang="ru-RU" sz="2800" kern="1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, </a:t>
            </a:r>
            <a:r>
              <a:rPr lang="ru-RU" sz="2800" kern="100" dirty="0" err="1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шахова</a:t>
            </a:r>
            <a:r>
              <a:rPr lang="ru-RU" sz="2800" kern="1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ru-RU" sz="2800" kern="100" dirty="0" err="1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фігура</a:t>
            </a:r>
            <a:r>
              <a:rPr lang="ru-RU" sz="2800" kern="1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).</a:t>
            </a:r>
          </a:p>
          <a:p>
            <a:pPr marL="342900" lvl="0" indent="-342900">
              <a:lnSpc>
                <a:spcPct val="115000"/>
              </a:lnSpc>
              <a:spcAft>
                <a:spcPts val="8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ru-RU" sz="2800" kern="1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Гра "</a:t>
            </a:r>
            <a:r>
              <a:rPr lang="ru-RU" sz="2800" kern="100" dirty="0" err="1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перевага</a:t>
            </a:r>
            <a:r>
              <a:rPr lang="ru-RU" sz="2800" kern="1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" – </a:t>
            </a:r>
            <a:r>
              <a:rPr lang="ru-RU" sz="2800" kern="100" dirty="0" err="1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чи</a:t>
            </a:r>
            <a:r>
              <a:rPr lang="ru-RU" sz="2800" kern="1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ru-RU" sz="2800" kern="100" dirty="0" err="1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б’є</a:t>
            </a:r>
            <a:r>
              <a:rPr lang="ru-RU" sz="2800" kern="1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карта </a:t>
            </a:r>
            <a:r>
              <a:rPr lang="ru-RU" sz="2800" kern="100" dirty="0" err="1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іншу</a:t>
            </a:r>
            <a:r>
              <a:rPr lang="ru-RU" sz="2800" kern="1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.</a:t>
            </a:r>
          </a:p>
          <a:p>
            <a:pPr marL="342900" lvl="0" indent="-342900">
              <a:lnSpc>
                <a:spcPct val="115000"/>
              </a:lnSpc>
              <a:spcAft>
                <a:spcPts val="8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ru-RU" sz="2800" kern="1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Конвертор </a:t>
            </a:r>
            <a:r>
              <a:rPr lang="ru-RU" sz="2800" kern="100" dirty="0" err="1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довжини</a:t>
            </a:r>
            <a:r>
              <a:rPr lang="ru-RU" sz="2800" kern="1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.</a:t>
            </a:r>
          </a:p>
          <a:p>
            <a:pPr marL="342900" lvl="0" indent="-342900">
              <a:lnSpc>
                <a:spcPct val="115000"/>
              </a:lnSpc>
              <a:spcAft>
                <a:spcPts val="8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ru-RU" sz="2800" kern="100" dirty="0" err="1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Підрахунок</a:t>
            </a:r>
            <a:r>
              <a:rPr lang="ru-RU" sz="2800" kern="1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ru-RU" sz="2800" kern="100" dirty="0" err="1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голосних</a:t>
            </a:r>
            <a:r>
              <a:rPr lang="ru-RU" sz="2800" kern="1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у </a:t>
            </a:r>
            <a:r>
              <a:rPr lang="ru-RU" sz="2800" kern="100" dirty="0" err="1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реченні</a:t>
            </a:r>
            <a:r>
              <a:rPr lang="ru-RU" sz="2800" kern="1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.</a:t>
            </a:r>
          </a:p>
          <a:p>
            <a:pPr marL="342900" lvl="0" indent="-342900">
              <a:lnSpc>
                <a:spcPct val="115000"/>
              </a:lnSpc>
              <a:spcAft>
                <a:spcPts val="8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ru-RU" sz="2800" kern="100" dirty="0" err="1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Навігація</a:t>
            </a:r>
            <a:r>
              <a:rPr lang="ru-RU" sz="2800" kern="1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корабля (рух по координатах).</a:t>
            </a:r>
          </a:p>
          <a:p>
            <a:pPr marL="342900" lvl="0" indent="-342900">
              <a:lnSpc>
                <a:spcPct val="115000"/>
              </a:lnSpc>
              <a:spcAft>
                <a:spcPts val="8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ru-RU" sz="2800" kern="100" dirty="0" err="1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Порівняння</a:t>
            </a:r>
            <a:r>
              <a:rPr lang="ru-RU" sz="2800" kern="1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ru-RU" sz="2800" kern="100" dirty="0" err="1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швидкості</a:t>
            </a:r>
            <a:r>
              <a:rPr lang="ru-RU" sz="2800" kern="1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ru-RU" sz="2800" kern="100" dirty="0" err="1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switch</a:t>
            </a:r>
            <a:r>
              <a:rPr lang="ru-RU" sz="2800" kern="1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ru-RU" sz="2800" kern="100" dirty="0" err="1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vs</a:t>
            </a:r>
            <a:r>
              <a:rPr lang="ru-RU" sz="2800" kern="1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ru-RU" sz="2800" kern="100" dirty="0" err="1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масиву</a:t>
            </a:r>
            <a:r>
              <a:rPr lang="ru-RU" sz="2800" kern="1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285961907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>
            <a:extLst>
              <a:ext uri="{FF2B5EF4-FFF2-40B4-BE49-F238E27FC236}">
                <a16:creationId xmlns:a16="http://schemas.microsoft.com/office/drawing/2014/main" id="{1B792CAC-3FE5-E9E0-C0C7-46F2A8C3607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-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7277" b="8901"/>
          <a:stretch/>
        </p:blipFill>
        <p:spPr bwMode="auto">
          <a:xfrm>
            <a:off x="0" y="-566920"/>
            <a:ext cx="12192000" cy="74249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84F1D015-6DB1-5232-026C-730D0A52743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4062" y="68448"/>
            <a:ext cx="10939749" cy="2087719"/>
          </a:xfrm>
          <a:prstGeom prst="rect">
            <a:avLst/>
          </a:prstGeom>
          <a:solidFill>
            <a:schemeClr val="tx1">
              <a:alpha val="57000"/>
            </a:schemeClr>
          </a:solidFill>
          <a:ln>
            <a:noFill/>
          </a:ln>
          <a:effectLst/>
        </p:spPr>
        <p:txBody>
          <a:bodyPr vert="horz" wrap="square" lIns="91440" tIns="45720" rIns="91440" bIns="101568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1. </a:t>
            </a:r>
            <a:r>
              <a:rPr kumimoji="0" lang="ru-RU" altLang="ru-RU" b="1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Загальна</a:t>
            </a:r>
            <a:r>
              <a:rPr kumimoji="0" lang="ru-RU" altLang="ru-RU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структура </a:t>
            </a:r>
            <a:r>
              <a:rPr kumimoji="0" lang="ru-RU" altLang="ru-RU" b="1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програми</a:t>
            </a:r>
            <a:endParaRPr kumimoji="0" lang="ru-RU" altLang="ru-RU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Програма</a:t>
            </a: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kumimoji="0" lang="ru-RU" altLang="ru-RU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складається</a:t>
            </a: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з набору </a:t>
            </a:r>
            <a:r>
              <a:rPr kumimoji="0" lang="ru-RU" altLang="ru-RU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окремих</a:t>
            </a: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kumimoji="0" lang="ru-RU" altLang="ru-RU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класів</a:t>
            </a: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, </a:t>
            </a:r>
            <a:r>
              <a:rPr kumimoji="0" lang="ru-RU" altLang="ru-RU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кожен</a:t>
            </a: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з </a:t>
            </a:r>
            <a:r>
              <a:rPr kumimoji="0" lang="ru-RU" altLang="ru-RU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яких</a:t>
            </a: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kumimoji="0" lang="ru-RU" altLang="ru-RU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демонструє</a:t>
            </a: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роботу з </a:t>
            </a:r>
            <a:r>
              <a:rPr kumimoji="0" lang="ru-RU" altLang="ru-RU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переліками</a:t>
            </a: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(</a:t>
            </a:r>
            <a:r>
              <a:rPr kumimoji="0" lang="ru-RU" altLang="ru-RU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enum</a:t>
            </a: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), </a:t>
            </a:r>
            <a:r>
              <a:rPr kumimoji="0" lang="ru-RU" altLang="ru-RU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введенням</a:t>
            </a: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kumimoji="0" lang="ru-RU" altLang="ru-RU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даних</a:t>
            </a: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, </a:t>
            </a:r>
            <a:r>
              <a:rPr kumimoji="0" lang="ru-RU" altLang="ru-RU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перевіркою</a:t>
            </a: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kumimoji="0" lang="ru-RU" altLang="ru-RU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коректності</a:t>
            </a: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, </a:t>
            </a:r>
            <a:r>
              <a:rPr kumimoji="0" lang="ru-RU" altLang="ru-RU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логічною</a:t>
            </a: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kumimoji="0" lang="ru-RU" altLang="ru-RU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обробкою</a:t>
            </a: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та </a:t>
            </a:r>
            <a:r>
              <a:rPr kumimoji="0" lang="ru-RU" altLang="ru-RU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виведенням</a:t>
            </a: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kumimoji="0" lang="ru-RU" altLang="ru-RU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результатів</a:t>
            </a: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. </a:t>
            </a:r>
            <a:r>
              <a:rPr kumimoji="0" lang="ru-RU" altLang="ru-RU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Усі</a:t>
            </a: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kumimoji="0" lang="ru-RU" altLang="ru-RU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частини</a:t>
            </a: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kumimoji="0" lang="ru-RU" altLang="ru-RU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програми</a:t>
            </a: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kumimoji="0" lang="ru-RU" altLang="ru-RU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об’єднані</a:t>
            </a: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kumimoji="0" lang="ru-RU" altLang="ru-RU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головним</a:t>
            </a: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меню, яке </a:t>
            </a:r>
            <a:r>
              <a:rPr kumimoji="0" lang="ru-RU" altLang="ru-RU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дозволяє</a:t>
            </a: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kumimoji="0" lang="ru-RU" altLang="ru-RU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користувачеві</a:t>
            </a: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kumimoji="0" lang="ru-RU" altLang="ru-RU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запускати</a:t>
            </a: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kumimoji="0" lang="ru-RU" altLang="ru-RU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різні</a:t>
            </a: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kumimoji="0" lang="ru-RU" altLang="ru-RU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завдання</a:t>
            </a: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. </a:t>
            </a:r>
            <a:r>
              <a:rPr kumimoji="0" lang="ru-RU" altLang="ru-RU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Кожен</a:t>
            </a: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пункт меню </a:t>
            </a:r>
            <a:r>
              <a:rPr kumimoji="0" lang="ru-RU" altLang="ru-RU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відповідає</a:t>
            </a: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одному з </a:t>
            </a:r>
            <a:r>
              <a:rPr kumimoji="0" lang="ru-RU" altLang="ru-RU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класів</a:t>
            </a: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kumimoji="0" lang="ru-RU" altLang="ru-RU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або</a:t>
            </a: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тесту </a:t>
            </a:r>
            <a:r>
              <a:rPr kumimoji="0" lang="ru-RU" altLang="ru-RU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швидкості</a:t>
            </a: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. </a:t>
            </a:r>
            <a:r>
              <a:rPr kumimoji="0" lang="ru-RU" altLang="ru-RU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Програма</a:t>
            </a: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kumimoji="0" lang="ru-RU" altLang="ru-RU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працює</a:t>
            </a: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kumimoji="0" lang="ru-RU" altLang="ru-RU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циклічно</a:t>
            </a: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, </a:t>
            </a:r>
            <a:r>
              <a:rPr kumimoji="0" lang="ru-RU" altLang="ru-RU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поки</a:t>
            </a: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kumimoji="0" lang="ru-RU" altLang="ru-RU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користувач</a:t>
            </a: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не </a:t>
            </a:r>
            <a:r>
              <a:rPr kumimoji="0" lang="ru-RU" altLang="ru-RU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обере</a:t>
            </a: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пункт "0 – </a:t>
            </a:r>
            <a:r>
              <a:rPr kumimoji="0" lang="ru-RU" altLang="ru-RU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Exit</a:t>
            </a: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".</a:t>
            </a:r>
            <a:endParaRPr kumimoji="0" lang="ru-RU" altLang="ru-RU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0F32BE5-B6F4-FC59-12F6-574EC31E924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4063" y="2663692"/>
            <a:ext cx="10939748" cy="1810720"/>
          </a:xfrm>
          <a:prstGeom prst="rect">
            <a:avLst/>
          </a:prstGeom>
          <a:solidFill>
            <a:schemeClr val="tx1">
              <a:alpha val="57000"/>
            </a:schemeClr>
          </a:solidFill>
          <a:ln>
            <a:noFill/>
          </a:ln>
          <a:effectLst/>
        </p:spPr>
        <p:txBody>
          <a:bodyPr vert="horz" wrap="square" lIns="91440" tIns="45720" rIns="91440" bIns="101568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2. Клас Day (робота з днями </a:t>
            </a:r>
            <a:r>
              <a:rPr kumimoji="0" lang="ru-RU" altLang="ru-RU" b="1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тижня</a:t>
            </a:r>
            <a:r>
              <a:rPr kumimoji="0" lang="ru-RU" altLang="ru-RU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)</a:t>
            </a:r>
            <a:endParaRPr kumimoji="0" lang="ru-RU" altLang="ru-RU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Клас Day </a:t>
            </a:r>
            <a:r>
              <a:rPr kumimoji="0" lang="ru-RU" altLang="ru-RU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містить</a:t>
            </a: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kumimoji="0" lang="ru-RU" altLang="ru-RU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перелік</a:t>
            </a: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kumimoji="0" lang="ru-RU" altLang="ru-RU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днів</a:t>
            </a: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kumimoji="0" lang="ru-RU" altLang="ru-RU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тижня</a:t>
            </a: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(</a:t>
            </a:r>
            <a:r>
              <a:rPr kumimoji="0" lang="ru-RU" altLang="ru-RU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Monday</a:t>
            </a: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– Sunday), </a:t>
            </a:r>
            <a:r>
              <a:rPr kumimoji="0" lang="ru-RU" altLang="ru-RU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змінну</a:t>
            </a: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для </a:t>
            </a:r>
            <a:r>
              <a:rPr kumimoji="0" lang="ru-RU" altLang="ru-RU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зберігання</a:t>
            </a: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kumimoji="0" lang="ru-RU" altLang="ru-RU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вибраного</a:t>
            </a: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дня та </a:t>
            </a:r>
            <a:r>
              <a:rPr kumimoji="0" lang="ru-RU" altLang="ru-RU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масив</a:t>
            </a: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kumimoji="0" lang="ru-RU" altLang="ru-RU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текстових</a:t>
            </a: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назв. Метод </a:t>
            </a:r>
            <a:r>
              <a:rPr kumimoji="0" lang="ru-RU" altLang="ru-RU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input</a:t>
            </a: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() </a:t>
            </a:r>
            <a:r>
              <a:rPr kumimoji="0" lang="ru-RU" altLang="ru-RU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дозволяє</a:t>
            </a: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kumimoji="0" lang="ru-RU" altLang="ru-RU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користувачеві</a:t>
            </a: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ввести номер дня </a:t>
            </a:r>
            <a:r>
              <a:rPr kumimoji="0" lang="ru-RU" altLang="ru-RU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від</a:t>
            </a: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0 до 6; </a:t>
            </a:r>
            <a:r>
              <a:rPr kumimoji="0" lang="ru-RU" altLang="ru-RU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якщо</a:t>
            </a: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введено </a:t>
            </a:r>
            <a:r>
              <a:rPr kumimoji="0" lang="ru-RU" altLang="ru-RU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некоректне</a:t>
            </a: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число, автоматично </a:t>
            </a:r>
            <a:r>
              <a:rPr kumimoji="0" lang="ru-RU" altLang="ru-RU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встановлюється</a:t>
            </a: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kumimoji="0" lang="ru-RU" altLang="ru-RU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значення</a:t>
            </a: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за </a:t>
            </a:r>
            <a:r>
              <a:rPr kumimoji="0" lang="ru-RU" altLang="ru-RU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замовчуванням</a:t>
            </a: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. Метод </a:t>
            </a:r>
            <a:r>
              <a:rPr kumimoji="0" lang="ru-RU" altLang="ru-RU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print</a:t>
            </a: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() </a:t>
            </a:r>
            <a:r>
              <a:rPr kumimoji="0" lang="ru-RU" altLang="ru-RU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виводить</a:t>
            </a: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kumimoji="0" lang="ru-RU" altLang="ru-RU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текстову</a:t>
            </a: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kumimoji="0" lang="ru-RU" altLang="ru-RU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назву</a:t>
            </a: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kumimoji="0" lang="ru-RU" altLang="ru-RU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відповідного</a:t>
            </a: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дня </a:t>
            </a:r>
            <a:r>
              <a:rPr kumimoji="0" lang="ru-RU" altLang="ru-RU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із</a:t>
            </a: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kumimoji="0" lang="ru-RU" altLang="ru-RU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масиву</a:t>
            </a: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.</a:t>
            </a:r>
            <a:endParaRPr kumimoji="0" lang="ru-RU" altLang="ru-RU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9A3095C-DB64-010F-17FF-C338BEFEB70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4063" y="4889910"/>
            <a:ext cx="10939748" cy="1200329"/>
          </a:xfrm>
          <a:prstGeom prst="rect">
            <a:avLst/>
          </a:prstGeom>
          <a:solidFill>
            <a:schemeClr val="tx1">
              <a:alpha val="57000"/>
            </a:schemeClr>
          </a:solidFill>
          <a:ln>
            <a:noFill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3. Клас </a:t>
            </a:r>
            <a:r>
              <a:rPr kumimoji="0" lang="ru-RU" altLang="ru-RU" b="1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Month</a:t>
            </a:r>
            <a:r>
              <a:rPr kumimoji="0" lang="ru-RU" altLang="ru-RU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(робота з </a:t>
            </a:r>
            <a:r>
              <a:rPr kumimoji="0" lang="ru-RU" altLang="ru-RU" b="1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місяцями</a:t>
            </a:r>
            <a:r>
              <a:rPr kumimoji="0" lang="ru-RU" altLang="ru-RU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)</a:t>
            </a:r>
            <a:endParaRPr kumimoji="0" lang="ru-RU" altLang="ru-RU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Клас </a:t>
            </a:r>
            <a:r>
              <a:rPr kumimoji="0" lang="ru-RU" altLang="ru-RU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Month</a:t>
            </a: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kumimoji="0" lang="ru-RU" altLang="ru-RU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використовує</a:t>
            </a: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kumimoji="0" lang="ru-RU" altLang="ru-RU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значення</a:t>
            </a: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kumimoji="0" lang="ru-RU" altLang="ru-RU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enum</a:t>
            </a: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kumimoji="0" lang="ru-RU" altLang="ru-RU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від</a:t>
            </a: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1 до 12, </a:t>
            </a:r>
            <a:r>
              <a:rPr kumimoji="0" lang="ru-RU" altLang="ru-RU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що</a:t>
            </a: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kumimoji="0" lang="ru-RU" altLang="ru-RU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відповідають</a:t>
            </a: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kumimoji="0" lang="ru-RU" altLang="ru-RU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місяцям</a:t>
            </a: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року. </a:t>
            </a:r>
            <a:r>
              <a:rPr kumimoji="0" lang="ru-RU" altLang="ru-RU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Масив</a:t>
            </a: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kumimoji="0" lang="ru-RU" altLang="ru-RU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рядків</a:t>
            </a: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kumimoji="0" lang="ru-RU" altLang="ru-RU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містить</a:t>
            </a: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kumimoji="0" lang="ru-RU" altLang="ru-RU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назви</a:t>
            </a: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kumimoji="0" lang="ru-RU" altLang="ru-RU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місяців</a:t>
            </a: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. Метод </a:t>
            </a:r>
            <a:r>
              <a:rPr kumimoji="0" lang="ru-RU" altLang="ru-RU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input</a:t>
            </a: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() </a:t>
            </a:r>
            <a:r>
              <a:rPr kumimoji="0" lang="ru-RU" altLang="ru-RU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запитує</a:t>
            </a: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число </a:t>
            </a:r>
            <a:r>
              <a:rPr kumimoji="0" lang="ru-RU" altLang="ru-RU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від</a:t>
            </a: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1 до 12, </a:t>
            </a:r>
            <a:r>
              <a:rPr kumimoji="0" lang="ru-RU" altLang="ru-RU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виконує</a:t>
            </a: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kumimoji="0" lang="ru-RU" altLang="ru-RU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перевірку</a:t>
            </a: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kumimoji="0" lang="ru-RU" altLang="ru-RU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правильності</a:t>
            </a: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, а </a:t>
            </a:r>
            <a:r>
              <a:rPr kumimoji="0" lang="ru-RU" altLang="ru-RU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print</a:t>
            </a: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() </a:t>
            </a:r>
            <a:r>
              <a:rPr kumimoji="0" lang="ru-RU" altLang="ru-RU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виводить</a:t>
            </a: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kumimoji="0" lang="ru-RU" altLang="ru-RU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відповідну</a:t>
            </a: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kumimoji="0" lang="ru-RU" altLang="ru-RU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назву</a:t>
            </a: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kumimoji="0" lang="ru-RU" altLang="ru-RU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місяця</a:t>
            </a: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. Тут </a:t>
            </a:r>
            <a:r>
              <a:rPr kumimoji="0" lang="ru-RU" altLang="ru-RU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демонструється</a:t>
            </a: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"</a:t>
            </a:r>
            <a:r>
              <a:rPr kumimoji="0" lang="ru-RU" altLang="ru-RU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табличний</a:t>
            </a: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" метод доступу — </a:t>
            </a:r>
            <a:r>
              <a:rPr kumimoji="0" lang="ru-RU" altLang="ru-RU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отримання</a:t>
            </a: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kumimoji="0" lang="ru-RU" altLang="ru-RU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назви</a:t>
            </a: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через </a:t>
            </a:r>
            <a:r>
              <a:rPr kumimoji="0" lang="ru-RU" altLang="ru-RU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масив</a:t>
            </a: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.</a:t>
            </a: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4280554417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2">
            <a:extLst>
              <a:ext uri="{FF2B5EF4-FFF2-40B4-BE49-F238E27FC236}">
                <a16:creationId xmlns:a16="http://schemas.microsoft.com/office/drawing/2014/main" id="{DC6E12FC-A85A-44F8-B8FB-4B46E2812F2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-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7277" b="8901"/>
          <a:stretch/>
        </p:blipFill>
        <p:spPr bwMode="auto">
          <a:xfrm>
            <a:off x="0" y="-566920"/>
            <a:ext cx="12192000" cy="74249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20CD70DE-0781-E994-FB7C-D8F85F29C393}"/>
              </a:ext>
            </a:extLst>
          </p:cNvPr>
          <p:cNvSpPr>
            <a:spLocks noChangeArrowheads="1"/>
          </p:cNvSpPr>
          <p:nvPr/>
        </p:nvSpPr>
        <p:spPr bwMode="auto">
          <a:xfrm>
            <a:off x="936182" y="218368"/>
            <a:ext cx="9193936" cy="1533721"/>
          </a:xfrm>
          <a:prstGeom prst="rect">
            <a:avLst/>
          </a:prstGeom>
          <a:solidFill>
            <a:schemeClr val="tx1">
              <a:alpha val="55000"/>
            </a:schemeClr>
          </a:solidFill>
          <a:ln>
            <a:noFill/>
          </a:ln>
          <a:effectLst/>
        </p:spPr>
        <p:txBody>
          <a:bodyPr vert="horz" wrap="square" lIns="91440" tIns="45720" rIns="91440" bIns="101568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4. Клас Color (</a:t>
            </a:r>
            <a:r>
              <a:rPr kumimoji="0" lang="ru-RU" altLang="ru-RU" b="1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кольори</a:t>
            </a:r>
            <a:r>
              <a:rPr kumimoji="0" lang="ru-RU" altLang="ru-RU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спектра)</a:t>
            </a:r>
            <a:endParaRPr kumimoji="0" lang="ru-RU" altLang="ru-RU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Клас Color </a:t>
            </a:r>
            <a:r>
              <a:rPr kumimoji="0" lang="ru-RU" altLang="ru-RU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описує</a:t>
            </a: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kumimoji="0" lang="ru-RU" altLang="ru-RU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сім</a:t>
            </a: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kumimoji="0" lang="ru-RU" altLang="ru-RU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стандартних</a:t>
            </a: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kumimoji="0" lang="ru-RU" altLang="ru-RU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кольорів</a:t>
            </a: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спектра за </a:t>
            </a:r>
            <a:r>
              <a:rPr kumimoji="0" lang="ru-RU" altLang="ru-RU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допомогою</a:t>
            </a: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kumimoji="0" lang="ru-RU" altLang="ru-RU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enum</a:t>
            </a: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. </a:t>
            </a:r>
            <a:r>
              <a:rPr kumimoji="0" lang="ru-RU" altLang="ru-RU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Користувач</a:t>
            </a: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вводить число </a:t>
            </a:r>
            <a:r>
              <a:rPr kumimoji="0" lang="ru-RU" altLang="ru-RU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від</a:t>
            </a: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0 до 6. Метод </a:t>
            </a:r>
            <a:r>
              <a:rPr kumimoji="0" lang="ru-RU" altLang="ru-RU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print</a:t>
            </a: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() </a:t>
            </a:r>
            <a:r>
              <a:rPr kumimoji="0" lang="ru-RU" altLang="ru-RU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повертає</a:t>
            </a: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kumimoji="0" lang="ru-RU" altLang="ru-RU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англійську</a:t>
            </a: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kumimoji="0" lang="ru-RU" altLang="ru-RU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назву</a:t>
            </a: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kumimoji="0" lang="ru-RU" altLang="ru-RU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вибраного</a:t>
            </a: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kumimoji="0" lang="ru-RU" altLang="ru-RU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кольору</a:t>
            </a: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. За структурою </a:t>
            </a:r>
            <a:r>
              <a:rPr kumimoji="0" lang="ru-RU" altLang="ru-RU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цей</a:t>
            </a: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kumimoji="0" lang="ru-RU" altLang="ru-RU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клас</a:t>
            </a: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kumimoji="0" lang="ru-RU" altLang="ru-RU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аналогічний</a:t>
            </a: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Day і </a:t>
            </a:r>
            <a:r>
              <a:rPr kumimoji="0" lang="ru-RU" altLang="ru-RU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Month</a:t>
            </a: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, </a:t>
            </a:r>
            <a:r>
              <a:rPr kumimoji="0" lang="ru-RU" altLang="ru-RU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що</a:t>
            </a: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kumimoji="0" lang="ru-RU" altLang="ru-RU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демонструє</a:t>
            </a: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kumimoji="0" lang="ru-RU" altLang="ru-RU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універсальність</a:t>
            </a: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kumimoji="0" lang="ru-RU" altLang="ru-RU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підходу</a:t>
            </a: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.</a:t>
            </a:r>
            <a:endParaRPr kumimoji="0" lang="ru-RU" altLang="ru-RU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4E91159-794F-0790-ABBD-72DAC0A8B622}"/>
              </a:ext>
            </a:extLst>
          </p:cNvPr>
          <p:cNvSpPr>
            <a:spLocks noChangeArrowheads="1"/>
          </p:cNvSpPr>
          <p:nvPr/>
        </p:nvSpPr>
        <p:spPr bwMode="auto">
          <a:xfrm>
            <a:off x="936182" y="2133714"/>
            <a:ext cx="9069230" cy="1533721"/>
          </a:xfrm>
          <a:prstGeom prst="rect">
            <a:avLst/>
          </a:prstGeom>
          <a:solidFill>
            <a:schemeClr val="tx1">
              <a:alpha val="55000"/>
            </a:schemeClr>
          </a:solidFill>
          <a:ln>
            <a:noFill/>
          </a:ln>
          <a:effectLst/>
        </p:spPr>
        <p:txBody>
          <a:bodyPr vert="horz" wrap="square" lIns="91440" tIns="45720" rIns="91440" bIns="101568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5. Клас </a:t>
            </a:r>
            <a:r>
              <a:rPr kumimoji="0" lang="ru-RU" altLang="ru-RU" b="1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ChessPiece</a:t>
            </a:r>
            <a:r>
              <a:rPr kumimoji="0" lang="ru-RU" altLang="ru-RU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(</a:t>
            </a:r>
            <a:r>
              <a:rPr kumimoji="0" lang="ru-RU" altLang="ru-RU" b="1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шахові</a:t>
            </a:r>
            <a:r>
              <a:rPr kumimoji="0" lang="ru-RU" altLang="ru-RU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kumimoji="0" lang="ru-RU" altLang="ru-RU" b="1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фігури</a:t>
            </a:r>
            <a:r>
              <a:rPr kumimoji="0" lang="ru-RU" altLang="ru-RU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)</a:t>
            </a:r>
            <a:endParaRPr kumimoji="0" lang="ru-RU" altLang="ru-RU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У </a:t>
            </a:r>
            <a:r>
              <a:rPr kumimoji="0" lang="ru-RU" altLang="ru-RU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цьому</a:t>
            </a: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kumimoji="0" lang="ru-RU" altLang="ru-RU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класі</a:t>
            </a: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kumimoji="0" lang="ru-RU" altLang="ru-RU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enum</a:t>
            </a: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kumimoji="0" lang="ru-RU" altLang="ru-RU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містить</a:t>
            </a: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kumimoji="0" lang="ru-RU" altLang="ru-RU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назви</a:t>
            </a: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шести </a:t>
            </a:r>
            <a:r>
              <a:rPr kumimoji="0" lang="ru-RU" altLang="ru-RU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шахових</a:t>
            </a: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kumimoji="0" lang="ru-RU" altLang="ru-RU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фігур</a:t>
            </a: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: King, Queen, </a:t>
            </a:r>
            <a:r>
              <a:rPr kumimoji="0" lang="ru-RU" altLang="ru-RU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Rook</a:t>
            </a: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, </a:t>
            </a:r>
            <a:r>
              <a:rPr kumimoji="0" lang="ru-RU" altLang="ru-RU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Bishop</a:t>
            </a: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, Knight, </a:t>
            </a:r>
            <a:r>
              <a:rPr kumimoji="0" lang="ru-RU" altLang="ru-RU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Pawn</a:t>
            </a: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. </a:t>
            </a:r>
            <a:r>
              <a:rPr kumimoji="0" lang="ru-RU" altLang="ru-RU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Після</a:t>
            </a: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kumimoji="0" lang="ru-RU" altLang="ru-RU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введення</a:t>
            </a: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kumimoji="0" lang="ru-RU" altLang="ru-RU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значення</a:t>
            </a: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kumimoji="0" lang="ru-RU" altLang="ru-RU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програма</a:t>
            </a: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kumimoji="0" lang="ru-RU" altLang="ru-RU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контролює</a:t>
            </a: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kumimoji="0" lang="ru-RU" altLang="ru-RU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помилки</a:t>
            </a: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і </a:t>
            </a:r>
            <a:r>
              <a:rPr kumimoji="0" lang="ru-RU" altLang="ru-RU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відображає</a:t>
            </a: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kumimoji="0" lang="ru-RU" altLang="ru-RU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назву</a:t>
            </a: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kumimoji="0" lang="ru-RU" altLang="ru-RU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фігури</a:t>
            </a: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. Таким чином </a:t>
            </a:r>
            <a:r>
              <a:rPr kumimoji="0" lang="ru-RU" altLang="ru-RU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показується</a:t>
            </a: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, як </a:t>
            </a:r>
            <a:r>
              <a:rPr kumimoji="0" lang="ru-RU" altLang="ru-RU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enum</a:t>
            </a: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kumimoji="0" lang="ru-RU" altLang="ru-RU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використовується</a:t>
            </a: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для </a:t>
            </a:r>
            <a:r>
              <a:rPr kumimoji="0" lang="ru-RU" altLang="ru-RU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ігрових</a:t>
            </a: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kumimoji="0" lang="ru-RU" altLang="ru-RU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об’єктів</a:t>
            </a: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.</a:t>
            </a:r>
            <a:endParaRPr kumimoji="0" lang="ru-RU" altLang="ru-RU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DB4AA17-181A-1365-69BF-7947E45CCC0D}"/>
              </a:ext>
            </a:extLst>
          </p:cNvPr>
          <p:cNvSpPr>
            <a:spLocks noChangeArrowheads="1"/>
          </p:cNvSpPr>
          <p:nvPr/>
        </p:nvSpPr>
        <p:spPr bwMode="auto">
          <a:xfrm>
            <a:off x="936182" y="4049060"/>
            <a:ext cx="8907065" cy="1477328"/>
          </a:xfrm>
          <a:prstGeom prst="rect">
            <a:avLst/>
          </a:prstGeom>
          <a:solidFill>
            <a:schemeClr val="tx1">
              <a:alpha val="55000"/>
            </a:schemeClr>
          </a:solidFill>
          <a:ln>
            <a:noFill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6. Структура Card (</a:t>
            </a:r>
            <a:r>
              <a:rPr kumimoji="0" lang="ru-RU" altLang="ru-RU" b="1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карткова</a:t>
            </a:r>
            <a:r>
              <a:rPr kumimoji="0" lang="ru-RU" altLang="ru-RU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kumimoji="0" lang="ru-RU" altLang="ru-RU" b="1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гра</a:t>
            </a:r>
            <a:r>
              <a:rPr kumimoji="0" lang="ru-RU" altLang="ru-RU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, </a:t>
            </a:r>
            <a:r>
              <a:rPr kumimoji="0" lang="ru-RU" altLang="ru-RU" b="1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масті</a:t>
            </a:r>
            <a:r>
              <a:rPr kumimoji="0" lang="ru-RU" altLang="ru-RU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та ранги)</a:t>
            </a:r>
            <a:endParaRPr kumimoji="0" lang="ru-RU" altLang="ru-RU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Структура Card </a:t>
            </a:r>
            <a:r>
              <a:rPr kumimoji="0" lang="ru-RU" altLang="ru-RU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містить</a:t>
            </a: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два </a:t>
            </a:r>
            <a:r>
              <a:rPr kumimoji="0" lang="ru-RU" altLang="ru-RU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переліки</a:t>
            </a: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: </a:t>
            </a:r>
            <a:r>
              <a:rPr kumimoji="0" lang="ru-RU" altLang="ru-RU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масті</a:t>
            </a: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карт (</a:t>
            </a:r>
            <a:r>
              <a:rPr kumimoji="0" lang="ru-RU" altLang="ru-RU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Spades</a:t>
            </a: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, </a:t>
            </a:r>
            <a:r>
              <a:rPr kumimoji="0" lang="ru-RU" altLang="ru-RU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Clubs</a:t>
            </a: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, Diamonds, </a:t>
            </a:r>
            <a:r>
              <a:rPr kumimoji="0" lang="ru-RU" altLang="ru-RU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Hearts</a:t>
            </a: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) та </a:t>
            </a:r>
            <a:r>
              <a:rPr kumimoji="0" lang="ru-RU" altLang="ru-RU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значення</a:t>
            </a: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kumimoji="0" lang="ru-RU" altLang="ru-RU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карти</a:t>
            </a: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kumimoji="0" lang="ru-RU" altLang="ru-RU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від</a:t>
            </a: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7 до A (</a:t>
            </a:r>
            <a:r>
              <a:rPr kumimoji="0" lang="ru-RU" altLang="ru-RU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Ace</a:t>
            </a: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), де </a:t>
            </a:r>
            <a:r>
              <a:rPr kumimoji="0" lang="ru-RU" altLang="ru-RU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старші</a:t>
            </a: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kumimoji="0" lang="ru-RU" altLang="ru-RU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карти</a:t>
            </a: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kumimoji="0" lang="ru-RU" altLang="ru-RU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мають</a:t>
            </a: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kumimoji="0" lang="ru-RU" altLang="ru-RU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більші</a:t>
            </a: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kumimoji="0" lang="ru-RU" altLang="ru-RU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числові</a:t>
            </a: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kumimoji="0" lang="ru-RU" altLang="ru-RU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значення</a:t>
            </a: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. </a:t>
            </a:r>
            <a:r>
              <a:rPr kumimoji="0" lang="ru-RU" altLang="ru-RU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Реалізовані</a:t>
            </a: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kumimoji="0" lang="ru-RU" altLang="ru-RU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допоміжні</a:t>
            </a: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kumimoji="0" lang="ru-RU" altLang="ru-RU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методи</a:t>
            </a: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для </a:t>
            </a:r>
            <a:r>
              <a:rPr kumimoji="0" lang="ru-RU" altLang="ru-RU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перетворення</a:t>
            </a: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kumimoji="0" lang="ru-RU" altLang="ru-RU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масті</a:t>
            </a: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та </a:t>
            </a:r>
            <a:r>
              <a:rPr kumimoji="0" lang="ru-RU" altLang="ru-RU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значення</a:t>
            </a: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на текст. Метод </a:t>
            </a:r>
            <a:r>
              <a:rPr kumimoji="0" lang="ru-RU" altLang="ru-RU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input</a:t>
            </a: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() </a:t>
            </a:r>
            <a:r>
              <a:rPr kumimoji="0" lang="ru-RU" altLang="ru-RU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дозволяє</a:t>
            </a: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ввести карту </a:t>
            </a:r>
            <a:r>
              <a:rPr kumimoji="0" lang="ru-RU" altLang="ru-RU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вручну</a:t>
            </a: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, а </a:t>
            </a:r>
            <a:r>
              <a:rPr kumimoji="0" lang="ru-RU" altLang="ru-RU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print</a:t>
            </a: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() </a:t>
            </a:r>
            <a:r>
              <a:rPr kumimoji="0" lang="ru-RU" altLang="ru-RU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виводить</a:t>
            </a: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kumimoji="0" lang="ru-RU" altLang="ru-RU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її</a:t>
            </a: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у </a:t>
            </a:r>
            <a:r>
              <a:rPr kumimoji="0" lang="ru-RU" altLang="ru-RU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вигляді</a:t>
            </a: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“Queen </a:t>
            </a:r>
            <a:r>
              <a:rPr kumimoji="0" lang="ru-RU" altLang="ru-RU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of</a:t>
            </a: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kumimoji="0" lang="ru-RU" altLang="ru-RU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Hearts</a:t>
            </a: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”.</a:t>
            </a:r>
            <a:endParaRPr kumimoji="0" lang="ru-RU" altLang="ru-RU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46676782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2">
            <a:extLst>
              <a:ext uri="{FF2B5EF4-FFF2-40B4-BE49-F238E27FC236}">
                <a16:creationId xmlns:a16="http://schemas.microsoft.com/office/drawing/2014/main" id="{78ABE823-D2EB-76DD-22B1-D9ED285CEFB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-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7277" b="8901"/>
          <a:stretch/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1788ED6D-523A-81CC-1749-401E4D2C6AD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2877" y="549636"/>
            <a:ext cx="10939750" cy="1995386"/>
          </a:xfrm>
          <a:prstGeom prst="rect">
            <a:avLst/>
          </a:prstGeom>
          <a:solidFill>
            <a:schemeClr val="tx1">
              <a:alpha val="53000"/>
            </a:schemeClr>
          </a:solidFill>
          <a:ln>
            <a:noFill/>
          </a:ln>
          <a:effectLst/>
        </p:spPr>
        <p:txBody>
          <a:bodyPr vert="horz" wrap="square" lIns="91440" tIns="45720" rIns="91440" bIns="101568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20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7. </a:t>
            </a:r>
            <a:r>
              <a:rPr kumimoji="0" lang="ru-RU" altLang="ru-RU" sz="2000" b="1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Функція</a:t>
            </a:r>
            <a:r>
              <a:rPr kumimoji="0" lang="ru-RU" altLang="ru-RU" sz="20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kumimoji="0" lang="ru-RU" altLang="ru-RU" sz="2000" b="1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beat</a:t>
            </a:r>
            <a:r>
              <a:rPr kumimoji="0" lang="ru-RU" altLang="ru-RU" sz="20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() — </a:t>
            </a:r>
            <a:r>
              <a:rPr kumimoji="0" lang="ru-RU" altLang="ru-RU" sz="2000" b="1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визначення</a:t>
            </a:r>
            <a:r>
              <a:rPr kumimoji="0" lang="ru-RU" altLang="ru-RU" sz="20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, </a:t>
            </a:r>
            <a:r>
              <a:rPr kumimoji="0" lang="ru-RU" altLang="ru-RU" sz="2000" b="1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чи</a:t>
            </a:r>
            <a:r>
              <a:rPr kumimoji="0" lang="ru-RU" altLang="ru-RU" sz="20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kumimoji="0" lang="ru-RU" altLang="ru-RU" sz="2000" b="1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б’є</a:t>
            </a:r>
            <a:r>
              <a:rPr kumimoji="0" lang="ru-RU" altLang="ru-RU" sz="20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карта </a:t>
            </a:r>
            <a:r>
              <a:rPr kumimoji="0" lang="ru-RU" altLang="ru-RU" sz="2000" b="1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іншу</a:t>
            </a:r>
            <a:endParaRPr kumimoji="0" lang="ru-RU" altLang="ru-RU" sz="20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Функція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beat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(x, y, z) 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визначає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, 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чи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перемагає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карта x карту y, 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враховуючи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козирну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масть z. 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Логіка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така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: 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якщо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масті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однакові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— 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перемагає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карта з 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більшим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рангом. 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Якщо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масті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різні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, 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але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карта x 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має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козирну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масть — вона 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виграє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. В 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інших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випадках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— не 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б’є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. 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Це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демонстрація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простої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логіки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порівняння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.</a:t>
            </a:r>
            <a:endParaRPr kumimoji="0" lang="ru-RU" altLang="ru-RU" sz="20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20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C83CD5C-267F-84DB-7EBB-B664EED48A8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5532" y="2662366"/>
            <a:ext cx="11060935" cy="1995386"/>
          </a:xfrm>
          <a:prstGeom prst="rect">
            <a:avLst/>
          </a:prstGeom>
          <a:solidFill>
            <a:schemeClr val="tx1">
              <a:alpha val="53000"/>
            </a:schemeClr>
          </a:solidFill>
          <a:ln>
            <a:noFill/>
          </a:ln>
          <a:effectLst/>
        </p:spPr>
        <p:txBody>
          <a:bodyPr vert="horz" wrap="square" lIns="91440" tIns="45720" rIns="91440" bIns="101568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20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8. Клас </a:t>
            </a:r>
            <a:r>
              <a:rPr kumimoji="0" lang="ru-RU" altLang="ru-RU" sz="2000" b="1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LengthConverter</a:t>
            </a:r>
            <a:r>
              <a:rPr kumimoji="0" lang="ru-RU" altLang="ru-RU" sz="20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(</a:t>
            </a:r>
            <a:r>
              <a:rPr kumimoji="0" lang="ru-RU" altLang="ru-RU" sz="2000" b="1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конвертація</a:t>
            </a:r>
            <a:r>
              <a:rPr kumimoji="0" lang="ru-RU" altLang="ru-RU" sz="20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kumimoji="0" lang="ru-RU" altLang="ru-RU" sz="2000" b="1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довжини</a:t>
            </a:r>
            <a:r>
              <a:rPr kumimoji="0" lang="ru-RU" altLang="ru-RU" sz="20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)</a:t>
            </a:r>
            <a:endParaRPr kumimoji="0" lang="ru-RU" altLang="ru-RU" sz="20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Клас 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містить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перелік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одиниць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довжини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: 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міліметри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, 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сантиметри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, 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дециметри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, 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метри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та 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кілометри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. Метод 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input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() 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зчитує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значення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та 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одиницю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, метод 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convertToMeters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() переводить 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числове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значення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у 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метри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за формулою, а 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print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() 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виводить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результат. Клас 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демонструє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роботу 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enum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у 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практичних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математичних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задачах.</a:t>
            </a:r>
            <a:endParaRPr kumimoji="0" lang="ru-RU" altLang="ru-RU" sz="20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20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F83A5DD-CBF5-87FF-74D6-AF8F9FA96E9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2877" y="4775096"/>
            <a:ext cx="11071952" cy="1687609"/>
          </a:xfrm>
          <a:prstGeom prst="rect">
            <a:avLst/>
          </a:prstGeom>
          <a:solidFill>
            <a:schemeClr val="tx1">
              <a:alpha val="53000"/>
            </a:schemeClr>
          </a:solidFill>
          <a:ln>
            <a:noFill/>
          </a:ln>
          <a:effectLst/>
        </p:spPr>
        <p:txBody>
          <a:bodyPr vert="horz" wrap="square" lIns="91440" tIns="45720" rIns="91440" bIns="101568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20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9. Клас </a:t>
            </a:r>
            <a:r>
              <a:rPr kumimoji="0" lang="ru-RU" altLang="ru-RU" sz="2000" b="1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SyllableCounter</a:t>
            </a:r>
            <a:r>
              <a:rPr kumimoji="0" lang="ru-RU" altLang="ru-RU" sz="20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(</a:t>
            </a:r>
            <a:r>
              <a:rPr kumimoji="0" lang="ru-RU" altLang="ru-RU" sz="2000" b="1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підрахунок</a:t>
            </a:r>
            <a:r>
              <a:rPr kumimoji="0" lang="ru-RU" altLang="ru-RU" sz="20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kumimoji="0" lang="ru-RU" altLang="ru-RU" sz="2000" b="1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голосних</a:t>
            </a:r>
            <a:r>
              <a:rPr kumimoji="0" lang="ru-RU" altLang="ru-RU" sz="20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у </a:t>
            </a:r>
            <a:r>
              <a:rPr kumimoji="0" lang="ru-RU" altLang="ru-RU" sz="2000" b="1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реченні</a:t>
            </a:r>
            <a:r>
              <a:rPr kumimoji="0" lang="ru-RU" altLang="ru-RU" sz="20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)</a:t>
            </a:r>
            <a:endParaRPr kumimoji="0" lang="ru-RU" altLang="ru-RU" sz="20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Клас 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містить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перелік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голосних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англійського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алфавіту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. Метод 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checkVowel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() 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визначає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, 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чи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є символ голосною. Метод 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inputAndCount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() 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зчитує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речення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повністю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(через 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getline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) і 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рахує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кількість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голосних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. 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Це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показує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роботу з рядками, символами та 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перевірками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.</a:t>
            </a:r>
            <a:endParaRPr kumimoji="0" lang="ru-RU" altLang="ru-RU" sz="20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20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87298918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2">
            <a:extLst>
              <a:ext uri="{FF2B5EF4-FFF2-40B4-BE49-F238E27FC236}">
                <a16:creationId xmlns:a16="http://schemas.microsoft.com/office/drawing/2014/main" id="{5197431A-07C4-D6B0-11BF-B04C2D766FA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-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7277" b="8901"/>
          <a:stretch/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Rectangle 2">
            <a:extLst>
              <a:ext uri="{FF2B5EF4-FFF2-40B4-BE49-F238E27FC236}">
                <a16:creationId xmlns:a16="http://schemas.microsoft.com/office/drawing/2014/main" id="{54D90E0F-5534-DAEB-3B38-402C35139BB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6439" y="331978"/>
            <a:ext cx="8306718" cy="2862322"/>
          </a:xfrm>
          <a:prstGeom prst="rect">
            <a:avLst/>
          </a:prstGeom>
          <a:solidFill>
            <a:schemeClr val="tx1">
              <a:alpha val="53000"/>
            </a:schemeClr>
          </a:solidFill>
          <a:ln>
            <a:noFill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20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10. Клас </a:t>
            </a:r>
            <a:r>
              <a:rPr kumimoji="0" lang="ru-RU" altLang="ru-RU" sz="2000" b="1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ShipNavigator</a:t>
            </a:r>
            <a:r>
              <a:rPr kumimoji="0" lang="ru-RU" altLang="ru-RU" sz="20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(</a:t>
            </a:r>
            <a:r>
              <a:rPr kumimoji="0" lang="ru-RU" altLang="ru-RU" sz="2000" b="1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переміщення</a:t>
            </a:r>
            <a:r>
              <a:rPr kumimoji="0" lang="ru-RU" altLang="ru-RU" sz="20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корабля у координатах)</a:t>
            </a:r>
            <a:endParaRPr kumimoji="0" lang="ru-RU" altLang="ru-RU" sz="20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Цей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клас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моделює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рух корабля на 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площині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. Є</a:t>
            </a:r>
            <a:r>
              <a:rPr kumimoji="0" lang="en-US" altLang="ru-RU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перелік</a:t>
            </a:r>
            <a:r>
              <a:rPr kumimoji="0" lang="en-US" altLang="ru-RU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напрямків</a:t>
            </a:r>
            <a:r>
              <a:rPr kumimoji="0" lang="en-US" altLang="ru-RU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(North, East, South, West) 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та</a:t>
            </a:r>
            <a:r>
              <a:rPr kumimoji="0" lang="en-US" altLang="ru-RU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команд</a:t>
            </a:r>
            <a:r>
              <a:rPr kumimoji="0" lang="en-US" altLang="ru-RU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(Forward, Back, Left, Right). 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Корабель</a:t>
            </a:r>
            <a:r>
              <a:rPr kumimoji="0" lang="en-US" altLang="ru-RU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має</a:t>
            </a:r>
            <a:r>
              <a:rPr kumimoji="0" lang="en-US" altLang="ru-RU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координати</a:t>
            </a:r>
            <a:r>
              <a:rPr kumimoji="0" lang="en-US" altLang="ru-RU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x, y 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та</a:t>
            </a:r>
            <a:r>
              <a:rPr kumimoji="0" lang="en-US" altLang="ru-RU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швидкість</a:t>
            </a:r>
            <a:r>
              <a:rPr kumimoji="0" lang="en-US" altLang="ru-RU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.</a:t>
            </a:r>
            <a:endParaRPr kumimoji="0" lang="ru-RU" altLang="ru-RU" sz="20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Метод</a:t>
            </a:r>
            <a:r>
              <a:rPr kumimoji="0" lang="en-US" altLang="ru-RU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kumimoji="0" lang="en-US" altLang="ru-RU" sz="20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startNavigation</a:t>
            </a:r>
            <a:r>
              <a:rPr kumimoji="0" lang="en-US" altLang="ru-RU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() 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запитує</a:t>
            </a:r>
            <a:r>
              <a:rPr kumimoji="0" lang="en-US" altLang="ru-RU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початкові</a:t>
            </a:r>
            <a:r>
              <a:rPr kumimoji="0" lang="en-US" altLang="ru-RU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параметри</a:t>
            </a:r>
            <a:r>
              <a:rPr kumimoji="0" lang="en-US" altLang="ru-RU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та</a:t>
            </a:r>
            <a:r>
              <a:rPr kumimoji="0" lang="en-US" altLang="ru-RU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список</a:t>
            </a:r>
            <a:r>
              <a:rPr kumimoji="0" lang="en-US" altLang="ru-RU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команд</a:t>
            </a:r>
            <a:r>
              <a:rPr kumimoji="0" lang="en-US" altLang="ru-RU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від</a:t>
            </a:r>
            <a:r>
              <a:rPr kumimoji="0" lang="en-US" altLang="ru-RU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користувача</a:t>
            </a:r>
            <a:r>
              <a:rPr kumimoji="0" lang="en-US" altLang="ru-RU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. 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Метод</a:t>
            </a:r>
            <a:r>
              <a:rPr kumimoji="0" lang="en-US" altLang="ru-RU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kumimoji="0" lang="en-US" altLang="ru-RU" sz="20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processMovement</a:t>
            </a:r>
            <a:r>
              <a:rPr kumimoji="0" lang="en-US" altLang="ru-RU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() 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обробляє</a:t>
            </a:r>
            <a:r>
              <a:rPr kumimoji="0" lang="en-US" altLang="ru-RU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повороти</a:t>
            </a:r>
            <a:r>
              <a:rPr kumimoji="0" lang="en-US" altLang="ru-RU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(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змінює</a:t>
            </a:r>
            <a:r>
              <a:rPr kumimoji="0" lang="en-US" altLang="ru-RU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напрямок</a:t>
            </a:r>
            <a:r>
              <a:rPr kumimoji="0" lang="en-US" altLang="ru-RU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за</a:t>
            </a:r>
            <a:r>
              <a:rPr kumimoji="0" lang="en-US" altLang="ru-RU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допомогою</a:t>
            </a:r>
            <a:r>
              <a:rPr kumimoji="0" lang="en-US" altLang="ru-RU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арифметики</a:t>
            </a:r>
            <a:r>
              <a:rPr kumimoji="0" lang="en-US" altLang="ru-RU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модулем</a:t>
            </a:r>
            <a:r>
              <a:rPr kumimoji="0" lang="en-US" altLang="ru-RU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4), 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обчислює</a:t>
            </a:r>
            <a:r>
              <a:rPr kumimoji="0" lang="en-US" altLang="ru-RU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пройдену</a:t>
            </a:r>
            <a:r>
              <a:rPr kumimoji="0" lang="en-US" altLang="ru-RU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дистанцію</a:t>
            </a:r>
            <a:r>
              <a:rPr kumimoji="0" lang="en-US" altLang="ru-RU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та</a:t>
            </a:r>
            <a:r>
              <a:rPr kumimoji="0" lang="en-US" altLang="ru-RU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змінює</a:t>
            </a:r>
            <a:r>
              <a:rPr kumimoji="0" lang="en-US" altLang="ru-RU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координати</a:t>
            </a:r>
            <a:r>
              <a:rPr kumimoji="0" lang="en-US" altLang="ru-RU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. 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В 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кінці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виводяться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фінальний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курс, 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координати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та 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загальна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відстань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від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початкової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точки.</a:t>
            </a:r>
            <a:endParaRPr kumimoji="0" lang="ru-RU" altLang="ru-RU" sz="20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097" name="Рисунок 1">
            <a:extLst>
              <a:ext uri="{FF2B5EF4-FFF2-40B4-BE49-F238E27FC236}">
                <a16:creationId xmlns:a16="http://schemas.microsoft.com/office/drawing/2014/main" id="{F12D883D-B986-1CB0-6D98-F2DA2839572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87136" y="383000"/>
            <a:ext cx="3118425" cy="2299089"/>
          </a:xfrm>
          <a:prstGeom prst="rect">
            <a:avLst/>
          </a:prstGeom>
          <a:solidFill>
            <a:schemeClr val="tx1"/>
          </a:solidFill>
        </p:spPr>
      </p:pic>
      <p:sp>
        <p:nvSpPr>
          <p:cNvPr id="3" name="Rectangle 3">
            <a:extLst>
              <a:ext uri="{FF2B5EF4-FFF2-40B4-BE49-F238E27FC236}">
                <a16:creationId xmlns:a16="http://schemas.microsoft.com/office/drawing/2014/main" id="{C2F75AFC-D6A2-C215-541E-C09FB1D5D71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96215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101568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79F83A4A-69E4-753C-1C28-84F161C07A6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6439" y="3429000"/>
            <a:ext cx="11710930" cy="1379833"/>
          </a:xfrm>
          <a:prstGeom prst="rect">
            <a:avLst/>
          </a:prstGeom>
          <a:solidFill>
            <a:schemeClr val="tx1">
              <a:alpha val="53000"/>
            </a:schemeClr>
          </a:solidFill>
          <a:ln>
            <a:noFill/>
          </a:ln>
          <a:effectLst/>
        </p:spPr>
        <p:txBody>
          <a:bodyPr vert="horz" wrap="square" lIns="91440" tIns="45720" rIns="91440" bIns="101568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20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11. </a:t>
            </a:r>
            <a:r>
              <a:rPr kumimoji="0" lang="ru-RU" altLang="ru-RU" sz="2000" b="1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Функції</a:t>
            </a:r>
            <a:r>
              <a:rPr kumimoji="0" lang="ru-RU" altLang="ru-RU" sz="20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kumimoji="0" lang="ru-RU" altLang="ru-RU" sz="2000" b="1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getMonthNameSwitch</a:t>
            </a:r>
            <a:r>
              <a:rPr kumimoji="0" lang="ru-RU" altLang="ru-RU" sz="20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() і </a:t>
            </a:r>
            <a:r>
              <a:rPr kumimoji="0" lang="ru-RU" altLang="ru-RU" sz="2000" b="1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getMonthNameArray</a:t>
            </a:r>
            <a:r>
              <a:rPr kumimoji="0" lang="ru-RU" altLang="ru-RU" sz="20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()</a:t>
            </a:r>
            <a:endParaRPr kumimoji="0" lang="ru-RU" altLang="ru-RU" sz="20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Ці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дві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функції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реалізують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однакову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задачу — 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повернення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назви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місяця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. Перша 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використовує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оператор 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switch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, друга — доступ до 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елемента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масиву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. Вони 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використовуються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в 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тесті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швидкості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, 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щоб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порівняти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різні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підходи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.</a:t>
            </a:r>
            <a:endParaRPr kumimoji="0" lang="ru-RU" altLang="ru-RU" sz="20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Rectangle 7">
            <a:extLst>
              <a:ext uri="{FF2B5EF4-FFF2-40B4-BE49-F238E27FC236}">
                <a16:creationId xmlns:a16="http://schemas.microsoft.com/office/drawing/2014/main" id="{F65EE4C1-BFBA-167E-29A3-CAC7C5563FB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6439" y="5097895"/>
            <a:ext cx="11710930" cy="1323439"/>
          </a:xfrm>
          <a:prstGeom prst="rect">
            <a:avLst/>
          </a:prstGeom>
          <a:solidFill>
            <a:schemeClr val="tx1">
              <a:alpha val="53000"/>
            </a:schemeClr>
          </a:solidFill>
          <a:ln>
            <a:noFill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20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12. </a:t>
            </a:r>
            <a:r>
              <a:rPr kumimoji="0" lang="ru-RU" altLang="ru-RU" sz="2000" b="1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Функція</a:t>
            </a:r>
            <a:r>
              <a:rPr kumimoji="0" lang="ru-RU" altLang="ru-RU" sz="20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kumimoji="0" lang="ru-RU" altLang="ru-RU" sz="2000" b="1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runBenchmark</a:t>
            </a:r>
            <a:r>
              <a:rPr kumimoji="0" lang="ru-RU" altLang="ru-RU" sz="20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() — тест </a:t>
            </a:r>
            <a:r>
              <a:rPr kumimoji="0" lang="ru-RU" altLang="ru-RU" sz="2000" b="1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продуктивності</a:t>
            </a:r>
            <a:endParaRPr kumimoji="0" lang="ru-RU" altLang="ru-RU" sz="20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Функція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виконує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10 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мільйонів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викликів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обох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реалізацій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(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switch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і 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масив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) і 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вимірює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час 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їх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роботи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за 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допомогою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std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::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chrono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. 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Після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завершення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виводиться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, яка 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реалізація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працює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швидше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. 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Вбудована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змінна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та 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перевірка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в 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циклі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використовуються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для 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уникнення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оптимізації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компілятором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.</a:t>
            </a:r>
            <a:endParaRPr kumimoji="0" lang="ru-RU" altLang="ru-RU" sz="20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37786928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2">
            <a:extLst>
              <a:ext uri="{FF2B5EF4-FFF2-40B4-BE49-F238E27FC236}">
                <a16:creationId xmlns:a16="http://schemas.microsoft.com/office/drawing/2014/main" id="{B5C9B2A9-FC04-E582-746D-7D619B099C0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-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7277" b="8901"/>
          <a:stretch/>
        </p:blipFill>
        <p:spPr bwMode="auto">
          <a:xfrm>
            <a:off x="0" y="0"/>
            <a:ext cx="12192000" cy="68579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4D1A938E-DF02-A4C8-A439-5222CAD5A74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02535" y="1024158"/>
            <a:ext cx="10014331" cy="1687609"/>
          </a:xfrm>
          <a:prstGeom prst="rect">
            <a:avLst/>
          </a:prstGeom>
          <a:solidFill>
            <a:schemeClr val="tx1">
              <a:alpha val="53000"/>
            </a:schemeClr>
          </a:solidFill>
          <a:ln>
            <a:noFill/>
          </a:ln>
          <a:effectLst/>
        </p:spPr>
        <p:txBody>
          <a:bodyPr vert="horz" wrap="square" lIns="91440" tIns="45720" rIns="91440" bIns="101568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20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13. Головне меню </a:t>
            </a:r>
            <a:r>
              <a:rPr kumimoji="0" lang="ru-RU" altLang="ru-RU" sz="2000" b="1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програми</a:t>
            </a:r>
            <a:endParaRPr kumimoji="0" lang="ru-RU" altLang="ru-RU" sz="20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Головна 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функція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main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() 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містить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нескінченний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цикл 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while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(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true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), у 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якому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відображається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меню з 6 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пунктів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. 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Користувач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вводить номер, а оператор 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switch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викликає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відповідний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розділ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програми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. 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Вибір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“0” 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завершує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роботу. 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Такий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підхід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дає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змогу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об’єднати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всі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класи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в одну 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інтерактивну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програму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та легко 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переходити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між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режимами.</a:t>
            </a:r>
            <a:endParaRPr kumimoji="0" lang="ru-RU" altLang="ru-RU" sz="20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10BB2D8-F523-FD27-15BE-8A314108FAD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02536" y="3738443"/>
            <a:ext cx="10014331" cy="2246769"/>
          </a:xfrm>
          <a:prstGeom prst="rect">
            <a:avLst/>
          </a:prstGeom>
          <a:solidFill>
            <a:schemeClr val="tx1">
              <a:alpha val="53000"/>
            </a:schemeClr>
          </a:solidFill>
          <a:ln>
            <a:noFill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20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14. </a:t>
            </a:r>
            <a:r>
              <a:rPr kumimoji="0" lang="ru-RU" altLang="ru-RU" sz="2000" b="1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Висновок</a:t>
            </a:r>
            <a:endParaRPr kumimoji="0" lang="ru-RU" altLang="ru-RU" sz="20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Програма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демонструє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широкий спектр 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можливостей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мови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C++: 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використання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enum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, 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масивів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рядків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, структур, 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класів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, 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введення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і 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виведення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даних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, роботу з рядками, 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математичну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обробку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, 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навігацію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в координатах, а також 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вимірювання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продуктивності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різних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підходів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. Структура 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програми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продумана таким чином, 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щоб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окремі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модулі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не 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залежали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один 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від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одного, а меню 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забезпечувало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легке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керування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всіма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частинами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.</a:t>
            </a:r>
            <a:endParaRPr kumimoji="0" lang="ru-RU" altLang="ru-RU" sz="20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20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17639947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Місце для зображення 7" descr="Зображення, що містить комп’ютер, текст, у приміщенні, Малі та середні кішки&#10;&#10;Вміст, створений ШІ, може бути неправильним.">
            <a:extLst>
              <a:ext uri="{FF2B5EF4-FFF2-40B4-BE49-F238E27FC236}">
                <a16:creationId xmlns:a16="http://schemas.microsoft.com/office/drawing/2014/main" id="{5F99FD72-7B5A-8901-2C5B-E21893F2B8CB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-43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68" b="68"/>
          <a:stretch>
            <a:fillRect/>
          </a:stretch>
        </p:blipFill>
        <p:spPr/>
      </p:pic>
      <p:sp>
        <p:nvSpPr>
          <p:cNvPr id="13" name="Табличка 12">
            <a:extLst>
              <a:ext uri="{FF2B5EF4-FFF2-40B4-BE49-F238E27FC236}">
                <a16:creationId xmlns:a16="http://schemas.microsoft.com/office/drawing/2014/main" id="{AC9EB422-5602-36FF-E543-5B0C70E56E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887290" y="1257088"/>
            <a:ext cx="6781800" cy="4343824"/>
          </a:xfrm>
          <a:prstGeom prst="plaque">
            <a:avLst>
              <a:gd name="adj" fmla="val 7602"/>
            </a:avLst>
          </a:prstGeom>
          <a:solidFill>
            <a:schemeClr val="tx1">
              <a:alpha val="66000"/>
            </a:schemeClr>
          </a:solidFill>
          <a:ln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US" dirty="0"/>
          </a:p>
        </p:txBody>
      </p:sp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6F9772E4-10E9-13DE-8AE8-35BBB9DD1D9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114366" y="3161840"/>
            <a:ext cx="6327648" cy="755693"/>
          </a:xfrm>
        </p:spPr>
        <p:txBody>
          <a:bodyPr rtlCol="0"/>
          <a:lstStyle/>
          <a:p>
            <a:pPr rtl="0"/>
            <a:r>
              <a:rPr lang="uk-UA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Дякую за увагу</a:t>
            </a:r>
            <a:endParaRPr lang="ru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28483107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Дерево">
  <a:themeElements>
    <a:clrScheme name="Дерево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Дерево">
      <a:majorFont>
        <a:latin typeface="Rockwell Condensed" panose="02060603050405020104"/>
        <a:ea typeface=""/>
        <a:cs typeface=""/>
        <a:font script="Grek" typeface="Cambria"/>
        <a:font script="Cyrl" typeface="Cambria"/>
        <a:font script="Jpan" typeface="HG明朝B"/>
        <a:font script="Hang" typeface="바탕"/>
        <a:font script="Hans" typeface="方正姚体"/>
        <a:font script="Hant" typeface="微軟正黑體"/>
        <a:font script="Arab" typeface="Times New Roman"/>
        <a:font script="Hebr" typeface="David"/>
        <a:font script="Thai" typeface="Jasmine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Rockwell" panose="02060603020205020403"/>
        <a:ea typeface=""/>
        <a:cs typeface=""/>
        <a:font script="Grek" typeface="Cambria"/>
        <a:font script="Cyrl" typeface="Cambria"/>
        <a:font script="Jpan" typeface="HG明朝B"/>
        <a:font script="Hang" typeface="바탕"/>
        <a:font script="Hans" typeface="方正姚体"/>
        <a:font script="Hant" typeface="標楷體"/>
        <a:font script="Arab" typeface="Times New Roman"/>
        <a:font script="Hebr" typeface="David"/>
        <a:font script="Thai" typeface="Jasmine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Дерево">
      <a:fillStyleLst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tint val="70000"/>
                <a:shade val="63000"/>
              </a:schemeClr>
              <a:schemeClr val="phClr">
                <a:tint val="10000"/>
                <a:satMod val="150000"/>
              </a:schemeClr>
            </a:duotone>
          </a:blip>
          <a:tile tx="0" ty="0" sx="60000" sy="59000" flip="none" algn="tl"/>
        </a:blipFill>
        <a:blipFill rotWithShape="1">
          <a:blip xmlns:r="http://schemas.openxmlformats.org/officeDocument/2006/relationships" r:embed="rId1">
            <a:duotone>
              <a:schemeClr val="phClr">
                <a:shade val="36000"/>
                <a:satMod val="120000"/>
              </a:schemeClr>
              <a:schemeClr val="phClr">
                <a:tint val="40000"/>
              </a:schemeClr>
            </a:duotone>
          </a:blip>
          <a:tile tx="0" ty="0" sx="60000" sy="59000" flip="none" algn="tl"/>
        </a:blip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softEdge rad="12700"/>
          </a:effectLst>
        </a:effectStyle>
        <a:effectStyle>
          <a:effectLst>
            <a:outerShdw blurRad="50800" dist="19050" dir="5400000" algn="tl" rotWithShape="0">
              <a:srgbClr val="000000">
                <a:alpha val="60000"/>
              </a:srgbClr>
            </a:outerShdw>
            <a:softEdge rad="12700"/>
          </a:effectLst>
        </a:effectStyle>
      </a:effectStyleLst>
      <a:bgFillStyleLst>
        <a:solidFill>
          <a:schemeClr val="phClr"/>
        </a:solidFill>
        <a:solidFill>
          <a:schemeClr val="phClr">
            <a:shade val="97000"/>
            <a:satMod val="150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75000"/>
                <a:shade val="58000"/>
                <a:satMod val="120000"/>
              </a:schemeClr>
              <a:schemeClr val="phClr">
                <a:tint val="50000"/>
                <a:shade val="96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ood Type" id="{7ACABC62-BF99-48CF-A9DC-4DB89C7B13DC}" vid="{142A1326-48AB-42A9-8428-CB14AA30176D}"/>
    </a:ext>
  </a:extLst>
</a:theme>
</file>

<file path=ppt/theme/theme2.xml><?xml version="1.0" encoding="utf-8"?>
<a:theme xmlns:a="http://schemas.openxmlformats.org/drawingml/2006/main" name="Тема Office">
  <a:themeElements>
    <a:clrScheme name="Офіс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Офіс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Офіс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TM03090434[[fn=Дерево]]</Template>
  <TotalTime>114</TotalTime>
  <Words>3961</Words>
  <Application>Microsoft Office PowerPoint</Application>
  <PresentationFormat>Широкий екран</PresentationFormat>
  <Paragraphs>186</Paragraphs>
  <Slides>23</Slides>
  <Notes>2</Notes>
  <HiddenSlides>0</HiddenSlides>
  <MMClips>0</MMClips>
  <ScaleCrop>false</ScaleCrop>
  <HeadingPairs>
    <vt:vector size="6" baseType="variant">
      <vt:variant>
        <vt:lpstr>Використані шрифти</vt:lpstr>
      </vt:variant>
      <vt:variant>
        <vt:i4>7</vt:i4>
      </vt:variant>
      <vt:variant>
        <vt:lpstr>Тема</vt:lpstr>
      </vt:variant>
      <vt:variant>
        <vt:i4>1</vt:i4>
      </vt:variant>
      <vt:variant>
        <vt:lpstr>Заголовки слайдів</vt:lpstr>
      </vt:variant>
      <vt:variant>
        <vt:i4>23</vt:i4>
      </vt:variant>
    </vt:vector>
  </HeadingPairs>
  <TitlesOfParts>
    <vt:vector size="31" baseType="lpstr">
      <vt:lpstr>Aptos</vt:lpstr>
      <vt:lpstr>Cambria</vt:lpstr>
      <vt:lpstr>Rockwell</vt:lpstr>
      <vt:lpstr>Rockwell Condensed</vt:lpstr>
      <vt:lpstr>Symbol</vt:lpstr>
      <vt:lpstr>Times New Roman</vt:lpstr>
      <vt:lpstr>Wingdings</vt:lpstr>
      <vt:lpstr>Дерево</vt:lpstr>
      <vt:lpstr>Перерахування7 (C++) 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Дякую за увагу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Юля Разата</dc:creator>
  <cp:lastModifiedBy>Юля Разата</cp:lastModifiedBy>
  <cp:revision>6</cp:revision>
  <dcterms:created xsi:type="dcterms:W3CDTF">2025-12-05T00:11:15Z</dcterms:created>
  <dcterms:modified xsi:type="dcterms:W3CDTF">2025-12-13T13:10:20Z</dcterms:modified>
</cp:coreProperties>
</file>